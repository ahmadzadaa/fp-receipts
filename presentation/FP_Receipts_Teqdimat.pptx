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7.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8.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9.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0.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e06a4fc24004f3e" /><Relationship Type="http://schemas.openxmlformats.org/officeDocument/2006/relationships/extended-properties" Target="/docProps/app.xml" Id="R57fdb70ddec148f6" /><Relationship Type="http://schemas.openxmlformats.org/officeDocument/2006/relationships/officeDocument" Target="/ppt/presentation.xml" Id="R04a4c46cb7294747" /></Relationships>
</file>

<file path=ppt/presentation.xml><?xml version="1.0" encoding="utf-8"?>
<p:presentation xmlns:p="http://schemas.openxmlformats.org/presentationml/2006/main">
  <p:sldMasterIdLst>
    <p:sldMasterId xmlns:r="http://schemas.openxmlformats.org/officeDocument/2006/relationships" id="2147483648" r:id="Rd303806c65874421"/>
  </p:sldMasterIdLst>
  <p:notesMasterIdLst>
    <p:notesMasterId xmlns:r="http://schemas.openxmlformats.org/officeDocument/2006/relationships" r:id="R1a7db8f5e3cf4d8c"/>
  </p:notesMasterIdLst>
  <p:sldIdLst>
    <p:sldId xmlns:r="http://schemas.openxmlformats.org/officeDocument/2006/relationships" id="256" r:id="Rb1ad08e23f5c4046"/>
    <p:sldId xmlns:r="http://schemas.openxmlformats.org/officeDocument/2006/relationships" id="257" r:id="Ree85687d7c674388"/>
    <p:sldId xmlns:r="http://schemas.openxmlformats.org/officeDocument/2006/relationships" id="258" r:id="Rd76a807251ca4830"/>
    <p:sldId xmlns:r="http://schemas.openxmlformats.org/officeDocument/2006/relationships" id="259" r:id="Re8cc114a59d74bf0"/>
    <p:sldId xmlns:r="http://schemas.openxmlformats.org/officeDocument/2006/relationships" id="260" r:id="R91445871facb475c"/>
    <p:sldId xmlns:r="http://schemas.openxmlformats.org/officeDocument/2006/relationships" id="261" r:id="R9348520647f245ce"/>
    <p:sldId xmlns:r="http://schemas.openxmlformats.org/officeDocument/2006/relationships" id="262" r:id="R542a0356fd114d98"/>
    <p:sldId xmlns:r="http://schemas.openxmlformats.org/officeDocument/2006/relationships" id="263" r:id="R0b11a675cd7c4381"/>
    <p:sldId xmlns:r="http://schemas.openxmlformats.org/officeDocument/2006/relationships" id="264" r:id="Raa41d8b7afad4e69"/>
    <p:sldId xmlns:r="http://schemas.openxmlformats.org/officeDocument/2006/relationships" id="265" r:id="Rabedadcace954ef8"/>
    <p:sldId xmlns:r="http://schemas.openxmlformats.org/officeDocument/2006/relationships" id="266" r:id="R242de73c153f4a76"/>
    <p:sldId xmlns:r="http://schemas.openxmlformats.org/officeDocument/2006/relationships" id="267" r:id="Rf33bb44cdbda4611"/>
    <p:sldId xmlns:r="http://schemas.openxmlformats.org/officeDocument/2006/relationships" id="268" r:id="Ra47dee85925c4f8b"/>
    <p:sldId xmlns:r="http://schemas.openxmlformats.org/officeDocument/2006/relationships" id="269" r:id="R029469bc011e45ec"/>
    <p:sldId xmlns:r="http://schemas.openxmlformats.org/officeDocument/2006/relationships" id="270" r:id="Rfe3a76ad0daa4046"/>
    <p:sldId xmlns:r="http://schemas.openxmlformats.org/officeDocument/2006/relationships" id="271" r:id="Rb1fdf5b16fe14ac7"/>
    <p:sldId xmlns:r="http://schemas.openxmlformats.org/officeDocument/2006/relationships" id="272" r:id="Rf666bc67cd5a4850"/>
    <p:sldId xmlns:r="http://schemas.openxmlformats.org/officeDocument/2006/relationships" id="273" r:id="R3d28006eae2845cf"/>
    <p:sldId xmlns:r="http://schemas.openxmlformats.org/officeDocument/2006/relationships" id="274" r:id="R9067d0e1441e41c3"/>
    <p:sldId xmlns:r="http://schemas.openxmlformats.org/officeDocument/2006/relationships" id="275" r:id="Rcbe2b562c1c948e2"/>
    <p:sldId xmlns:r="http://schemas.openxmlformats.org/officeDocument/2006/relationships" id="276" r:id="Re63a651745f544bd"/>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8564d732664db8" /><Relationship Type="http://schemas.openxmlformats.org/officeDocument/2006/relationships/slideMaster" Target="/ppt/slideMasters/slideMaster1.xml" Id="Rd303806c65874421" /><Relationship Type="http://schemas.openxmlformats.org/officeDocument/2006/relationships/notesMaster" Target="/ppt/notesMasters/notesMaster1.xml" Id="R1a7db8f5e3cf4d8c" /><Relationship Type="http://schemas.openxmlformats.org/officeDocument/2006/relationships/presProps" Target="/ppt/presProps.xml" Id="R8e52febf8aea4276" /><Relationship Type="http://schemas.openxmlformats.org/officeDocument/2006/relationships/tableStyles" Target="/ppt/tableStyles.xml" Id="Rcbaa2f9fd5e94ad9" /><Relationship Type="http://schemas.openxmlformats.org/officeDocument/2006/relationships/slide" Target="/ppt/slides/slide1.xml" Id="Rb1ad08e23f5c4046" /><Relationship Type="http://schemas.openxmlformats.org/officeDocument/2006/relationships/slide" Target="/ppt/slides/slide2.xml" Id="Ree85687d7c674388" /><Relationship Type="http://schemas.openxmlformats.org/officeDocument/2006/relationships/slide" Target="/ppt/slides/slide3.xml" Id="Rd76a807251ca4830" /><Relationship Type="http://schemas.openxmlformats.org/officeDocument/2006/relationships/slide" Target="/ppt/slides/slide4.xml" Id="Re8cc114a59d74bf0" /><Relationship Type="http://schemas.openxmlformats.org/officeDocument/2006/relationships/slide" Target="/ppt/slides/slide5.xml" Id="R91445871facb475c" /><Relationship Type="http://schemas.openxmlformats.org/officeDocument/2006/relationships/slide" Target="/ppt/slides/slide6.xml" Id="R9348520647f245ce" /><Relationship Type="http://schemas.openxmlformats.org/officeDocument/2006/relationships/slide" Target="/ppt/slides/slide7.xml" Id="R542a0356fd114d98" /><Relationship Type="http://schemas.openxmlformats.org/officeDocument/2006/relationships/slide" Target="/ppt/slides/slide8.xml" Id="R0b11a675cd7c4381" /><Relationship Type="http://schemas.openxmlformats.org/officeDocument/2006/relationships/slide" Target="/ppt/slides/slide9.xml" Id="Raa41d8b7afad4e69" /><Relationship Type="http://schemas.openxmlformats.org/officeDocument/2006/relationships/slide" Target="/ppt/slides/slide10.xml" Id="Rabedadcace954ef8" /><Relationship Type="http://schemas.openxmlformats.org/officeDocument/2006/relationships/slide" Target="/ppt/slides/slide11.xml" Id="R242de73c153f4a76" /><Relationship Type="http://schemas.openxmlformats.org/officeDocument/2006/relationships/slide" Target="/ppt/slides/slide12.xml" Id="Rf33bb44cdbda4611" /><Relationship Type="http://schemas.openxmlformats.org/officeDocument/2006/relationships/slide" Target="/ppt/slides/slide13.xml" Id="Ra47dee85925c4f8b" /><Relationship Type="http://schemas.openxmlformats.org/officeDocument/2006/relationships/slide" Target="/ppt/slides/slide14.xml" Id="R029469bc011e45ec" /><Relationship Type="http://schemas.openxmlformats.org/officeDocument/2006/relationships/slide" Target="/ppt/slides/slide15.xml" Id="Rfe3a76ad0daa4046" /><Relationship Type="http://schemas.openxmlformats.org/officeDocument/2006/relationships/slide" Target="/ppt/slides/slide16.xml" Id="Rb1fdf5b16fe14ac7" /><Relationship Type="http://schemas.openxmlformats.org/officeDocument/2006/relationships/slide" Target="/ppt/slides/slide17.xml" Id="Rf666bc67cd5a4850" /><Relationship Type="http://schemas.openxmlformats.org/officeDocument/2006/relationships/slide" Target="/ppt/slides/slide18.xml" Id="R3d28006eae2845cf" /><Relationship Type="http://schemas.openxmlformats.org/officeDocument/2006/relationships/slide" Target="/ppt/slides/slide19.xml" Id="R9067d0e1441e41c3" /><Relationship Type="http://schemas.openxmlformats.org/officeDocument/2006/relationships/slide" Target="/ppt/slides/slide20.xml" Id="Rcbe2b562c1c948e2" /><Relationship Type="http://schemas.openxmlformats.org/officeDocument/2006/relationships/slide" Target="/ppt/slides/slide21.xml" Id="Re63a651745f544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ebe6a99a7e43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aae865b2564fbc" /><Relationship Type="http://schemas.openxmlformats.org/officeDocument/2006/relationships/notesMaster" Target="/ppt/notesMasters/notesMaster1.xml" Id="R3ddccda520e840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95bbeed6bb4ff5" /><Relationship Type="http://schemas.openxmlformats.org/officeDocument/2006/relationships/notesMaster" Target="/ppt/notesMasters/notesMaster1.xml" Id="R23cf7d24d2304c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0114c342274cba" /><Relationship Type="http://schemas.openxmlformats.org/officeDocument/2006/relationships/notesMaster" Target="/ppt/notesMasters/notesMaster1.xml" Id="R4a411a67979f49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3357643cb346ae" /><Relationship Type="http://schemas.openxmlformats.org/officeDocument/2006/relationships/notesMaster" Target="/ppt/notesMasters/notesMaster1.xml" Id="R3fef0070689041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22d0f67fbe4dd4" /><Relationship Type="http://schemas.openxmlformats.org/officeDocument/2006/relationships/notesMaster" Target="/ppt/notesMasters/notesMaster1.xml" Id="Rb1b7e0ec496a4a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dc389eca1047be" /><Relationship Type="http://schemas.openxmlformats.org/officeDocument/2006/relationships/notesMaster" Target="/ppt/notesMasters/notesMaster1.xml" Id="Rebc9a62bf5b84f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f21e81e70e4efc" /><Relationship Type="http://schemas.openxmlformats.org/officeDocument/2006/relationships/notesMaster" Target="/ppt/notesMasters/notesMaster1.xml" Id="Rd261679655a94b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3513e0b3744074" /><Relationship Type="http://schemas.openxmlformats.org/officeDocument/2006/relationships/notesMaster" Target="/ppt/notesMasters/notesMaster1.xml" Id="R3361ebd717f143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5f19daa45b46f4" /><Relationship Type="http://schemas.openxmlformats.org/officeDocument/2006/relationships/notesMaster" Target="/ppt/notesMasters/notesMaster1.xml" Id="R0466c26027274e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8329b8725d4146" /><Relationship Type="http://schemas.openxmlformats.org/officeDocument/2006/relationships/notesMaster" Target="/ppt/notesMasters/notesMaster1.xml" Id="R626778a03df640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8475cda4db4ae5" /><Relationship Type="http://schemas.openxmlformats.org/officeDocument/2006/relationships/notesMaster" Target="/ppt/notesMasters/notesMaster1.xml" Id="Rba9c25e3a6874f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3d2ef586594c91" /><Relationship Type="http://schemas.openxmlformats.org/officeDocument/2006/relationships/notesMaster" Target="/ppt/notesMasters/notesMaster1.xml" Id="R0f0743750aca4b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400fc14d9045c6" /><Relationship Type="http://schemas.openxmlformats.org/officeDocument/2006/relationships/notesMaster" Target="/ppt/notesMasters/notesMaster1.xml" Id="R6339bf045b2246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594ccf92744d33" /><Relationship Type="http://schemas.openxmlformats.org/officeDocument/2006/relationships/notesMaster" Target="/ppt/notesMasters/notesMaster1.xml" Id="Rf20c3b4da3914a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56b84dbeae4f0b" /><Relationship Type="http://schemas.openxmlformats.org/officeDocument/2006/relationships/notesMaster" Target="/ppt/notesMasters/notesMaster1.xml" Id="Re1e3be109bb14f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b7390d82f14259" /><Relationship Type="http://schemas.openxmlformats.org/officeDocument/2006/relationships/notesMaster" Target="/ppt/notesMasters/notesMaster1.xml" Id="Rd2af5e4ba03b4f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d80ed70b944cbc" /><Relationship Type="http://schemas.openxmlformats.org/officeDocument/2006/relationships/notesMaster" Target="/ppt/notesMasters/notesMaster1.xml" Id="R1e09223bfa7c442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91ef2793734225" /><Relationship Type="http://schemas.openxmlformats.org/officeDocument/2006/relationships/notesMaster" Target="/ppt/notesMasters/notesMaster1.xml" Id="R1934228f31e143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98842af34f84318" /><Relationship Type="http://schemas.openxmlformats.org/officeDocument/2006/relationships/notesMaster" Target="/ppt/notesMasters/notesMaster1.xml" Id="R0ce9255ea92e454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0d8a7df8e9f4629" /><Relationship Type="http://schemas.openxmlformats.org/officeDocument/2006/relationships/notesMaster" Target="/ppt/notesMasters/notesMaster1.xml" Id="Rb29b110e624d40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22cafa5afae41b7" /><Relationship Type="http://schemas.openxmlformats.org/officeDocument/2006/relationships/notesMaster" Target="/ppt/notesMasters/notesMaster1.xml" Id="Rd7795feeef9b46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başlıq və bölmələr.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Təqdimat fp_receipts.rds və fp_map.rds üzrə Rmd/HTML təhlilini ümumiləşdirir. Müəllif adı Rmd-dən götürülüb.</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1.1.</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10 000 909 sətir, 6 sütun, 675 881 xam məhsul adı. 6 569 xam POS adı normallaşdırmadan sonra 4 191 ada enir. fp_map mart, aprel və may 2024 üçün 118 118 sətir saxlayır. Qəbzlərarası müştəri və səbət əlaqəsi yoxdur.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1.2.</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Xam məbləğ 144 327 632 AZN. Düzəlişli ümumi məbləğ 55 949 921 AZN. Satış olmayan ödənişlər 938 451,71 AZN. Satış bazası 9 992 904 sətir və 55 011 469,69 AZN. RDS üzərindən təkrar hesablanıb. Miqdarın xam minimumu 1, xam modu 2, miqdarı 1 olan sətir cəmi 23-dür. 11,16,21 pikləri fərziyyəni dəstəkləyir, lakin ilkin sistemin spesifikasiyası təqdim olunmayıb.</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1.2, statistik xülasə.</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Statistika satış olmayan sətirlər çıxarıldıqdan sonra hesablanıb. P99 müşahidələrin 99-cu persentilidir. Miqdar fərqli ölçü vahidlərini ehtiva edə bilər. Qiymət maksimumu 132 300 AZN-dir, iri sətirlər ayrıca yoxlanmalıdır. Qnt kəsr/tam ədəd ayrımı məhsul vahidi barədə ayrıca təsdiq sayılmır.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1.3, qiymət aralıqları.</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Qiymət aralıqları Rmd-dəki cut qaydası ilə hesablanıb. Paylar satış bazasına nisbətdir. 100+ qrupu 36 714 sətir və 13 716 745,30 AZN gəlir saxlayır. Paylar 1 onluğa yuvarlaqlaşdırıldığı üçün cəm 100-dən fərqlənə bilər.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1.3, məhsul reytinqi.</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Reytinq sətir sayı üzrədir, ümumi fiziki miqdar üzrə deyil. Ümumi məhsul adları və satış olmayan sətirlər çıxarılıb. BANAN KG 63 390, KARTOF KG 39 478, SOGAN TEZE KG 29 989, XIYAR MELIT KG 29 950, BINE ZAVOD COREYI BOYUK 28 559, BINE ZAVOD COREK 650 GR 27 849, YUMURTA SADE 26 339 sətir. Gəlir üzrə lider ÜST-GEYIMLƏRI 323 026 AZN-dir. Məhsul adı SKU identifikatoru deyil.</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1.3, POS ölçüsü.</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İlk 1% üçün 37,5% və ilk 10% üçün 70,6% hesabatdan götürülüb. Sonrakı 9% = 70,6 − 37,5 = 33,1%; qalan 90% = 100 − 70,6 = 29,4%. Bu iki pay hesabatdakı yuvarlaq dəyərlərdən hesablanıb. Ümumi adlı POS-lar bu müqayisədən çıxarılıb.</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1.2 və 1.3, satış növü.</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Çəki ilə 2 310 738 sətir, 7 918 361,35 AZN. Ədədlə 7 682 166 sətir, 47 093 108,34 AZN. Dataset ayrıca ölçü vahidi sütunu saxlamadığından kəsr miqdarın kq olması hesabatın praktik qəbuludur.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1.1 və 2.1.</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40 müşahidəli gün üçün 24 normal, 15 natamam, 1 yüksək həcmli gün. 28–30 mayda məlumat yoxdur. Statuslar diaqnostik həddir, ETL nasazlığının sübutu deyil. 1 364 və 4 288 unikal xam ad sayı olub sətir sayı deyil.</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2.1.</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19 aprel 2 256 282 sətir, 12 004 616,05 AZN. Normal günlərin orta həcminə nisbət təxminən 7,7-dir. Sətir başına gəlirlər 5,32 və 5,57 AZN olduğuna görə pik daha çox həcm dəyişikliyi ilə bağlıdır. Data yığılması mümkün izahdır, səbəb RDS-də ETL jurnalları olmadığı üçün sübut olunmur. X oxu 43 ardıcıl təqvim gününü saxlayır. 28–30 may boşdur, sıfır deyil.</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2.1, günlük cədvəl.</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HTML şərhi əsasən 30 aprel–9 mayı vurğulayır, lakin günlük cədvəldə 10 may da Natamam data statusundadır (121 211 sətir). Slayd cədvəlin faktiki statuslarını izləyir. 27 mayda yalnız 1 sətir var. 28,29,30 mayda heç məlumat yoxdur. Mavi normal, narıncı natamam günlərdir. Bu qrafik yalnız müşahidə olunan 39 günü göstərir, 19 aprel ayrıca slayddadır. Məlumatı olmayan 28–30 may qrafikə sıfır kimi əlavə edilmir.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2.2 və 2.3.</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Ümumi adların gəlir payı hesabatda yuvarlaq reytinq paylarının cəmi ilə 31,7% verilib. Konkret adlar da şəbəkə və filialları birləşdirə bilər. Ən az 10 aktiv günü olan 3 007 konkret ad üzrə orta gündəlik gəlirin medianı 94,59 AZN, maksimumu 84 112 AZN-dir. Aktiv gün sayı məlumat boşluqlarından təsirlənir.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1.2 və 2.4.</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Satış bazası üzrə uyğunlaşan sətir sayı 131 898-dir. 131 898 / 9 992 904 = 1,3199%. Uyğunlaşan gəlir 376 864,96 / 55 011 469,69 = 0,6851%. FOOD və NON-FOOD üzrə median gəlir uyğunlaşan satış nümunəsindən götürülüb. Xəritə səviyyəsindəki 32% / 40% median marja ilə satış nümunəsinin 21% / 39% median marjası fərqli bazalardır. Gəlir marjaya vurulmaqla hesablanan mənfəət xalis mənfəət kimi şərh edilmir.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3.1.</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Pearson ümumi gəlir/orta gəlir 0,9971195, p &lt; 2,2×10⁻¹⁶. Pearson ümumi gəlir/aktiv gün 0,09460435, p = 2,023×10⁻⁷. Spearman 0,4899208, p &lt; 2,2×10⁻¹⁶. p=0 yazmaq doğru deyil. Bu dəyişənlər arasındakı riyazi əlaqəyə görə avg_daily_revenue ilə total_revenue proqnozu qiymətləndirilmir. Pearson və Spearman müxtəlif əlaqə növlərini ölçür, Spearman səbəb əlaqəsini sübut etmir.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3.2.</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Model daily_revenue ~ hefte_sonu + trend, n=24. İntersept təxminən 1 548 649 AZN. Həftə sonu −10 863,5 AZN, p≈0,944. Trend +4 181,7 AZN/gün, p≈0,501. R²=0,02394, düzəlişli R²≈−0,069. Wilcoxon W=67, p=0,8783. Wilcoxon birbaşa orta dəyərlərin bərabərliyi testi deyil. Qısa və fasiləli dövr nəticənin gücünü məhdudlaşdırır.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3.3.</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19 təlim günü və 5 test günü. Təlimdəki son normal tarix 19 may, test 20–24 maydır. Təlim ortası 1 632 907,39 AZN. Tam 24 gün üzrə model əmsalları əvvəlki slayddadır, burada test proqnozları yalnız 19 günlə qurulan ayrıca modeldən gəlir. Testin 5 günü də iş günüdür. Məlumat boşluqları doldurulmur.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3.3, test cədvəli.</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Tarixlər 20,21,22,23,24 may. Faktiki: 820 900,68; 1 916 837,10; 1 439 813,22; 1 453 750,97; 2 222 599,20 AZN. Reqressiya: 1 783 101,34; 1 790 921,38; 1 798 741,43; 1 806 561,48; 1 814 381,52 AZN. Sadə orta bütün günlərdə 1 632 907,39 AZN. Faiz xətaları 117,2%;6,6%;24,9%;24,3%;18,4%. 20 may ilkin keyfiyyət qaydasına görə Normal sayılsa da, mənbənin tamlığı ayrıca təsdiqlənməyib.</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3.3.</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MAE reqressiya 441 614,6 AZN, sadə orta 411 575,8 AZN. Nisbi fərq (441614,6/411575,8−1)×100≈7,30%. MAPE hesabatda hər günün 1 onluğa yuvarlaq faiz xətalarının ortası 38,28%, slaydda 38,3%-dir. MAPE-ni 100-dən çıxmaq proqnozun düzgünlük ehtimalını vermir. Cəmi 5 günlə nəticə məhduddur.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4.1.</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Bu xülasədə satış məbləği satış olmayan ödənişlər çıxarıldıqdan sonra göstərilib. −1 düzəlişi üzrə bütün nəticələr şərtidir. Anomaliya səbəbləri təsdiqlənmiş ETL diaqnozu kimi təqdim edilmir.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4.2.</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Prioritet mənbə etibarlılığıdır: −1 fərziyyəsini təsdiqləmək, natamam günləri bərpa etmək, POS və məhsul identifikatorları əlavə etmək. Proqnozun yenidən qiymətləndirilməsi daha uzun fasiləsiz tarixçəyə və xronoloji testlərə əsaslanmalıdır. Təkliflər gələcək iş planıdır, görülmüş tədbirlər kimi təqdim olunmur.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Mənbə: DA_Yekun_Layihe_Ramin1.Rmd və DA_Yekun_Layihe_Ramin1.html, 4.1–4.2.</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Təhlilin əsas nəticələri və tövsiyələr üzrə müzakirə.</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Hesablama bazası: qnt_adj = qnt − 1, unit_price_adj = unit_price − 1. Satış gəliri = qnt_adj × unit_price_adj. AVANS və adı KREDIT ilə başlayan əməliyyatlar çıxarılır. −1 düzəlişi hesabatın qəbul etdiyi fərziyyədir və mənbə sistemi ilə təsdiqlənməlidir. Bütün satış göstəriciləri sətir səviyyəsindədir. POS adları unikal mağaza identifikatoru deyil.</a:t>
            </a:r>
            <a:endParaRPr sz="1200">
              <a:solidFill>
                <a:schemeClr val="dk1"/>
              </a:solidFill>
              <a:latin typeface="Calibri"/>
              <a:ea typeface="Calibri"/>
              <a:cs typeface="Calibri"/>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b5d01817774177"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0f777af5b84f26" /><Relationship Type="http://schemas.openxmlformats.org/officeDocument/2006/relationships/slideLayout" Target="/ppt/slideLayouts/slideLayout1.xml" Id="Ra9ab9ac775af4ee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9ab9ac775af4ee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5731293b614a39" /><Relationship Type="http://schemas.openxmlformats.org/officeDocument/2006/relationships/notesSlide" Target="/ppt/notesSlides/notesSlide1.xml" Id="R4ac71ddf3f744a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b34dcb9bd34f7e" /><Relationship Type="http://schemas.openxmlformats.org/officeDocument/2006/relationships/notesSlide" Target="/ppt/notesSlides/notesSlide2.xml" Id="R15b5d36d45d244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da01a7a0f5043e8" /><Relationship Type="http://schemas.openxmlformats.org/officeDocument/2006/relationships/chart" Target="/ppt/slides/charts/chart1.xml" Id="R72e02eb1e6b0479d" /><Relationship Type="http://schemas.openxmlformats.org/officeDocument/2006/relationships/notesSlide" Target="/ppt/notesSlides/notesSlide3.xml" Id="R0bc4aa4e4ccc4f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d5d728977d4ea8" /><Relationship Type="http://schemas.openxmlformats.org/officeDocument/2006/relationships/notesSlide" Target="/ppt/notesSlides/notesSlide4.xml" Id="R39b68defb35f4c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691d80c27a434c" /><Relationship Type="http://schemas.openxmlformats.org/officeDocument/2006/relationships/chart" Target="/ppt/slides/charts/chart2.xml" Id="R601d76998b404f8c" /><Relationship Type="http://schemas.openxmlformats.org/officeDocument/2006/relationships/notesSlide" Target="/ppt/notesSlides/notesSlide5.xml" Id="Rd459e1ce0a0e48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6395413a6f4d95" /><Relationship Type="http://schemas.openxmlformats.org/officeDocument/2006/relationships/chart" Target="/ppt/slides/charts/chart3.xml" Id="R41888b19c709437c" /><Relationship Type="http://schemas.openxmlformats.org/officeDocument/2006/relationships/notesSlide" Target="/ppt/notesSlides/notesSlide6.xml" Id="R92c3a6f4b2e941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f856986efbd4478" /><Relationship Type="http://schemas.openxmlformats.org/officeDocument/2006/relationships/chart" Target="/ppt/slides/charts/chart4.xml" Id="R5747ab6cec394cca" /><Relationship Type="http://schemas.openxmlformats.org/officeDocument/2006/relationships/notesSlide" Target="/ppt/notesSlides/notesSlide7.xml" Id="R01f362c50e7142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cc043dc36b4d36" /><Relationship Type="http://schemas.openxmlformats.org/officeDocument/2006/relationships/chart" Target="/ppt/slides/charts/chart5.xml" Id="R67e5ae6a6080470d" /><Relationship Type="http://schemas.openxmlformats.org/officeDocument/2006/relationships/notesSlide" Target="/ppt/notesSlides/notesSlide8.xml" Id="Rcd25f0a55ce242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41f85b1bac46ba" /><Relationship Type="http://schemas.openxmlformats.org/officeDocument/2006/relationships/notesSlide" Target="/ppt/notesSlides/notesSlide9.xml" Id="R409797de890c45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3d519033f4d4804" /><Relationship Type="http://schemas.openxmlformats.org/officeDocument/2006/relationships/chart" Target="/ppt/slides/charts/chart6.xml" Id="R23748a8126ef4d1c" /><Relationship Type="http://schemas.openxmlformats.org/officeDocument/2006/relationships/notesSlide" Target="/ppt/notesSlides/notesSlide10.xml" Id="R2468961a7d0842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72f5c29b9954ce2" /><Relationship Type="http://schemas.openxmlformats.org/officeDocument/2006/relationships/chart" Target="/ppt/slides/charts/chart7.xml" Id="Rd1c3e16af0894565" /><Relationship Type="http://schemas.openxmlformats.org/officeDocument/2006/relationships/notesSlide" Target="/ppt/notesSlides/notesSlide11.xml" Id="Re51a2e61561c40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957628664074dab" /><Relationship Type="http://schemas.openxmlformats.org/officeDocument/2006/relationships/chart" Target="/ppt/slides/charts/chart8.xml" Id="R469ffea9f1364d09" /><Relationship Type="http://schemas.openxmlformats.org/officeDocument/2006/relationships/notesSlide" Target="/ppt/notesSlides/notesSlide12.xml" Id="R239b372d82f14b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f800688781040c8" /><Relationship Type="http://schemas.openxmlformats.org/officeDocument/2006/relationships/notesSlide" Target="/ppt/notesSlides/notesSlide13.xml" Id="R4fa771b54e5a43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c4cb0b370b4856" /><Relationship Type="http://schemas.openxmlformats.org/officeDocument/2006/relationships/notesSlide" Target="/ppt/notesSlides/notesSlide14.xml" Id="Rabdba363acb542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79f59cf4f842b9" /><Relationship Type="http://schemas.openxmlformats.org/officeDocument/2006/relationships/notesSlide" Target="/ppt/notesSlides/notesSlide15.xml" Id="R726ea1d6f41e4d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d08412aa8ac41c4" /><Relationship Type="http://schemas.openxmlformats.org/officeDocument/2006/relationships/notesSlide" Target="/ppt/notesSlides/notesSlide16.xml" Id="R67960f7dc64a4d7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0667ab7e3e4ebb" /><Relationship Type="http://schemas.openxmlformats.org/officeDocument/2006/relationships/chart" Target="/ppt/slides/charts/chart9.xml" Id="Rbd95eae2551f40bc" /><Relationship Type="http://schemas.openxmlformats.org/officeDocument/2006/relationships/notesSlide" Target="/ppt/notesSlides/notesSlide17.xml" Id="R87844195b38b4f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cca0241c70a42f4" /><Relationship Type="http://schemas.openxmlformats.org/officeDocument/2006/relationships/chart" Target="/ppt/slides/charts/chart10.xml" Id="R4531ecb2081d41f5" /><Relationship Type="http://schemas.openxmlformats.org/officeDocument/2006/relationships/notesSlide" Target="/ppt/notesSlides/notesSlide18.xml" Id="R0d100eb778d246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60601bf304f4996" /><Relationship Type="http://schemas.openxmlformats.org/officeDocument/2006/relationships/notesSlide" Target="/ppt/notesSlides/notesSlide19.xml" Id="R0d5a3ed77585407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c558420806b4343" /><Relationship Type="http://schemas.openxmlformats.org/officeDocument/2006/relationships/notesSlide" Target="/ppt/notesSlides/notesSlide20.xml" Id="Rb710f3eec2e945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508250d75b444d7" /><Relationship Type="http://schemas.openxmlformats.org/officeDocument/2006/relationships/notesSlide" Target="/ppt/notesSlides/notesSlide21.xml" Id="R1318b03d07144c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Məbləğ</c:v>
          </c:tx>
          <c:spPr>
            <a:solidFill xmlns:a="http://schemas.openxmlformats.org/drawingml/2006/main">
              <a:srgbClr val="185FA5"/>
            </a:solidFill>
          </c:spPr>
          <c:invertIfNegative val="0"/>
          <c:dPt>
            <c:idx val="0"/>
            <c:invertIfNegative val="0"/>
            <c:spPr>
              <a:solidFill xmlns:a="http://schemas.openxmlformats.org/drawingml/2006/main">
                <a:srgbClr val="94A3B8"/>
              </a:solidFill>
            </c:spPr>
          </c:dPt>
          <c:dPt>
            <c:idx val="1"/>
            <c:invertIfNegative val="0"/>
            <c:spPr>
              <a:solidFill xmlns:a="http://schemas.openxmlformats.org/drawingml/2006/main">
                <a:srgbClr val="185FA5"/>
              </a:solidFill>
            </c:spPr>
          </c:dPt>
          <c:dPt>
            <c:idx val="2"/>
            <c:invertIfNegative val="0"/>
            <c:spPr>
              <a:solidFill xmlns:a="http://schemas.openxmlformats.org/drawingml/2006/main">
                <a:srgbClr val="1D9E75"/>
              </a:solidFill>
            </c:spPr>
          </c:dPt>
          <c:cat>
            <c:strRef>
              <c:f>'Chart Data'!$A$2:$A$4</c:f>
              <c:strCache>
                <c:ptCount val="3"/>
                <c:pt idx="0">
                  <c:v>Xam hesab</c:v>
                </c:pt>
                <c:pt idx="1">
                  <c:v>−1 düzəlişindən sonra</c:v>
                </c:pt>
                <c:pt idx="2">
                  <c:v>Satış gəliri</c:v>
                </c:pt>
              </c:strCache>
            </c:strRef>
          </c:cat>
          <c:val>
            <c:numRef>
              <c:f>'Chart Data'!$B$2:$B$4</c:f>
              <c:numCache>
                <c:formatCode>General</c:formatCode>
                <c:ptCount val="3"/>
                <c:pt idx="0">
                  <c:v>144.32763229</c:v>
                </c:pt>
                <c:pt idx="1">
                  <c:v>55.94992126</c:v>
                </c:pt>
                <c:pt idx="2">
                  <c:v>55.01146969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275">
                <a:solidFill>
                  <a:srgbClr val="64748B"/>
                </a:solidFill>
                <a:latin typeface="Calibri"/>
                <a:ea typeface="Calibri"/>
                <a:cs typeface="Calibri"/>
              </a:defRPr>
            </a:pPr>
          </a:p>
        </c:txPr>
        <c:crossAx val="48672768"/>
      </c:catAx>
      <c:valAx>
        <c:axId val="48672768"/>
        <c:scaling>
          <c:orientation val="minMax"/>
          <c:max val="165"/>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Sətir payı</c:v>
          </c:tx>
          <c:spPr>
            <a:solidFill xmlns:a="http://schemas.openxmlformats.org/drawingml/2006/main">
              <a:srgbClr val="185FA5"/>
            </a:solidFill>
          </c:spPr>
          <c:invertIfNegative val="0"/>
          <c:cat>
            <c:strRef>
              <c:f>'Chart Data'!$A$2:$A$10</c:f>
              <c:strCache>
                <c:ptCount val="9"/>
                <c:pt idx="0">
                  <c:v>0</c:v>
                </c:pt>
                <c:pt idx="1">
                  <c:v>0–1</c:v>
                </c:pt>
                <c:pt idx="2">
                  <c:v>1–2</c:v>
                </c:pt>
                <c:pt idx="3">
                  <c:v>2–5</c:v>
                </c:pt>
                <c:pt idx="4">
                  <c:v>5–10</c:v>
                </c:pt>
                <c:pt idx="5">
                  <c:v>10–20</c:v>
                </c:pt>
                <c:pt idx="6">
                  <c:v>20–50</c:v>
                </c:pt>
                <c:pt idx="7">
                  <c:v>50–100</c:v>
                </c:pt>
                <c:pt idx="8">
                  <c:v>100+</c:v>
                </c:pt>
              </c:strCache>
            </c:strRef>
          </c:cat>
          <c:val>
            <c:numRef>
              <c:f>'Chart Data'!$B$2:$B$10</c:f>
              <c:numCache>
                <c:formatCode>0"%"</c:formatCode>
                <c:ptCount val="9"/>
                <c:pt idx="0">
                  <c:v>0.2</c:v>
                </c:pt>
                <c:pt idx="1">
                  <c:v>32.9</c:v>
                </c:pt>
                <c:pt idx="2">
                  <c:v>21.8</c:v>
                </c:pt>
                <c:pt idx="3">
                  <c:v>25.4</c:v>
                </c:pt>
                <c:pt idx="4">
                  <c:v>11.3</c:v>
                </c:pt>
                <c:pt idx="5">
                  <c:v>6</c:v>
                </c:pt>
                <c:pt idx="6">
                  <c:v>1.7</c:v>
                </c:pt>
                <c:pt idx="7">
                  <c:v>0.4</c:v>
                </c:pt>
                <c:pt idx="8">
                  <c:v>0.4</c:v>
                </c:pt>
              </c:numCache>
            </c:numRef>
          </c:val>
        </c:ser>
        <c:ser>
          <c:idx val="1"/>
          <c:order val="1"/>
          <c:tx>
            <c:v>Gəlir payı</c:v>
          </c:tx>
          <c:spPr>
            <a:solidFill xmlns:a="http://schemas.openxmlformats.org/drawingml/2006/main">
              <a:srgbClr val="1D9E75"/>
            </a:solidFill>
          </c:spPr>
          <c:invertIfNegative val="0"/>
          <c:cat>
            <c:strRef>
              <c:f>'Chart Data'!$C$2:$C$10</c:f>
              <c:strCache>
                <c:ptCount val="9"/>
                <c:pt idx="0">
                  <c:v>0</c:v>
                </c:pt>
                <c:pt idx="1">
                  <c:v>0–1</c:v>
                </c:pt>
                <c:pt idx="2">
                  <c:v>1–2</c:v>
                </c:pt>
                <c:pt idx="3">
                  <c:v>2–5</c:v>
                </c:pt>
                <c:pt idx="4">
                  <c:v>5–10</c:v>
                </c:pt>
                <c:pt idx="5">
                  <c:v>10–20</c:v>
                </c:pt>
                <c:pt idx="6">
                  <c:v>20–50</c:v>
                </c:pt>
                <c:pt idx="7">
                  <c:v>50–100</c:v>
                </c:pt>
                <c:pt idx="8">
                  <c:v>100+</c:v>
                </c:pt>
              </c:strCache>
            </c:strRef>
          </c:cat>
          <c:val>
            <c:numRef>
              <c:f>'Chart Data'!$D$2:$D$10</c:f>
              <c:numCache>
                <c:formatCode>0"%"</c:formatCode>
                <c:ptCount val="9"/>
                <c:pt idx="0">
                  <c:v>0</c:v>
                </c:pt>
                <c:pt idx="1">
                  <c:v>7.1</c:v>
                </c:pt>
                <c:pt idx="2">
                  <c:v>8.3</c:v>
                </c:pt>
                <c:pt idx="3">
                  <c:v>17.7</c:v>
                </c:pt>
                <c:pt idx="4">
                  <c:v>12.6</c:v>
                </c:pt>
                <c:pt idx="5">
                  <c:v>12.2</c:v>
                </c:pt>
                <c:pt idx="6">
                  <c:v>10.3</c:v>
                </c:pt>
                <c:pt idx="7">
                  <c:v>6.8</c:v>
                </c:pt>
                <c:pt idx="8">
                  <c:v>24.9</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275">
                <a:solidFill>
                  <a:srgbClr val="64748B"/>
                </a:solidFill>
                <a:latin typeface="Calibri"/>
                <a:ea typeface="Calibri"/>
                <a:cs typeface="Calibri"/>
              </a:defRPr>
            </a:pPr>
          </a:p>
        </c:txPr>
        <c:crossAx val="48672768"/>
      </c:catAx>
      <c:valAx>
        <c:axId val="48672768"/>
        <c:scaling>
          <c:orientation val="minMax"/>
          <c:max val="40"/>
          <c:min val="0"/>
        </c:scaling>
        <c:delete val="0"/>
        <c:axPos val="l"/>
        <c:majorGridlines>
          <c:spPr>
            <a:ln xmlns:a="http://schemas.openxmlformats.org/drawingml/2006/main" w="9525">
              <a:solidFill>
                <a:srgbClr val="E4EAF0"/>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4748B"/>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E293B"/>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varyColors val="0"/>
        <c:ser>
          <c:idx val="0"/>
          <c:order val="0"/>
          <c:tx>
            <c:v>Min sətir</c:v>
          </c:tx>
          <c:spPr>
            <a:solidFill xmlns:a="http://schemas.openxmlformats.org/drawingml/2006/main">
              <a:srgbClr val="185FA5"/>
            </a:solidFill>
          </c:spPr>
          <c:invertIfNegative val="0"/>
          <c:cat>
            <c:strRef>
              <c:f>'Chart Data'!$A$2:$A$8</c:f>
              <c:strCache>
                <c:ptCount val="7"/>
                <c:pt idx="0">
                  <c:v>YUMURTA SADE</c:v>
                </c:pt>
                <c:pt idx="1">
                  <c:v>BINE ZAVOD COREK 650 GR</c:v>
                </c:pt>
                <c:pt idx="2">
                  <c:v>BINE ZAVOD COREYI BOYUK</c:v>
                </c:pt>
                <c:pt idx="3">
                  <c:v>XIYAR MELIT KG</c:v>
                </c:pt>
                <c:pt idx="4">
                  <c:v>SOGAN TEZE KG</c:v>
                </c:pt>
                <c:pt idx="5">
                  <c:v>KARTOF KG</c:v>
                </c:pt>
                <c:pt idx="6">
                  <c:v>BANAN KG</c:v>
                </c:pt>
              </c:strCache>
            </c:strRef>
          </c:cat>
          <c:val>
            <c:numRef>
              <c:f>'Chart Data'!$B$2:$B$8</c:f>
              <c:numCache>
                <c:formatCode>General</c:formatCode>
                <c:ptCount val="7"/>
                <c:pt idx="0">
                  <c:v>26.339</c:v>
                </c:pt>
                <c:pt idx="1">
                  <c:v>27.849</c:v>
                </c:pt>
                <c:pt idx="2">
                  <c:v>28.559</c:v>
                </c:pt>
                <c:pt idx="3">
                  <c:v>29.95</c:v>
                </c:pt>
                <c:pt idx="4">
                  <c:v>29.989</c:v>
                </c:pt>
                <c:pt idx="5">
                  <c:v>39.478</c:v>
                </c:pt>
                <c:pt idx="6">
                  <c:v>63.39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425" b="1">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E293B"/>
                </a:solidFill>
                <a:latin typeface="Calibri"/>
                <a:ea typeface="Calibri"/>
                <a:cs typeface="Calibri"/>
              </a:defRPr>
            </a:pPr>
          </a:p>
        </c:txPr>
        <c:crossAx val="48672768"/>
      </c:catAx>
      <c:valAx>
        <c:axId val="48672768"/>
        <c:scaling>
          <c:orientation val="minMax"/>
          <c:max val="74"/>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Gəlir payı</c:v>
          </c:tx>
          <c:spPr>
            <a:solidFill xmlns:a="http://schemas.openxmlformats.org/drawingml/2006/main">
              <a:srgbClr val="185FA5"/>
            </a:solidFill>
          </c:spPr>
          <c:invertIfNegative val="0"/>
          <c:dPt>
            <c:idx val="1"/>
            <c:invertIfNegative val="0"/>
            <c:spPr>
              <a:solidFill xmlns:a="http://schemas.openxmlformats.org/drawingml/2006/main">
                <a:srgbClr val="1D9E75"/>
              </a:solidFill>
            </c:spPr>
          </c:dPt>
          <c:dPt>
            <c:idx val="2"/>
            <c:invertIfNegative val="0"/>
            <c:spPr>
              <a:solidFill xmlns:a="http://schemas.openxmlformats.org/drawingml/2006/main">
                <a:srgbClr val="94A3B8"/>
              </a:solidFill>
            </c:spPr>
          </c:dPt>
          <c:cat>
            <c:strRef>
              <c:f>'Chart Data'!$A$2:$A$4</c:f>
              <c:strCache>
                <c:ptCount val="3"/>
                <c:pt idx="0">
                  <c:v>İlk 1%</c:v>
                </c:pt>
                <c:pt idx="1">
                  <c:v>Sonrakı 9%</c:v>
                </c:pt>
                <c:pt idx="2">
                  <c:v>Qalan 90%</c:v>
                </c:pt>
              </c:strCache>
            </c:strRef>
          </c:cat>
          <c:val>
            <c:numRef>
              <c:f>'Chart Data'!$B$2:$B$4</c:f>
              <c:numCache>
                <c:formatCode>General</c:formatCode>
                <c:ptCount val="3"/>
                <c:pt idx="0">
                  <c:v>37.5</c:v>
                </c:pt>
                <c:pt idx="1">
                  <c:v>33.1</c:v>
                </c:pt>
                <c:pt idx="2">
                  <c:v>29.4</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800" b="1">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275">
                <a:solidFill>
                  <a:srgbClr val="64748B"/>
                </a:solidFill>
                <a:latin typeface="Calibri"/>
                <a:ea typeface="Calibri"/>
                <a:cs typeface="Calibri"/>
              </a:defRPr>
            </a:pPr>
          </a:p>
        </c:txPr>
        <c:crossAx val="48672768"/>
      </c:catAx>
      <c:valAx>
        <c:axId val="48672768"/>
        <c:scaling>
          <c:orientation val="minMax"/>
          <c:max val="45"/>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Sətir payı</c:v>
          </c:tx>
          <c:spPr>
            <a:solidFill xmlns:a="http://schemas.openxmlformats.org/drawingml/2006/main">
              <a:srgbClr val="185FA5"/>
            </a:solidFill>
          </c:spPr>
          <c:invertIfNegative val="0"/>
          <c:cat>
            <c:strRef>
              <c:f>'Chart Data'!$A$2:$A$3</c:f>
              <c:strCache>
                <c:ptCount val="2"/>
                <c:pt idx="0">
                  <c:v>Ədədlə</c:v>
                </c:pt>
                <c:pt idx="1">
                  <c:v>Çəki ilə</c:v>
                </c:pt>
              </c:strCache>
            </c:strRef>
          </c:cat>
          <c:val>
            <c:numRef>
              <c:f>'Chart Data'!$B$2:$B$3</c:f>
              <c:numCache>
                <c:formatCode>General</c:formatCode>
                <c:ptCount val="2"/>
                <c:pt idx="0">
                  <c:v>76.9</c:v>
                </c:pt>
                <c:pt idx="1">
                  <c:v>23.1</c:v>
                </c:pt>
              </c:numCache>
            </c:numRef>
          </c:val>
        </c:ser>
        <c:ser>
          <c:idx val="1"/>
          <c:order val="1"/>
          <c:tx>
            <c:v>Gəlir payı</c:v>
          </c:tx>
          <c:spPr>
            <a:solidFill xmlns:a="http://schemas.openxmlformats.org/drawingml/2006/main">
              <a:srgbClr val="1D9E75"/>
            </a:solidFill>
          </c:spPr>
          <c:invertIfNegative val="0"/>
          <c:cat>
            <c:strRef>
              <c:f>'Chart Data'!$C$2:$C$3</c:f>
              <c:strCache>
                <c:ptCount val="2"/>
                <c:pt idx="0">
                  <c:v>Ədədlə</c:v>
                </c:pt>
                <c:pt idx="1">
                  <c:v>Çəki ilə</c:v>
                </c:pt>
              </c:strCache>
            </c:strRef>
          </c:cat>
          <c:val>
            <c:numRef>
              <c:f>'Chart Data'!$D$2:$D$3</c:f>
              <c:numCache>
                <c:formatCode>General</c:formatCode>
                <c:ptCount val="2"/>
                <c:pt idx="0">
                  <c:v>85.6</c:v>
                </c:pt>
                <c:pt idx="1">
                  <c:v>14.4</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575" b="1">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275">
                <a:solidFill>
                  <a:srgbClr val="64748B"/>
                </a:solidFill>
                <a:latin typeface="Calibri"/>
                <a:ea typeface="Calibri"/>
                <a:cs typeface="Calibri"/>
              </a:defRPr>
            </a:pPr>
          </a:p>
        </c:txPr>
        <c:crossAx val="48672768"/>
      </c:catAx>
      <c:valAx>
        <c:axId val="48672768"/>
        <c:scaling>
          <c:orientation val="minMax"/>
          <c:max val="100"/>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E293B"/>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Gəlir, 19 aprel–27 may</c:v>
          </c:tx>
          <c:spPr>
            <a:ln xmlns:a="http://schemas.openxmlformats.org/drawingml/2006/main" w="28575">
              <a:solidFill>
                <a:srgbClr val="185FA5"/>
              </a:solidFill>
            </a:ln>
          </c:spPr>
          <c:marker>
            <c:symbol val="circle"/>
            <c:size val="5"/>
            <c:spPr>
              <a:solidFill xmlns:a="http://schemas.openxmlformats.org/drawingml/2006/main">
                <a:srgbClr val="185FA5"/>
              </a:solidFill>
            </c:spPr>
          </c:marker>
          <c:dPt>
            <c:idx val="0"/>
            <c:spPr>
              <a:solidFill xmlns:a="http://schemas.openxmlformats.org/drawingml/2006/main">
                <a:srgbClr val="C0392B"/>
              </a:solidFill>
            </c:spPr>
          </c:dPt>
          <c:xVal>
            <c:numRef>
              <c:f>'Chart Data'!$A$2:$A$40</c:f>
              <c:numCache>
                <c:formatCode>General</c:formatCode>
                <c:ptCount val="39"/>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numCache>
            </c:numRef>
          </c:xVal>
          <c:yVal>
            <c:numRef>
              <c:f>'Chart Data'!$B$2:$B$40</c:f>
              <c:numCache>
                <c:formatCode>0</c:formatCode>
                <c:ptCount val="39"/>
                <c:pt idx="0">
                  <c:v>12.00461605</c:v>
                </c:pt>
                <c:pt idx="1">
                  <c:v>0.94381177</c:v>
                </c:pt>
                <c:pt idx="2">
                  <c:v>1.94504791</c:v>
                </c:pt>
                <c:pt idx="3">
                  <c:v>1.8300707</c:v>
                </c:pt>
                <c:pt idx="4">
                  <c:v>1.79096413</c:v>
                </c:pt>
                <c:pt idx="5">
                  <c:v>1.73784516</c:v>
                </c:pt>
                <c:pt idx="6">
                  <c:v>1.60756314</c:v>
                </c:pt>
                <c:pt idx="7">
                  <c:v>1.32394803</c:v>
                </c:pt>
                <c:pt idx="8">
                  <c:v>1.50643709</c:v>
                </c:pt>
                <c:pt idx="9">
                  <c:v>1.48119359</c:v>
                </c:pt>
                <c:pt idx="10">
                  <c:v>1.11088185</c:v>
                </c:pt>
                <c:pt idx="11">
                  <c:v>0.268156</c:v>
                </c:pt>
                <c:pt idx="12">
                  <c:v>0.31721974</c:v>
                </c:pt>
                <c:pt idx="13">
                  <c:v>0.26525338</c:v>
                </c:pt>
                <c:pt idx="14">
                  <c:v>0.29233755</c:v>
                </c:pt>
                <c:pt idx="15">
                  <c:v>0.23819669</c:v>
                </c:pt>
                <c:pt idx="16">
                  <c:v>0.25039273</c:v>
                </c:pt>
                <c:pt idx="17">
                  <c:v>0.22757604</c:v>
                </c:pt>
                <c:pt idx="18">
                  <c:v>0.21884409</c:v>
                </c:pt>
                <c:pt idx="19">
                  <c:v>0.2550112</c:v>
                </c:pt>
                <c:pt idx="20">
                  <c:v>0.22907729</c:v>
                </c:pt>
                <c:pt idx="21">
                  <c:v>0.62659368</c:v>
                </c:pt>
                <c:pt idx="22">
                  <c:v>1.73297505</c:v>
                </c:pt>
                <c:pt idx="23">
                  <c:v>1.98642047</c:v>
                </c:pt>
                <c:pt idx="24">
                  <c:v>1.96682993</c:v>
                </c:pt>
                <c:pt idx="25">
                  <c:v>1.78435263</c:v>
                </c:pt>
                <c:pt idx="26">
                  <c:v>1.84411927</c:v>
                </c:pt>
                <c:pt idx="27">
                  <c:v>1.47023535</c:v>
                </c:pt>
                <c:pt idx="28">
                  <c:v>1.77097624</c:v>
                </c:pt>
                <c:pt idx="29">
                  <c:v>1.74028989</c:v>
                </c:pt>
                <c:pt idx="30">
                  <c:v>1.45127817</c:v>
                </c:pt>
                <c:pt idx="31">
                  <c:v>0.82090068</c:v>
                </c:pt>
                <c:pt idx="32">
                  <c:v>1.9168371</c:v>
                </c:pt>
                <c:pt idx="33">
                  <c:v>1.43981322</c:v>
                </c:pt>
                <c:pt idx="34">
                  <c:v>1.45375097</c:v>
                </c:pt>
                <c:pt idx="35">
                  <c:v>2.2225992</c:v>
                </c:pt>
                <c:pt idx="36">
                  <c:v>0.14236794</c:v>
                </c:pt>
                <c:pt idx="37">
                  <c:v>0.04803827</c:v>
                </c:pt>
                <c:pt idx="38">
                  <c:v>2.49E-06</c:v>
                </c:pt>
              </c:numCache>
            </c:numRef>
          </c:yVal>
          <c:smooth val="0"/>
        </c:ser>
        <c:ser>
          <c:idx val="1"/>
          <c:order val="1"/>
          <c:tx>
            <c:v>31 may</c:v>
          </c:tx>
          <c:spPr>
            <a:ln xmlns:a="http://schemas.openxmlformats.org/drawingml/2006/main" w="0">
              <a:noFill/>
            </a:ln>
          </c:spPr>
          <c:marker>
            <c:symbol val="circle"/>
            <c:size val="6"/>
            <c:spPr>
              <a:solidFill xmlns:a="http://schemas.openxmlformats.org/drawingml/2006/main">
                <a:srgbClr val="185FA5"/>
              </a:solidFill>
            </c:spPr>
          </c:marker>
          <c:xVal>
            <c:numRef>
              <c:f>'Chart Data'!$C$2:$C$2</c:f>
              <c:numCache>
                <c:formatCode>General</c:formatCode>
                <c:ptCount val="1"/>
                <c:pt idx="0">
                  <c:v>42</c:v>
                </c:pt>
              </c:numCache>
            </c:numRef>
          </c:xVal>
          <c:yVal>
            <c:numRef>
              <c:f>'Chart Data'!$D$2:$D$2</c:f>
              <c:numCache>
                <c:formatCode>0</c:formatCode>
                <c:ptCount val="1"/>
                <c:pt idx="0">
                  <c:v>0.74864499</c:v>
                </c:pt>
              </c:numCache>
            </c:numRef>
          </c:y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4"/>
          <c:min val="0"/>
        </c:scaling>
        <c:delete val="0"/>
        <c:axPos val="l"/>
        <c:majorGridlines>
          <c:spPr>
            <a:ln xmlns:a="http://schemas.openxmlformats.org/drawingml/2006/main" w="9525">
              <a:solidFill>
                <a:srgbClr val="E4EA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4748B"/>
                </a:solidFill>
                <a:latin typeface="Calibri"/>
                <a:ea typeface="Calibri"/>
                <a:cs typeface="Calibri"/>
              </a:defRPr>
            </a:pPr>
          </a:p>
        </c:txPr>
        <c:crossAx val="48650112"/>
      </c:valAx>
      <c:valAx>
        <c:axId val="48650112"/>
        <c:scaling>
          <c:orientation val="minMax"/>
          <c:max val="42"/>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varyColors val="0"/>
        <c:ser>
          <c:idx val="0"/>
          <c:order val="0"/>
          <c:tx>
            <c:v>Min sətir</c:v>
          </c:tx>
          <c:spPr>
            <a:solidFill xmlns:a="http://schemas.openxmlformats.org/drawingml/2006/main">
              <a:srgbClr val="185FA5"/>
            </a:solidFill>
          </c:spPr>
          <c:invertIfNegative val="0"/>
          <c:dPt>
            <c:idx val="0"/>
            <c:invertIfNegative val="0"/>
            <c:spPr>
              <a:solidFill xmlns:a="http://schemas.openxmlformats.org/drawingml/2006/main">
                <a:srgbClr val="185FA5"/>
              </a:solidFill>
            </c:spPr>
          </c:dPt>
          <c:dPt>
            <c:idx val="1"/>
            <c:invertIfNegative val="0"/>
            <c:spPr>
              <a:solidFill xmlns:a="http://schemas.openxmlformats.org/drawingml/2006/main">
                <a:srgbClr val="185FA5"/>
              </a:solidFill>
            </c:spPr>
          </c:dPt>
          <c:dPt>
            <c:idx val="2"/>
            <c:invertIfNegative val="0"/>
            <c:spPr>
              <a:solidFill xmlns:a="http://schemas.openxmlformats.org/drawingml/2006/main">
                <a:srgbClr val="185FA5"/>
              </a:solidFill>
            </c:spPr>
          </c:dPt>
          <c:dPt>
            <c:idx val="3"/>
            <c:invertIfNegative val="0"/>
            <c:spPr>
              <a:solidFill xmlns:a="http://schemas.openxmlformats.org/drawingml/2006/main">
                <a:srgbClr val="185FA5"/>
              </a:solidFill>
            </c:spPr>
          </c:dPt>
          <c:dPt>
            <c:idx val="4"/>
            <c:invertIfNegative val="0"/>
            <c:spPr>
              <a:solidFill xmlns:a="http://schemas.openxmlformats.org/drawingml/2006/main">
                <a:srgbClr val="185FA5"/>
              </a:solidFill>
            </c:spPr>
          </c:dPt>
          <c:dPt>
            <c:idx val="5"/>
            <c:invertIfNegative val="0"/>
            <c:spPr>
              <a:solidFill xmlns:a="http://schemas.openxmlformats.org/drawingml/2006/main">
                <a:srgbClr val="185FA5"/>
              </a:solidFill>
            </c:spPr>
          </c:dPt>
          <c:dPt>
            <c:idx val="6"/>
            <c:invertIfNegative val="0"/>
            <c:spPr>
              <a:solidFill xmlns:a="http://schemas.openxmlformats.org/drawingml/2006/main">
                <a:srgbClr val="185FA5"/>
              </a:solidFill>
            </c:spPr>
          </c:dPt>
          <c:dPt>
            <c:idx val="7"/>
            <c:invertIfNegative val="0"/>
            <c:spPr>
              <a:solidFill xmlns:a="http://schemas.openxmlformats.org/drawingml/2006/main">
                <a:srgbClr val="185FA5"/>
              </a:solidFill>
            </c:spPr>
          </c:dPt>
          <c:dPt>
            <c:idx val="8"/>
            <c:invertIfNegative val="0"/>
            <c:spPr>
              <a:solidFill xmlns:a="http://schemas.openxmlformats.org/drawingml/2006/main">
                <a:srgbClr val="185FA5"/>
              </a:solidFill>
            </c:spPr>
          </c:dPt>
          <c:dPt>
            <c:idx val="9"/>
            <c:invertIfNegative val="0"/>
            <c:spPr>
              <a:solidFill xmlns:a="http://schemas.openxmlformats.org/drawingml/2006/main">
                <a:srgbClr val="185FA5"/>
              </a:solidFill>
            </c:spPr>
          </c:dPt>
          <c:dPt>
            <c:idx val="10"/>
            <c:invertIfNegative val="0"/>
            <c:spPr>
              <a:solidFill xmlns:a="http://schemas.openxmlformats.org/drawingml/2006/main">
                <a:srgbClr val="EF9F27"/>
              </a:solidFill>
            </c:spPr>
          </c:dPt>
          <c:dPt>
            <c:idx val="11"/>
            <c:invertIfNegative val="0"/>
            <c:spPr>
              <a:solidFill xmlns:a="http://schemas.openxmlformats.org/drawingml/2006/main">
                <a:srgbClr val="EF9F27"/>
              </a:solidFill>
            </c:spPr>
          </c:dPt>
          <c:dPt>
            <c:idx val="12"/>
            <c:invertIfNegative val="0"/>
            <c:spPr>
              <a:solidFill xmlns:a="http://schemas.openxmlformats.org/drawingml/2006/main">
                <a:srgbClr val="EF9F27"/>
              </a:solidFill>
            </c:spPr>
          </c:dPt>
          <c:dPt>
            <c:idx val="13"/>
            <c:invertIfNegative val="0"/>
            <c:spPr>
              <a:solidFill xmlns:a="http://schemas.openxmlformats.org/drawingml/2006/main">
                <a:srgbClr val="EF9F27"/>
              </a:solidFill>
            </c:spPr>
          </c:dPt>
          <c:dPt>
            <c:idx val="14"/>
            <c:invertIfNegative val="0"/>
            <c:spPr>
              <a:solidFill xmlns:a="http://schemas.openxmlformats.org/drawingml/2006/main">
                <a:srgbClr val="EF9F27"/>
              </a:solidFill>
            </c:spPr>
          </c:dPt>
          <c:dPt>
            <c:idx val="15"/>
            <c:invertIfNegative val="0"/>
            <c:spPr>
              <a:solidFill xmlns:a="http://schemas.openxmlformats.org/drawingml/2006/main">
                <a:srgbClr val="EF9F27"/>
              </a:solidFill>
            </c:spPr>
          </c:dPt>
          <c:dPt>
            <c:idx val="16"/>
            <c:invertIfNegative val="0"/>
            <c:spPr>
              <a:solidFill xmlns:a="http://schemas.openxmlformats.org/drawingml/2006/main">
                <a:srgbClr val="EF9F27"/>
              </a:solidFill>
            </c:spPr>
          </c:dPt>
          <c:dPt>
            <c:idx val="17"/>
            <c:invertIfNegative val="0"/>
            <c:spPr>
              <a:solidFill xmlns:a="http://schemas.openxmlformats.org/drawingml/2006/main">
                <a:srgbClr val="EF9F27"/>
              </a:solidFill>
            </c:spPr>
          </c:dPt>
          <c:dPt>
            <c:idx val="18"/>
            <c:invertIfNegative val="0"/>
            <c:spPr>
              <a:solidFill xmlns:a="http://schemas.openxmlformats.org/drawingml/2006/main">
                <a:srgbClr val="EF9F27"/>
              </a:solidFill>
            </c:spPr>
          </c:dPt>
          <c:dPt>
            <c:idx val="19"/>
            <c:invertIfNegative val="0"/>
            <c:spPr>
              <a:solidFill xmlns:a="http://schemas.openxmlformats.org/drawingml/2006/main">
                <a:srgbClr val="EF9F27"/>
              </a:solidFill>
            </c:spPr>
          </c:dPt>
          <c:dPt>
            <c:idx val="20"/>
            <c:invertIfNegative val="0"/>
            <c:spPr>
              <a:solidFill xmlns:a="http://schemas.openxmlformats.org/drawingml/2006/main">
                <a:srgbClr val="EF9F27"/>
              </a:solidFill>
            </c:spPr>
          </c:dPt>
          <c:dPt>
            <c:idx val="21"/>
            <c:invertIfNegative val="0"/>
            <c:spPr>
              <a:solidFill xmlns:a="http://schemas.openxmlformats.org/drawingml/2006/main">
                <a:srgbClr val="185FA5"/>
              </a:solidFill>
            </c:spPr>
          </c:dPt>
          <c:dPt>
            <c:idx val="22"/>
            <c:invertIfNegative val="0"/>
            <c:spPr>
              <a:solidFill xmlns:a="http://schemas.openxmlformats.org/drawingml/2006/main">
                <a:srgbClr val="185FA5"/>
              </a:solidFill>
            </c:spPr>
          </c:dPt>
          <c:dPt>
            <c:idx val="23"/>
            <c:invertIfNegative val="0"/>
            <c:spPr>
              <a:solidFill xmlns:a="http://schemas.openxmlformats.org/drawingml/2006/main">
                <a:srgbClr val="185FA5"/>
              </a:solidFill>
            </c:spPr>
          </c:dPt>
          <c:dPt>
            <c:idx val="24"/>
            <c:invertIfNegative val="0"/>
            <c:spPr>
              <a:solidFill xmlns:a="http://schemas.openxmlformats.org/drawingml/2006/main">
                <a:srgbClr val="185FA5"/>
              </a:solidFill>
            </c:spPr>
          </c:dPt>
          <c:dPt>
            <c:idx val="25"/>
            <c:invertIfNegative val="0"/>
            <c:spPr>
              <a:solidFill xmlns:a="http://schemas.openxmlformats.org/drawingml/2006/main">
                <a:srgbClr val="185FA5"/>
              </a:solidFill>
            </c:spPr>
          </c:dPt>
          <c:dPt>
            <c:idx val="26"/>
            <c:invertIfNegative val="0"/>
            <c:spPr>
              <a:solidFill xmlns:a="http://schemas.openxmlformats.org/drawingml/2006/main">
                <a:srgbClr val="185FA5"/>
              </a:solidFill>
            </c:spPr>
          </c:dPt>
          <c:dPt>
            <c:idx val="27"/>
            <c:invertIfNegative val="0"/>
            <c:spPr>
              <a:solidFill xmlns:a="http://schemas.openxmlformats.org/drawingml/2006/main">
                <a:srgbClr val="185FA5"/>
              </a:solidFill>
            </c:spPr>
          </c:dPt>
          <c:dPt>
            <c:idx val="28"/>
            <c:invertIfNegative val="0"/>
            <c:spPr>
              <a:solidFill xmlns:a="http://schemas.openxmlformats.org/drawingml/2006/main">
                <a:srgbClr val="185FA5"/>
              </a:solidFill>
            </c:spPr>
          </c:dPt>
          <c:dPt>
            <c:idx val="29"/>
            <c:invertIfNegative val="0"/>
            <c:spPr>
              <a:solidFill xmlns:a="http://schemas.openxmlformats.org/drawingml/2006/main">
                <a:srgbClr val="185FA5"/>
              </a:solidFill>
            </c:spPr>
          </c:dPt>
          <c:dPt>
            <c:idx val="30"/>
            <c:invertIfNegative val="0"/>
            <c:spPr>
              <a:solidFill xmlns:a="http://schemas.openxmlformats.org/drawingml/2006/main">
                <a:srgbClr val="185FA5"/>
              </a:solidFill>
            </c:spPr>
          </c:dPt>
          <c:dPt>
            <c:idx val="31"/>
            <c:invertIfNegative val="0"/>
            <c:spPr>
              <a:solidFill xmlns:a="http://schemas.openxmlformats.org/drawingml/2006/main">
                <a:srgbClr val="185FA5"/>
              </a:solidFill>
            </c:spPr>
          </c:dPt>
          <c:dPt>
            <c:idx val="32"/>
            <c:invertIfNegative val="0"/>
            <c:spPr>
              <a:solidFill xmlns:a="http://schemas.openxmlformats.org/drawingml/2006/main">
                <a:srgbClr val="185FA5"/>
              </a:solidFill>
            </c:spPr>
          </c:dPt>
          <c:dPt>
            <c:idx val="33"/>
            <c:invertIfNegative val="0"/>
            <c:spPr>
              <a:solidFill xmlns:a="http://schemas.openxmlformats.org/drawingml/2006/main">
                <a:srgbClr val="185FA5"/>
              </a:solidFill>
            </c:spPr>
          </c:dPt>
          <c:dPt>
            <c:idx val="34"/>
            <c:invertIfNegative val="0"/>
            <c:spPr>
              <a:solidFill xmlns:a="http://schemas.openxmlformats.org/drawingml/2006/main">
                <a:srgbClr val="185FA5"/>
              </a:solidFill>
            </c:spPr>
          </c:dPt>
          <c:dPt>
            <c:idx val="35"/>
            <c:invertIfNegative val="0"/>
            <c:spPr>
              <a:solidFill xmlns:a="http://schemas.openxmlformats.org/drawingml/2006/main">
                <a:srgbClr val="EF9F27"/>
              </a:solidFill>
            </c:spPr>
          </c:dPt>
          <c:dPt>
            <c:idx val="36"/>
            <c:invertIfNegative val="0"/>
            <c:spPr>
              <a:solidFill xmlns:a="http://schemas.openxmlformats.org/drawingml/2006/main">
                <a:srgbClr val="EF9F27"/>
              </a:solidFill>
            </c:spPr>
          </c:dPt>
          <c:dPt>
            <c:idx val="37"/>
            <c:invertIfNegative val="0"/>
            <c:spPr>
              <a:solidFill xmlns:a="http://schemas.openxmlformats.org/drawingml/2006/main">
                <a:srgbClr val="EF9F27"/>
              </a:solidFill>
            </c:spPr>
          </c:dPt>
          <c:dPt>
            <c:idx val="38"/>
            <c:invertIfNegative val="0"/>
            <c:spPr>
              <a:solidFill xmlns:a="http://schemas.openxmlformats.org/drawingml/2006/main">
                <a:srgbClr val="EF9F27"/>
              </a:solidFill>
            </c:spPr>
          </c:dPt>
          <c:cat>
            <c:numRef>
              <c:f>'Chart Data'!$A$2:$A$40</c:f>
              <c:numCache>
                <c:formatCode>General</c:formatCode>
                <c:ptCount val="39"/>
                <c:pt idx="0">
                  <c:v>20.04</c:v>
                </c:pt>
                <c:pt idx="1">
                  <c:v>21.04</c:v>
                </c:pt>
                <c:pt idx="2">
                  <c:v>22.04</c:v>
                </c:pt>
                <c:pt idx="3">
                  <c:v>23.04</c:v>
                </c:pt>
                <c:pt idx="4">
                  <c:v>24.04</c:v>
                </c:pt>
                <c:pt idx="5">
                  <c:v>25.04</c:v>
                </c:pt>
                <c:pt idx="6">
                  <c:v>26.04</c:v>
                </c:pt>
                <c:pt idx="7">
                  <c:v>27.04</c:v>
                </c:pt>
                <c:pt idx="8">
                  <c:v>28.04</c:v>
                </c:pt>
                <c:pt idx="9">
                  <c:v>29.04</c:v>
                </c:pt>
                <c:pt idx="10">
                  <c:v>30.04</c:v>
                </c:pt>
                <c:pt idx="11">
                  <c:v>01.05</c:v>
                </c:pt>
                <c:pt idx="12">
                  <c:v>02.05</c:v>
                </c:pt>
                <c:pt idx="13">
                  <c:v>03.05</c:v>
                </c:pt>
                <c:pt idx="14">
                  <c:v>04.05</c:v>
                </c:pt>
                <c:pt idx="15">
                  <c:v>05.05</c:v>
                </c:pt>
                <c:pt idx="16">
                  <c:v>06.05</c:v>
                </c:pt>
                <c:pt idx="17">
                  <c:v>07.05</c:v>
                </c:pt>
                <c:pt idx="18">
                  <c:v>08.05</c:v>
                </c:pt>
                <c:pt idx="19">
                  <c:v>09.05</c:v>
                </c:pt>
                <c:pt idx="20">
                  <c:v>10.05</c:v>
                </c:pt>
                <c:pt idx="21">
                  <c:v>11.05</c:v>
                </c:pt>
                <c:pt idx="22">
                  <c:v>12.05</c:v>
                </c:pt>
                <c:pt idx="23">
                  <c:v>13.05</c:v>
                </c:pt>
                <c:pt idx="24">
                  <c:v>14.05</c:v>
                </c:pt>
                <c:pt idx="25">
                  <c:v>15.05</c:v>
                </c:pt>
                <c:pt idx="26">
                  <c:v>16.05</c:v>
                </c:pt>
                <c:pt idx="27">
                  <c:v>17.05</c:v>
                </c:pt>
                <c:pt idx="28">
                  <c:v>18.05</c:v>
                </c:pt>
                <c:pt idx="29">
                  <c:v>19.05</c:v>
                </c:pt>
                <c:pt idx="30">
                  <c:v>20.05</c:v>
                </c:pt>
                <c:pt idx="31">
                  <c:v>21.05</c:v>
                </c:pt>
                <c:pt idx="32">
                  <c:v>22.05</c:v>
                </c:pt>
                <c:pt idx="33">
                  <c:v>23.05</c:v>
                </c:pt>
                <c:pt idx="34">
                  <c:v>24.05</c:v>
                </c:pt>
                <c:pt idx="35">
                  <c:v>25.05</c:v>
                </c:pt>
                <c:pt idx="36">
                  <c:v>26.05</c:v>
                </c:pt>
                <c:pt idx="37">
                  <c:v>27.05</c:v>
                </c:pt>
                <c:pt idx="38">
                  <c:v>31.05</c:v>
                </c:pt>
              </c:numCache>
            </c:numRef>
          </c:cat>
          <c:val>
            <c:numRef>
              <c:f>'Chart Data'!$B$2:$B$40</c:f>
              <c:numCache>
                <c:formatCode>0</c:formatCode>
                <c:ptCount val="39"/>
                <c:pt idx="0">
                  <c:v>212.413</c:v>
                </c:pt>
                <c:pt idx="1">
                  <c:v>375.982</c:v>
                </c:pt>
                <c:pt idx="2">
                  <c:v>314.964</c:v>
                </c:pt>
                <c:pt idx="3">
                  <c:v>302.931</c:v>
                </c:pt>
                <c:pt idx="4">
                  <c:v>291.373</c:v>
                </c:pt>
                <c:pt idx="5">
                  <c:v>288.588</c:v>
                </c:pt>
                <c:pt idx="6">
                  <c:v>241.617</c:v>
                </c:pt>
                <c:pt idx="7">
                  <c:v>276.137</c:v>
                </c:pt>
                <c:pt idx="8">
                  <c:v>263.417</c:v>
                </c:pt>
                <c:pt idx="9">
                  <c:v>189.608</c:v>
                </c:pt>
                <c:pt idx="10">
                  <c:v>48.577</c:v>
                </c:pt>
                <c:pt idx="11">
                  <c:v>59.491</c:v>
                </c:pt>
                <c:pt idx="12">
                  <c:v>53.79</c:v>
                </c:pt>
                <c:pt idx="13">
                  <c:v>50.339</c:v>
                </c:pt>
                <c:pt idx="14">
                  <c:v>44.935</c:v>
                </c:pt>
                <c:pt idx="15">
                  <c:v>47.538</c:v>
                </c:pt>
                <c:pt idx="16">
                  <c:v>45.257</c:v>
                </c:pt>
                <c:pt idx="17">
                  <c:v>42.134</c:v>
                </c:pt>
                <c:pt idx="18">
                  <c:v>44.817</c:v>
                </c:pt>
                <c:pt idx="19">
                  <c:v>43.972</c:v>
                </c:pt>
                <c:pt idx="20">
                  <c:v>121.211</c:v>
                </c:pt>
                <c:pt idx="21">
                  <c:v>334.595</c:v>
                </c:pt>
                <c:pt idx="22">
                  <c:v>355.688</c:v>
                </c:pt>
                <c:pt idx="23">
                  <c:v>378.9</c:v>
                </c:pt>
                <c:pt idx="24">
                  <c:v>341.203</c:v>
                </c:pt>
                <c:pt idx="25">
                  <c:v>358.158</c:v>
                </c:pt>
                <c:pt idx="26">
                  <c:v>279.088</c:v>
                </c:pt>
                <c:pt idx="27">
                  <c:v>335.299</c:v>
                </c:pt>
                <c:pt idx="28">
                  <c:v>329.177</c:v>
                </c:pt>
                <c:pt idx="29">
                  <c:v>274.164</c:v>
                </c:pt>
                <c:pt idx="30">
                  <c:v>144.847</c:v>
                </c:pt>
                <c:pt idx="31">
                  <c:v>338.791</c:v>
                </c:pt>
                <c:pt idx="32">
                  <c:v>248.53</c:v>
                </c:pt>
                <c:pt idx="33">
                  <c:v>213.596</c:v>
                </c:pt>
                <c:pt idx="34">
                  <c:v>319.447</c:v>
                </c:pt>
                <c:pt idx="35">
                  <c:v>20.561</c:v>
                </c:pt>
                <c:pt idx="36">
                  <c:v>6.779</c:v>
                </c:pt>
                <c:pt idx="37">
                  <c:v>0.001</c:v>
                </c:pt>
                <c:pt idx="38">
                  <c:v>98.707</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28"/>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72768"/>
      </c:catAx>
      <c:valAx>
        <c:axId val="48672768"/>
        <c:scaling>
          <c:orientation val="minMax"/>
          <c:max val="420"/>
          <c:min val="0"/>
        </c:scaling>
        <c:delete val="0"/>
        <c:axPos val="l"/>
        <c:majorGridlines>
          <c:spPr>
            <a:ln xmlns:a="http://schemas.openxmlformats.org/drawingml/2006/main" w="9525">
              <a:solidFill>
                <a:srgbClr val="E4EA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4748B"/>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varyColors val="0"/>
        <c:ser>
          <c:idx val="0"/>
          <c:order val="0"/>
          <c:tx>
            <c:v>Mln AZN</c:v>
          </c:tx>
          <c:spPr>
            <a:solidFill xmlns:a="http://schemas.openxmlformats.org/drawingml/2006/main">
              <a:srgbClr val="185FA5"/>
            </a:solidFill>
          </c:spPr>
          <c:invertIfNegative val="0"/>
          <c:dPt>
            <c:idx val="0"/>
            <c:invertIfNegative val="0"/>
            <c:spPr>
              <a:solidFill xmlns:a="http://schemas.openxmlformats.org/drawingml/2006/main">
                <a:srgbClr val="185FA5"/>
              </a:solidFill>
            </c:spPr>
          </c:dPt>
          <c:dPt>
            <c:idx val="1"/>
            <c:invertIfNegative val="0"/>
            <c:spPr>
              <a:solidFill xmlns:a="http://schemas.openxmlformats.org/drawingml/2006/main">
                <a:srgbClr val="185FA5"/>
              </a:solidFill>
            </c:spPr>
          </c:dPt>
          <c:dPt>
            <c:idx val="2"/>
            <c:invertIfNegative val="0"/>
            <c:spPr>
              <a:solidFill xmlns:a="http://schemas.openxmlformats.org/drawingml/2006/main">
                <a:srgbClr val="C0392B"/>
              </a:solidFill>
            </c:spPr>
          </c:dPt>
          <c:dPt>
            <c:idx val="3"/>
            <c:invertIfNegative val="0"/>
            <c:spPr>
              <a:solidFill xmlns:a="http://schemas.openxmlformats.org/drawingml/2006/main">
                <a:srgbClr val="C0392B"/>
              </a:solidFill>
            </c:spPr>
          </c:dPt>
          <c:dPt>
            <c:idx val="4"/>
            <c:invertIfNegative val="0"/>
            <c:spPr>
              <a:solidFill xmlns:a="http://schemas.openxmlformats.org/drawingml/2006/main">
                <a:srgbClr val="185FA5"/>
              </a:solidFill>
            </c:spPr>
          </c:dPt>
          <c:dPt>
            <c:idx val="5"/>
            <c:invertIfNegative val="0"/>
            <c:spPr>
              <a:solidFill xmlns:a="http://schemas.openxmlformats.org/drawingml/2006/main">
                <a:srgbClr val="C0392B"/>
              </a:solidFill>
            </c:spPr>
          </c:dPt>
          <c:cat>
            <c:strRef>
              <c:f>'Chart Data'!$A$2:$A$7</c:f>
              <c:strCache>
                <c:ptCount val="6"/>
                <c:pt idx="0">
                  <c:v>OBA MARKET</c:v>
                </c:pt>
                <c:pt idx="1">
                  <c:v>AL MARKET</c:v>
                </c:pt>
                <c:pt idx="2">
                  <c:v>ERZAQ MAGAZASI</c:v>
                </c:pt>
                <c:pt idx="3">
                  <c:v>APTEK</c:v>
                </c:pt>
                <c:pt idx="4">
                  <c:v>ARAZ MARKET</c:v>
                </c:pt>
                <c:pt idx="5">
                  <c:v>MAGAZA</c:v>
                </c:pt>
              </c:strCache>
            </c:strRef>
          </c:cat>
          <c:val>
            <c:numRef>
              <c:f>'Chart Data'!$B$2:$B$7</c:f>
              <c:numCache>
                <c:formatCode>General</c:formatCode>
                <c:ptCount val="6"/>
                <c:pt idx="0">
                  <c:v>1.70564874</c:v>
                </c:pt>
                <c:pt idx="1">
                  <c:v>1.71429722</c:v>
                </c:pt>
                <c:pt idx="2">
                  <c:v>2.04500294</c:v>
                </c:pt>
                <c:pt idx="3">
                  <c:v>2.9309155</c:v>
                </c:pt>
                <c:pt idx="4">
                  <c:v>3.28035869</c:v>
                </c:pt>
                <c:pt idx="5">
                  <c:v>6.67235891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E293B"/>
                </a:solidFill>
                <a:latin typeface="Calibri"/>
                <a:ea typeface="Calibri"/>
                <a:cs typeface="Calibri"/>
              </a:defRPr>
            </a:pPr>
          </a:p>
        </c:txPr>
        <c:crossAx val="48672768"/>
      </c:catAx>
      <c:valAx>
        <c:axId val="48672768"/>
        <c:scaling>
          <c:orientation val="minMax"/>
          <c:max val="7.7"/>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ineChart>
        <c:grouping val="standard"/>
        <c:varyColors val="0"/>
        <c:ser>
          <c:idx val="0"/>
          <c:order val="0"/>
          <c:tx>
            <c:v>Faktiki</c:v>
          </c:tx>
          <c:spPr>
            <a:ln xmlns:a="http://schemas.openxmlformats.org/drawingml/2006/main" w="38100">
              <a:solidFill>
                <a:srgbClr val="185FA5"/>
              </a:solidFill>
            </a:ln>
          </c:spPr>
          <c:marker>
            <c:symbol val="circle"/>
            <c:size val="9"/>
            <c:spPr>
              <a:solidFill xmlns:a="http://schemas.openxmlformats.org/drawingml/2006/main">
                <a:srgbClr val="185FA5"/>
              </a:solidFill>
            </c:spPr>
          </c:marker>
          <c:cat>
            <c:numRef>
              <c:f>'Chart Data'!$A$2:$A$6</c:f>
              <c:numCache>
                <c:formatCode>General</c:formatCode>
                <c:ptCount val="5"/>
                <c:pt idx="0">
                  <c:v>20.05</c:v>
                </c:pt>
                <c:pt idx="1">
                  <c:v>21.05</c:v>
                </c:pt>
                <c:pt idx="2">
                  <c:v>22.05</c:v>
                </c:pt>
                <c:pt idx="3">
                  <c:v>23.05</c:v>
                </c:pt>
                <c:pt idx="4">
                  <c:v>24.05</c:v>
                </c:pt>
              </c:numCache>
            </c:numRef>
          </c:cat>
          <c:val>
            <c:numRef>
              <c:f>'Chart Data'!$B$2:$B$6</c:f>
              <c:numCache>
                <c:formatCode>0.0</c:formatCode>
                <c:ptCount val="5"/>
                <c:pt idx="0">
                  <c:v>0.82090068</c:v>
                </c:pt>
                <c:pt idx="1">
                  <c:v>1.9168371</c:v>
                </c:pt>
                <c:pt idx="2">
                  <c:v>1.43981322</c:v>
                </c:pt>
                <c:pt idx="3">
                  <c:v>1.45375097</c:v>
                </c:pt>
                <c:pt idx="4">
                  <c:v>2.2225992</c:v>
                </c:pt>
              </c:numCache>
            </c:numRef>
          </c:val>
          <c:smooth val="0"/>
        </c:ser>
        <c:ser>
          <c:idx val="1"/>
          <c:order val="1"/>
          <c:tx>
            <c:v>Reqressiya</c:v>
          </c:tx>
          <c:spPr>
            <a:ln xmlns:a="http://schemas.openxmlformats.org/drawingml/2006/main" w="28575">
              <a:solidFill>
                <a:srgbClr val="1D9E75"/>
              </a:solidFill>
            </a:ln>
          </c:spPr>
          <c:marker>
            <c:symbol val="circle"/>
            <c:size val="6"/>
            <c:spPr>
              <a:solidFill xmlns:a="http://schemas.openxmlformats.org/drawingml/2006/main">
                <a:srgbClr val="1D9E75"/>
              </a:solidFill>
            </c:spPr>
          </c:marker>
          <c:cat>
            <c:numRef>
              <c:f>'Chart Data'!$C$2:$C$6</c:f>
              <c:numCache>
                <c:formatCode>General</c:formatCode>
                <c:ptCount val="5"/>
                <c:pt idx="0">
                  <c:v>20.05</c:v>
                </c:pt>
                <c:pt idx="1">
                  <c:v>21.05</c:v>
                </c:pt>
                <c:pt idx="2">
                  <c:v>22.05</c:v>
                </c:pt>
                <c:pt idx="3">
                  <c:v>23.05</c:v>
                </c:pt>
                <c:pt idx="4">
                  <c:v>24.05</c:v>
                </c:pt>
              </c:numCache>
            </c:numRef>
          </c:cat>
          <c:val>
            <c:numRef>
              <c:f>'Chart Data'!$D$2:$D$6</c:f>
              <c:numCache>
                <c:formatCode>0.0</c:formatCode>
                <c:ptCount val="5"/>
                <c:pt idx="0">
                  <c:v>1.78310134</c:v>
                </c:pt>
                <c:pt idx="1">
                  <c:v>1.79092138</c:v>
                </c:pt>
                <c:pt idx="2">
                  <c:v>1.79874143</c:v>
                </c:pt>
                <c:pt idx="3">
                  <c:v>1.80656148</c:v>
                </c:pt>
                <c:pt idx="4">
                  <c:v>1.81438152</c:v>
                </c:pt>
              </c:numCache>
            </c:numRef>
          </c:val>
          <c:smooth val="0"/>
        </c:ser>
        <c:ser>
          <c:idx val="2"/>
          <c:order val="2"/>
          <c:tx>
            <c:v>Sadə orta</c:v>
          </c:tx>
          <c:spPr>
            <a:ln xmlns:a="http://schemas.openxmlformats.org/drawingml/2006/main" w="19050">
              <a:solidFill>
                <a:srgbClr val="94A3B8"/>
              </a:solidFill>
              <a:prstDash val="dash"/>
            </a:ln>
          </c:spPr>
          <c:marker>
            <c:symbol val="none"/>
          </c:marker>
          <c:cat>
            <c:numRef>
              <c:f>'Chart Data'!$E$2:$E$6</c:f>
              <c:numCache>
                <c:formatCode>General</c:formatCode>
                <c:ptCount val="5"/>
                <c:pt idx="0">
                  <c:v>20.05</c:v>
                </c:pt>
                <c:pt idx="1">
                  <c:v>21.05</c:v>
                </c:pt>
                <c:pt idx="2">
                  <c:v>22.05</c:v>
                </c:pt>
                <c:pt idx="3">
                  <c:v>23.05</c:v>
                </c:pt>
                <c:pt idx="4">
                  <c:v>24.05</c:v>
                </c:pt>
              </c:numCache>
            </c:numRef>
          </c:cat>
          <c:val>
            <c:numRef>
              <c:f>'Chart Data'!$F$2:$F$6</c:f>
              <c:numCache>
                <c:formatCode>0.0</c:formatCode>
                <c:ptCount val="5"/>
                <c:pt idx="0">
                  <c:v>1.63290739</c:v>
                </c:pt>
                <c:pt idx="1">
                  <c:v>1.63290739</c:v>
                </c:pt>
                <c:pt idx="2">
                  <c:v>1.63290739</c:v>
                </c:pt>
                <c:pt idx="3">
                  <c:v>1.63290739</c:v>
                </c:pt>
                <c:pt idx="4">
                  <c:v>1.63290739</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48B"/>
                </a:solidFill>
                <a:latin typeface="Calibri"/>
                <a:ea typeface="Calibri"/>
                <a:cs typeface="Calibri"/>
              </a:defRPr>
            </a:pPr>
          </a:p>
        </c:txPr>
        <c:crossAx val="48672768"/>
      </c:catAx>
      <c:valAx>
        <c:axId val="48672768"/>
        <c:scaling>
          <c:orientation val="minMax"/>
          <c:max val="2.5"/>
          <c:min val="0"/>
        </c:scaling>
        <c:delete val="0"/>
        <c:axPos val="l"/>
        <c:majorGridlines>
          <c:spPr>
            <a:ln xmlns:a="http://schemas.openxmlformats.org/drawingml/2006/main" w="9525">
              <a:solidFill>
                <a:srgbClr val="E4EAF0"/>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4748B"/>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E293B"/>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varyColors val="0"/>
        <c:ser>
          <c:idx val="0"/>
          <c:order val="0"/>
          <c:tx>
            <c:v>MAE, min AZN</c:v>
          </c:tx>
          <c:spPr>
            <a:solidFill xmlns:a="http://schemas.openxmlformats.org/drawingml/2006/main">
              <a:srgbClr val="1D9E75"/>
            </a:solidFill>
          </c:spPr>
          <c:invertIfNegative val="0"/>
          <c:dPt>
            <c:idx val="1"/>
            <c:invertIfNegative val="0"/>
            <c:spPr>
              <a:solidFill xmlns:a="http://schemas.openxmlformats.org/drawingml/2006/main">
                <a:srgbClr val="C0392B"/>
              </a:solidFill>
            </c:spPr>
          </c:dPt>
          <c:cat>
            <c:strRef>
              <c:f>'Chart Data'!$A$2:$A$3</c:f>
              <c:strCache>
                <c:ptCount val="2"/>
                <c:pt idx="0">
                  <c:v>Sadə orta</c:v>
                </c:pt>
                <c:pt idx="1">
                  <c:v>Reqressiya</c:v>
                </c:pt>
              </c:strCache>
            </c:strRef>
          </c:cat>
          <c:val>
            <c:numRef>
              <c:f>'Chart Data'!$B$2:$B$3</c:f>
              <c:numCache>
                <c:formatCode>General</c:formatCode>
                <c:ptCount val="2"/>
                <c:pt idx="0">
                  <c:v>411.57576407</c:v>
                </c:pt>
                <c:pt idx="1">
                  <c:v>441.61455363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1E293B"/>
                  </a:solidFill>
                  <a:latin typeface="Calibri"/>
                  <a:ea typeface="Calibri"/>
                  <a:cs typeface="Calibri"/>
                </a:defRPr>
              </a:pPr>
            </a:p>
          </c:txPr>
          <c:dLblPos val="outEnd"/>
          <c:showLegendKey val="0"/>
          <c:showVal val="1"/>
          <c:showCatName val="0"/>
          <c:showSerName val="0"/>
          <c:showPercent val="0"/>
          <c:showBubbleSize val="0"/>
          <c:showLeaderLines val="0"/>
        </c:dLbls>
        <c:gapWidth val="13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275">
                <a:solidFill>
                  <a:srgbClr val="64748B"/>
                </a:solidFill>
                <a:latin typeface="Calibri"/>
                <a:ea typeface="Calibri"/>
                <a:cs typeface="Calibri"/>
              </a:defRPr>
            </a:pPr>
          </a:p>
        </c:txPr>
        <c:crossAx val="48672768"/>
      </c:catAx>
      <c:valAx>
        <c:axId val="48672768"/>
        <c:scaling>
          <c:orientation val="minMax"/>
          <c:max val="530"/>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2D4D"/>
        </a:solidFill>
      </p:bgPr>
    </p:bg>
    <p:spTree>
      <p:nvGrpSpPr>
        <p:cNvPr id="1" name=""/>
        <p:cNvGrpSpPr/>
        <p:nvPr/>
      </p:nvGrpSpPr>
      <p:grpSpPr>
        <a:xfrm xmlns:a="http://schemas.openxmlformats.org/drawingml/2006/main"/>
      </p:grpSpPr>
      <p:sp>
        <p:nvSpPr>
          <p:cNvPr id="12" name="Google Shape;12;p1">
            <a:extLst xmlns:a="http://schemas.openxmlformats.org/drawingml/2006/main">
              <a:ext uri="{FF2B5EF4-FFF2-40B4-BE49-F238E27FC236}">
                <a16:creationId xmlns:a16="http://schemas.microsoft.com/office/drawing/2014/main" id="{DCCC29BF-DC0E-42DA-83E5-A19C85220311}"/>
              </a:ext>
            </a:extLst>
          </p:cNvPr>
          <p:cNvSpPr>
            <a:spLocks xmlns:a="http://schemas.openxmlformats.org/drawingml/2006/main" noGrp="1"/>
          </p:cNvSpPr>
          <p:nvPr/>
        </p:nvSpPr>
        <p:spPr>
          <a:xfrm xmlns:a="http://schemas.openxmlformats.org/drawingml/2006/main">
            <a:off x="822960" y="2057400"/>
            <a:ext cx="105156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5400"/>
              <a:buFont typeface="Trebuchet MS"/>
              <a:buNone/>
            </a:pPr>
            <a:r>
              <a:rPr sz="5400" b="1" i="0" u="none" strike="noStrike" cap="none">
                <a:solidFill>
                  <a:srgbClr val="FFFFFF"/>
                </a:solidFill>
                <a:latin typeface="Trebuchet MS"/>
                <a:ea typeface="Trebuchet MS"/>
                <a:cs typeface="Trebuchet MS"/>
              </a:rPr>
              <a:t>FP Receipts</a:t>
            </a:r>
            <a:endParaRPr sz="5400" b="0" i="0" u="none" strike="noStrike" cap="none">
              <a:solidFill>
                <a:schemeClr val="dk1"/>
              </a:solidFill>
              <a:latin typeface="Calibri"/>
              <a:ea typeface="Calibri"/>
              <a:cs typeface="Calibri"/>
            </a:endParaRPr>
          </a:p>
        </p:txBody>
      </p:sp>
      <p:sp>
        <p:nvSpPr>
          <p:cNvPr id="13" name="Google Shape;13;p1">
            <a:extLst xmlns:a="http://schemas.openxmlformats.org/drawingml/2006/main">
              <a:ext uri="{FF2B5EF4-FFF2-40B4-BE49-F238E27FC236}">
                <a16:creationId xmlns:a16="http://schemas.microsoft.com/office/drawing/2014/main" id="{E7A4260E-0477-48FD-8C35-C57019E05A5A}"/>
              </a:ext>
            </a:extLst>
          </p:cNvPr>
          <p:cNvSpPr>
            <a:spLocks xmlns:a="http://schemas.openxmlformats.org/drawingml/2006/main" noGrp="1"/>
          </p:cNvSpPr>
          <p:nvPr/>
        </p:nvSpPr>
        <p:spPr>
          <a:xfrm xmlns:a="http://schemas.openxmlformats.org/drawingml/2006/main">
            <a:off x="841248" y="3063240"/>
            <a:ext cx="105156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ADCFC"/>
              </a:buClr>
              <a:buSzPts val="2600"/>
              <a:buFont typeface="Trebuchet MS"/>
              <a:buNone/>
            </a:pPr>
            <a:r>
              <a:rPr sz="2600" b="0" i="0" u="none" strike="noStrike" cap="none">
                <a:solidFill>
                  <a:srgbClr val="CADCFC"/>
                </a:solidFill>
                <a:latin typeface="Trebuchet MS"/>
                <a:ea typeface="Trebuchet MS"/>
                <a:cs typeface="Trebuchet MS"/>
              </a:rPr>
              <a:t>Pərakəndə satış məlumatlarının təhlili</a:t>
            </a:r>
            <a:endParaRPr sz="2600" b="0" i="0" u="none" strike="noStrike" cap="none">
              <a:solidFill>
                <a:schemeClr val="dk1"/>
              </a:solidFill>
              <a:latin typeface="Calibri"/>
              <a:ea typeface="Calibri"/>
              <a:cs typeface="Calibri"/>
            </a:endParaRPr>
          </a:p>
        </p:txBody>
      </p:sp>
      <p:sp>
        <p:nvSpPr>
          <p:cNvPr id="14" name="Google Shape;14;p1">
            <a:extLst xmlns:a="http://schemas.openxmlformats.org/drawingml/2006/main">
              <a:ext uri="{FF2B5EF4-FFF2-40B4-BE49-F238E27FC236}">
                <a16:creationId xmlns:a16="http://schemas.microsoft.com/office/drawing/2014/main" id="{3F163C4F-9886-47A8-A15B-47E929A3CB89}"/>
              </a:ext>
            </a:extLst>
          </p:cNvPr>
          <p:cNvSpPr>
            <a:spLocks xmlns:a="http://schemas.openxmlformats.org/drawingml/2006/main" noGrp="1"/>
          </p:cNvSpPr>
          <p:nvPr/>
        </p:nvSpPr>
        <p:spPr>
          <a:xfrm xmlns:a="http://schemas.openxmlformats.org/drawingml/2006/main">
            <a:off x="841248" y="3977640"/>
            <a:ext cx="10515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7FB3E8"/>
              </a:buClr>
              <a:buSzPts val="1500"/>
              <a:buFont typeface="Calibri"/>
              <a:buNone/>
            </a:pPr>
            <a:r>
              <a:rPr sz="1500" b="0" i="0" u="none" strike="noStrike" cap="none">
                <a:solidFill>
                  <a:srgbClr val="7FB3E8"/>
                </a:solidFill>
                <a:latin typeface="Calibri"/>
                <a:ea typeface="Calibri"/>
                <a:cs typeface="Calibri"/>
              </a:rPr>
              <a:t>Deskriptiv təhlil     Anomaliyalar     Proqnoz və fərziyyələr     Xülasə</a:t>
            </a:r>
            <a:endParaRPr sz="1500" b="0" i="0" u="none" strike="noStrike" cap="none">
              <a:solidFill>
                <a:schemeClr val="dk1"/>
              </a:solidFill>
              <a:latin typeface="Calibri"/>
              <a:ea typeface="Calibri"/>
              <a:cs typeface="Calibri"/>
            </a:endParaRPr>
          </a:p>
        </p:txBody>
      </p:sp>
      <p:cxnSp>
        <p:nvCxnSpPr>
          <p:cNvPr id="15" name="Google Shape;15;p1">
            <a:extLst xmlns:a="http://schemas.openxmlformats.org/drawingml/2006/main">
              <a:ext uri="{FF2B5EF4-FFF2-40B4-BE49-F238E27FC236}">
                <a16:creationId xmlns:a16="http://schemas.microsoft.com/office/drawing/2014/main" id="{9E85F089-5007-4FC5-9548-ACEB878BF8C0}"/>
              </a:ext>
            </a:extLst>
          </p:cNvPr>
          <p:cNvCxnSpPr/>
          <p:nvPr/>
        </p:nvCxnSpPr>
        <p:spPr>
          <a:xfrm xmlns:a="http://schemas.openxmlformats.org/drawingml/2006/main">
            <a:off x="868680" y="4800600"/>
            <a:ext cx="2926080" cy="0"/>
          </a:xfrm>
          <a:prstGeom xmlns:a="http://schemas.openxmlformats.org/drawingml/2006/main" prst="straightConnector1">
            <a:avLst/>
          </a:prstGeom>
          <a:ln xmlns:a="http://schemas.openxmlformats.org/drawingml/2006/main" w="31750" cap="flat">
            <a:solidFill>
              <a:srgbClr val="1D9E75"/>
            </a:solidFill>
            <a:prstDash val="solid"/>
            <a:round/>
            <a:headEnd type="none" w="sm" len="sm"/>
            <a:tailEnd type="none" w="sm" len="sm"/>
          </a:ln>
        </p:spPr>
      </p:cxnSp>
      <p:sp>
        <p:nvSpPr>
          <p:cNvPr id="16" name="Google Shape;16;p1">
            <a:extLst xmlns:a="http://schemas.openxmlformats.org/drawingml/2006/main">
              <a:ext uri="{FF2B5EF4-FFF2-40B4-BE49-F238E27FC236}">
                <a16:creationId xmlns:a16="http://schemas.microsoft.com/office/drawing/2014/main" id="{2CDB831F-B3E9-4572-97E8-40F70D25BB35}"/>
              </a:ext>
            </a:extLst>
          </p:cNvPr>
          <p:cNvSpPr>
            <a:spLocks xmlns:a="http://schemas.openxmlformats.org/drawingml/2006/main" noGrp="1"/>
          </p:cNvSpPr>
          <p:nvPr/>
        </p:nvSpPr>
        <p:spPr>
          <a:xfrm xmlns:a="http://schemas.openxmlformats.org/drawingml/2006/main">
            <a:off x="841248" y="5029200"/>
            <a:ext cx="10515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ADCFC"/>
              </a:buClr>
              <a:buSzPts val="1500"/>
              <a:buFont typeface="Calibri"/>
              <a:buNone/>
            </a:pPr>
            <a:r>
              <a:rPr sz="1500">
                <a:solidFill>
                  <a:srgbClr val="CADCFC"/>
                </a:solidFill>
                <a:latin typeface="Calibri"/>
                <a:ea typeface="Calibri"/>
                <a:cs typeface="Calibri"/>
              </a:rPr>
              <a:t>Ramin Əsədov     /     Məlumat dövrü: 19.04–31.05.2024</a:t>
            </a:r>
            <a:endParaRPr sz="15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14203651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Google Shape;22;p2">
            <a:extLst xmlns:a="http://schemas.openxmlformats.org/drawingml/2006/main">
              <a:ext uri="{FF2B5EF4-FFF2-40B4-BE49-F238E27FC236}">
                <a16:creationId xmlns:a16="http://schemas.microsoft.com/office/drawing/2014/main" id="{23A3486D-CABA-4AD7-9766-E75AB8CA7DE5}"/>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85FA5"/>
              </a:buClr>
              <a:buSzPts val="1250"/>
              <a:buFont typeface="Trebuchet MS"/>
              <a:buNone/>
            </a:pPr>
            <a:r>
              <a:rPr sz="1250" b="1">
                <a:solidFill>
                  <a:srgbClr val="185FA5"/>
                </a:solidFill>
                <a:latin typeface="Trebuchet MS"/>
                <a:ea typeface="Trebuchet MS"/>
                <a:cs typeface="Trebuchet MS"/>
              </a:rPr>
              <a:t>GIRIŞ</a:t>
            </a:r>
            <a:endParaRPr sz="1250">
              <a:solidFill>
                <a:schemeClr val="dk1"/>
              </a:solidFill>
              <a:latin typeface="Calibri"/>
              <a:ea typeface="Calibri"/>
              <a:cs typeface="Calibri"/>
            </a:endParaRPr>
          </a:p>
        </p:txBody>
      </p:sp>
      <p:sp>
        <p:nvSpPr>
          <p:cNvPr id="23" name="Google Shape;23;p2">
            <a:extLst xmlns:a="http://schemas.openxmlformats.org/drawingml/2006/main">
              <a:ext uri="{FF2B5EF4-FFF2-40B4-BE49-F238E27FC236}">
                <a16:creationId xmlns:a16="http://schemas.microsoft.com/office/drawing/2014/main" id="{DDC3E3AC-0EAD-4AE4-86FE-A11C61997540}"/>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93B"/>
              </a:buClr>
              <a:buSzPts val="2900"/>
              <a:buFont typeface="Trebuchet MS"/>
              <a:buNone/>
            </a:pPr>
            <a:r>
              <a:rPr sz="2900" b="1">
                <a:solidFill>
                  <a:srgbClr val="1E293B"/>
                </a:solidFill>
                <a:latin typeface="Trebuchet MS"/>
                <a:ea typeface="Trebuchet MS"/>
                <a:cs typeface="Trebuchet MS"/>
              </a:rPr>
              <a:t>Layihə və məlumat bazası</a:t>
            </a:r>
            <a:endParaRPr sz="2900">
              <a:solidFill>
                <a:schemeClr val="dk1"/>
              </a:solidFill>
              <a:latin typeface="Calibri"/>
              <a:ea typeface="Calibri"/>
              <a:cs typeface="Calibri"/>
            </a:endParaRPr>
          </a:p>
        </p:txBody>
      </p:sp>
      <p:sp>
        <p:nvSpPr>
          <p:cNvPr id="24" name="Google Shape;24;p2">
            <a:extLst xmlns:a="http://schemas.openxmlformats.org/drawingml/2006/main">
              <a:ext uri="{FF2B5EF4-FFF2-40B4-BE49-F238E27FC236}">
                <a16:creationId xmlns:a16="http://schemas.microsoft.com/office/drawing/2014/main" id="{FD9A1427-6F6E-4982-8C59-B5BB9CDD2F52}"/>
              </a:ext>
            </a:extLst>
          </p:cNvPr>
          <p:cNvSpPr>
            <a:spLocks xmlns:a="http://schemas.openxmlformats.org/drawingml/2006/main" noGrp="1"/>
          </p:cNvSpPr>
          <p:nvPr/>
        </p:nvSpPr>
        <p:spPr>
          <a:xfrm xmlns:a="http://schemas.openxmlformats.org/drawingml/2006/main">
            <a:off x="566928" y="1691640"/>
            <a:ext cx="3520440" cy="150876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5" name="Google Shape;25;p2">
            <a:extLst xmlns:a="http://schemas.openxmlformats.org/drawingml/2006/main">
              <a:ext uri="{FF2B5EF4-FFF2-40B4-BE49-F238E27FC236}">
                <a16:creationId xmlns:a16="http://schemas.microsoft.com/office/drawing/2014/main" id="{B3AF6AE2-A57B-464F-8C92-4FDFF977F5A6}"/>
              </a:ext>
            </a:extLst>
          </p:cNvPr>
          <p:cNvSpPr>
            <a:spLocks xmlns:a="http://schemas.openxmlformats.org/drawingml/2006/main" noGrp="1"/>
          </p:cNvSpPr>
          <p:nvPr/>
        </p:nvSpPr>
        <p:spPr>
          <a:xfrm xmlns:a="http://schemas.openxmlformats.org/drawingml/2006/main">
            <a:off x="566928" y="1837944"/>
            <a:ext cx="3520440" cy="7845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185FA5"/>
              </a:buClr>
              <a:buSzPts val="3200"/>
              <a:buFont typeface="Trebuchet MS"/>
              <a:buNone/>
            </a:pPr>
            <a:r>
              <a:rPr sz="3200" b="1">
                <a:solidFill>
                  <a:srgbClr val="185FA5"/>
                </a:solidFill>
                <a:latin typeface="Trebuchet MS"/>
                <a:ea typeface="Trebuchet MS"/>
                <a:cs typeface="Trebuchet MS"/>
              </a:rPr>
              <a:t>10 000 909</a:t>
            </a:r>
            <a:endParaRPr sz="3200">
              <a:solidFill>
                <a:schemeClr val="dk1"/>
              </a:solidFill>
              <a:latin typeface="Calibri"/>
              <a:ea typeface="Calibri"/>
              <a:cs typeface="Calibri"/>
            </a:endParaRPr>
          </a:p>
        </p:txBody>
      </p:sp>
      <p:sp>
        <p:nvSpPr>
          <p:cNvPr id="26" name="Google Shape;26;p2">
            <a:extLst xmlns:a="http://schemas.openxmlformats.org/drawingml/2006/main">
              <a:ext uri="{FF2B5EF4-FFF2-40B4-BE49-F238E27FC236}">
                <a16:creationId xmlns:a16="http://schemas.microsoft.com/office/drawing/2014/main" id="{3BA5D985-2916-4FC0-A78F-DF14C148E0DF}"/>
              </a:ext>
            </a:extLst>
          </p:cNvPr>
          <p:cNvSpPr>
            <a:spLocks xmlns:a="http://schemas.openxmlformats.org/drawingml/2006/main" noGrp="1"/>
          </p:cNvSpPr>
          <p:nvPr/>
        </p:nvSpPr>
        <p:spPr>
          <a:xfrm xmlns:a="http://schemas.openxmlformats.org/drawingml/2006/main">
            <a:off x="658368" y="2627071"/>
            <a:ext cx="3337560" cy="4828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64748B"/>
              </a:buClr>
              <a:buSzPts val="1250"/>
              <a:buFont typeface="Calibri"/>
              <a:buNone/>
            </a:pPr>
            <a:r>
              <a:rPr sz="1250">
                <a:solidFill>
                  <a:srgbClr val="64748B"/>
                </a:solidFill>
                <a:latin typeface="Calibri"/>
                <a:ea typeface="Calibri"/>
                <a:cs typeface="Calibri"/>
              </a:rPr>
              <a:t>Satış və ödəniş sətirləri</a:t>
            </a:r>
            <a:endParaRPr sz="1250">
              <a:solidFill>
                <a:schemeClr val="dk1"/>
              </a:solidFill>
              <a:latin typeface="Calibri"/>
              <a:ea typeface="Calibri"/>
              <a:cs typeface="Calibri"/>
            </a:endParaRPr>
          </a:p>
        </p:txBody>
      </p:sp>
      <p:sp>
        <p:nvSpPr>
          <p:cNvPr id="27" name="Google Shape;27;p2">
            <a:extLst xmlns:a="http://schemas.openxmlformats.org/drawingml/2006/main">
              <a:ext uri="{FF2B5EF4-FFF2-40B4-BE49-F238E27FC236}">
                <a16:creationId xmlns:a16="http://schemas.microsoft.com/office/drawing/2014/main" id="{224F0AB3-ADD4-4DD5-A143-CE63C81496DB}"/>
              </a:ext>
            </a:extLst>
          </p:cNvPr>
          <p:cNvSpPr>
            <a:spLocks xmlns:a="http://schemas.openxmlformats.org/drawingml/2006/main" noGrp="1"/>
          </p:cNvSpPr>
          <p:nvPr/>
        </p:nvSpPr>
        <p:spPr>
          <a:xfrm xmlns:a="http://schemas.openxmlformats.org/drawingml/2006/main">
            <a:off x="4334256" y="1691640"/>
            <a:ext cx="3520440" cy="150876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8" name="Google Shape;28;p2">
            <a:extLst xmlns:a="http://schemas.openxmlformats.org/drawingml/2006/main">
              <a:ext uri="{FF2B5EF4-FFF2-40B4-BE49-F238E27FC236}">
                <a16:creationId xmlns:a16="http://schemas.microsoft.com/office/drawing/2014/main" id="{E77A072F-8CE9-4691-8CBE-9BBE128D3028}"/>
              </a:ext>
            </a:extLst>
          </p:cNvPr>
          <p:cNvSpPr>
            <a:spLocks xmlns:a="http://schemas.openxmlformats.org/drawingml/2006/main" noGrp="1"/>
          </p:cNvSpPr>
          <p:nvPr/>
        </p:nvSpPr>
        <p:spPr>
          <a:xfrm xmlns:a="http://schemas.openxmlformats.org/drawingml/2006/main">
            <a:off x="4334256" y="1837944"/>
            <a:ext cx="3520440" cy="7845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1D9E75"/>
              </a:buClr>
              <a:buSzPts val="3200"/>
              <a:buFont typeface="Trebuchet MS"/>
              <a:buNone/>
            </a:pPr>
            <a:r>
              <a:rPr sz="3200" b="1">
                <a:solidFill>
                  <a:srgbClr val="1D9E75"/>
                </a:solidFill>
                <a:latin typeface="Trebuchet MS"/>
                <a:ea typeface="Trebuchet MS"/>
                <a:cs typeface="Trebuchet MS"/>
              </a:rPr>
              <a:t>118 118</a:t>
            </a:r>
            <a:endParaRPr sz="3200">
              <a:solidFill>
                <a:schemeClr val="dk1"/>
              </a:solidFill>
              <a:latin typeface="Calibri"/>
              <a:ea typeface="Calibri"/>
              <a:cs typeface="Calibri"/>
            </a:endParaRPr>
          </a:p>
        </p:txBody>
      </p:sp>
      <p:sp>
        <p:nvSpPr>
          <p:cNvPr id="29" name="Google Shape;29;p2">
            <a:extLst xmlns:a="http://schemas.openxmlformats.org/drawingml/2006/main">
              <a:ext uri="{FF2B5EF4-FFF2-40B4-BE49-F238E27FC236}">
                <a16:creationId xmlns:a16="http://schemas.microsoft.com/office/drawing/2014/main" id="{905539C3-1B45-4388-99D7-6D1B5B354B92}"/>
              </a:ext>
            </a:extLst>
          </p:cNvPr>
          <p:cNvSpPr>
            <a:spLocks xmlns:a="http://schemas.openxmlformats.org/drawingml/2006/main" noGrp="1"/>
          </p:cNvSpPr>
          <p:nvPr/>
        </p:nvSpPr>
        <p:spPr>
          <a:xfrm xmlns:a="http://schemas.openxmlformats.org/drawingml/2006/main">
            <a:off x="4425696" y="2627071"/>
            <a:ext cx="3337560" cy="4828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64748B"/>
              </a:buClr>
              <a:buSzPts val="1250"/>
              <a:buFont typeface="Calibri"/>
              <a:buNone/>
            </a:pPr>
            <a:r>
              <a:rPr sz="1250">
                <a:solidFill>
                  <a:srgbClr val="64748B"/>
                </a:solidFill>
                <a:latin typeface="Calibri"/>
                <a:ea typeface="Calibri"/>
                <a:cs typeface="Calibri"/>
              </a:rPr>
              <a:t>Məhsul xəritəsində sətir</a:t>
            </a:r>
            <a:endParaRPr sz="1250">
              <a:solidFill>
                <a:schemeClr val="dk1"/>
              </a:solidFill>
              <a:latin typeface="Calibri"/>
              <a:ea typeface="Calibri"/>
              <a:cs typeface="Calibri"/>
            </a:endParaRPr>
          </a:p>
        </p:txBody>
      </p:sp>
      <p:sp>
        <p:nvSpPr>
          <p:cNvPr id="30" name="Google Shape;30;p2">
            <a:extLst xmlns:a="http://schemas.openxmlformats.org/drawingml/2006/main">
              <a:ext uri="{FF2B5EF4-FFF2-40B4-BE49-F238E27FC236}">
                <a16:creationId xmlns:a16="http://schemas.microsoft.com/office/drawing/2014/main" id="{39AD5FE7-9410-4B66-975C-4066614B91AF}"/>
              </a:ext>
            </a:extLst>
          </p:cNvPr>
          <p:cNvSpPr>
            <a:spLocks xmlns:a="http://schemas.openxmlformats.org/drawingml/2006/main" noGrp="1"/>
          </p:cNvSpPr>
          <p:nvPr/>
        </p:nvSpPr>
        <p:spPr>
          <a:xfrm xmlns:a="http://schemas.openxmlformats.org/drawingml/2006/main">
            <a:off x="8101584" y="1691640"/>
            <a:ext cx="3520440" cy="150876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2">
            <a:extLst xmlns:a="http://schemas.openxmlformats.org/drawingml/2006/main">
              <a:ext uri="{FF2B5EF4-FFF2-40B4-BE49-F238E27FC236}">
                <a16:creationId xmlns:a16="http://schemas.microsoft.com/office/drawing/2014/main" id="{F0752820-8E0C-4A24-AC1E-9FA0BFE14C6B}"/>
              </a:ext>
            </a:extLst>
          </p:cNvPr>
          <p:cNvSpPr>
            <a:spLocks xmlns:a="http://schemas.openxmlformats.org/drawingml/2006/main" noGrp="1"/>
          </p:cNvSpPr>
          <p:nvPr/>
        </p:nvSpPr>
        <p:spPr>
          <a:xfrm xmlns:a="http://schemas.openxmlformats.org/drawingml/2006/main">
            <a:off x="8101584" y="1837944"/>
            <a:ext cx="3520440" cy="7845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D4537E"/>
              </a:buClr>
              <a:buSzPts val="3200"/>
              <a:buFont typeface="Trebuchet MS"/>
              <a:buNone/>
            </a:pPr>
            <a:r>
              <a:rPr sz="3200" b="1">
                <a:solidFill>
                  <a:srgbClr val="D4537E"/>
                </a:solidFill>
                <a:latin typeface="Trebuchet MS"/>
                <a:ea typeface="Trebuchet MS"/>
                <a:cs typeface="Trebuchet MS"/>
              </a:rPr>
              <a:t>40 / 43</a:t>
            </a:r>
            <a:endParaRPr sz="3200">
              <a:solidFill>
                <a:schemeClr val="dk1"/>
              </a:solidFill>
              <a:latin typeface="Calibri"/>
              <a:ea typeface="Calibri"/>
              <a:cs typeface="Calibri"/>
            </a:endParaRPr>
          </a:p>
        </p:txBody>
      </p:sp>
      <p:sp>
        <p:nvSpPr>
          <p:cNvPr id="32" name="Google Shape;32;p2">
            <a:extLst xmlns:a="http://schemas.openxmlformats.org/drawingml/2006/main">
              <a:ext uri="{FF2B5EF4-FFF2-40B4-BE49-F238E27FC236}">
                <a16:creationId xmlns:a16="http://schemas.microsoft.com/office/drawing/2014/main" id="{3348C992-0E2E-499A-B257-9C8B6EE99519}"/>
              </a:ext>
            </a:extLst>
          </p:cNvPr>
          <p:cNvSpPr>
            <a:spLocks xmlns:a="http://schemas.openxmlformats.org/drawingml/2006/main" noGrp="1"/>
          </p:cNvSpPr>
          <p:nvPr/>
        </p:nvSpPr>
        <p:spPr>
          <a:xfrm xmlns:a="http://schemas.openxmlformats.org/drawingml/2006/main">
            <a:off x="8193024" y="2627071"/>
            <a:ext cx="3337560" cy="48280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64748B"/>
              </a:buClr>
              <a:buSzPts val="1250"/>
              <a:buFont typeface="Calibri"/>
              <a:buNone/>
            </a:pPr>
            <a:r>
              <a:rPr sz="1250">
                <a:solidFill>
                  <a:srgbClr val="64748B"/>
                </a:solidFill>
                <a:latin typeface="Calibri"/>
                <a:ea typeface="Calibri"/>
                <a:cs typeface="Calibri"/>
              </a:rPr>
              <a:t>Məlumatı olan / təqvim günü</a:t>
            </a:r>
            <a:endParaRPr sz="1250">
              <a:solidFill>
                <a:schemeClr val="dk1"/>
              </a:solidFill>
              <a:latin typeface="Calibri"/>
              <a:ea typeface="Calibri"/>
              <a:cs typeface="Calibri"/>
            </a:endParaRPr>
          </a:p>
        </p:txBody>
      </p:sp>
      <p:sp>
        <p:nvSpPr>
          <p:cNvPr id="33" name="Google Shape;33;p2">
            <a:extLst xmlns:a="http://schemas.openxmlformats.org/drawingml/2006/main">
              <a:ext uri="{FF2B5EF4-FFF2-40B4-BE49-F238E27FC236}">
                <a16:creationId xmlns:a16="http://schemas.microsoft.com/office/drawing/2014/main" id="{761AFEDC-C4CD-4627-BFA2-495020BF4E2F}"/>
              </a:ext>
            </a:extLst>
          </p:cNvPr>
          <p:cNvSpPr>
            <a:spLocks xmlns:a="http://schemas.openxmlformats.org/drawingml/2006/main" noGrp="1"/>
          </p:cNvSpPr>
          <p:nvPr/>
        </p:nvSpPr>
        <p:spPr>
          <a:xfrm xmlns:a="http://schemas.openxmlformats.org/drawingml/2006/main">
            <a:off x="566928" y="3520440"/>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93B"/>
              </a:buClr>
              <a:buSzPts val="1600"/>
              <a:buFont typeface="Trebuchet MS"/>
              <a:buNone/>
            </a:pPr>
            <a:r>
              <a:rPr sz="1600" b="1">
                <a:solidFill>
                  <a:srgbClr val="1E293B"/>
                </a:solidFill>
                <a:latin typeface="Trebuchet MS"/>
                <a:ea typeface="Trebuchet MS"/>
                <a:cs typeface="Trebuchet MS"/>
              </a:rPr>
              <a:t>Dövr: 19 aprel – 31 may 2024</a:t>
            </a:r>
            <a:endParaRPr sz="1600">
              <a:solidFill>
                <a:schemeClr val="dk1"/>
              </a:solidFill>
              <a:latin typeface="Calibri"/>
              <a:ea typeface="Calibri"/>
              <a:cs typeface="Calibri"/>
            </a:endParaRPr>
          </a:p>
        </p:txBody>
      </p:sp>
      <p:sp>
        <p:nvSpPr>
          <p:cNvPr id="34" name="Google Shape;34;p2">
            <a:extLst xmlns:a="http://schemas.openxmlformats.org/drawingml/2006/main">
              <a:ext uri="{FF2B5EF4-FFF2-40B4-BE49-F238E27FC236}">
                <a16:creationId xmlns:a16="http://schemas.microsoft.com/office/drawing/2014/main" id="{D8B20515-FE80-4DCB-899A-4AD42FBCAA5F}"/>
              </a:ext>
            </a:extLst>
          </p:cNvPr>
          <p:cNvSpPr>
            <a:spLocks xmlns:a="http://schemas.openxmlformats.org/drawingml/2006/main" noGrp="1"/>
          </p:cNvSpPr>
          <p:nvPr/>
        </p:nvSpPr>
        <p:spPr>
          <a:xfrm xmlns:a="http://schemas.openxmlformats.org/drawingml/2006/main">
            <a:off x="566928" y="4069080"/>
            <a:ext cx="109728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64748B"/>
              </a:buClr>
              <a:buSzPts val="1500"/>
              <a:buFont typeface="Calibri"/>
              <a:buNone/>
            </a:pPr>
            <a:r>
              <a:rPr sz="1500">
                <a:solidFill>
                  <a:srgbClr val="64748B"/>
                </a:solidFill>
                <a:latin typeface="Calibri"/>
                <a:ea typeface="Calibri"/>
                <a:cs typeface="Calibri"/>
              </a:rPr>
              <a:t>Təhlilin dörd bölməsi</a:t>
            </a:r>
            <a:endParaRPr sz="1500">
              <a:solidFill>
                <a:schemeClr val="dk1"/>
              </a:solidFill>
              <a:latin typeface="Calibri"/>
              <a:ea typeface="Calibri"/>
              <a:cs typeface="Calibri"/>
            </a:endParaRPr>
          </a:p>
        </p:txBody>
      </p:sp>
      <p:sp>
        <p:nvSpPr>
          <p:cNvPr id="35" name="Google Shape;35;p2">
            <a:extLst xmlns:a="http://schemas.openxmlformats.org/drawingml/2006/main">
              <a:ext uri="{FF2B5EF4-FFF2-40B4-BE49-F238E27FC236}">
                <a16:creationId xmlns:a16="http://schemas.microsoft.com/office/drawing/2014/main" id="{FDF50E6F-3F20-4BAC-890E-D663A4657592}"/>
              </a:ext>
            </a:extLst>
          </p:cNvPr>
          <p:cNvSpPr>
            <a:spLocks xmlns:a="http://schemas.openxmlformats.org/drawingml/2006/main" noGrp="1"/>
          </p:cNvSpPr>
          <p:nvPr/>
        </p:nvSpPr>
        <p:spPr>
          <a:xfrm xmlns:a="http://schemas.openxmlformats.org/drawingml/2006/main">
            <a:off x="566928" y="4572000"/>
            <a:ext cx="2606040" cy="105156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6" name="Google Shape;36;p2">
            <a:extLst xmlns:a="http://schemas.openxmlformats.org/drawingml/2006/main">
              <a:ext uri="{FF2B5EF4-FFF2-40B4-BE49-F238E27FC236}">
                <a16:creationId xmlns:a16="http://schemas.microsoft.com/office/drawing/2014/main" id="{7A0BC267-2364-49D4-A3F5-641CC0719EF8}"/>
              </a:ext>
            </a:extLst>
          </p:cNvPr>
          <p:cNvSpPr>
            <a:spLocks xmlns:a="http://schemas.openxmlformats.org/drawingml/2006/main" noGrp="1"/>
          </p:cNvSpPr>
          <p:nvPr/>
        </p:nvSpPr>
        <p:spPr>
          <a:xfrm xmlns:a="http://schemas.openxmlformats.org/drawingml/2006/main">
            <a:off x="795528" y="4864608"/>
            <a:ext cx="457200" cy="457200"/>
          </a:xfrm>
          <a:prstGeom xmlns:a="http://schemas.openxmlformats.org/drawingml/2006/main" prst="ellipse">
            <a:avLst/>
          </a:prstGeom>
          <a:solidFill xmlns:a="http://schemas.openxmlformats.org/drawingml/2006/main">
            <a:srgbClr val="185FA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2">
            <a:extLst xmlns:a="http://schemas.openxmlformats.org/drawingml/2006/main">
              <a:ext uri="{FF2B5EF4-FFF2-40B4-BE49-F238E27FC236}">
                <a16:creationId xmlns:a16="http://schemas.microsoft.com/office/drawing/2014/main" id="{A895A58B-E87B-4CF3-959C-6A5D2AE040F2}"/>
              </a:ext>
            </a:extLst>
          </p:cNvPr>
          <p:cNvSpPr>
            <a:spLocks xmlns:a="http://schemas.openxmlformats.org/drawingml/2006/main" noGrp="1"/>
          </p:cNvSpPr>
          <p:nvPr/>
        </p:nvSpPr>
        <p:spPr>
          <a:xfrm xmlns:a="http://schemas.openxmlformats.org/drawingml/2006/main">
            <a:off x="795528" y="486460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600"/>
              <a:buFont typeface="Trebuchet MS"/>
              <a:buNone/>
            </a:pPr>
            <a:r>
              <a:rPr sz="1600" b="1">
                <a:solidFill>
                  <a:srgbClr val="FFFFFF"/>
                </a:solidFill>
                <a:latin typeface="Trebuchet MS"/>
                <a:ea typeface="Trebuchet MS"/>
                <a:cs typeface="Trebuchet MS"/>
              </a:rPr>
              <a:t>1</a:t>
            </a:r>
            <a:endParaRPr sz="1600">
              <a:solidFill>
                <a:schemeClr val="dk1"/>
              </a:solidFill>
              <a:latin typeface="Calibri"/>
              <a:ea typeface="Calibri"/>
              <a:cs typeface="Calibri"/>
            </a:endParaRPr>
          </a:p>
        </p:txBody>
      </p:sp>
      <p:sp>
        <p:nvSpPr>
          <p:cNvPr id="38" name="Google Shape;38;p2">
            <a:extLst xmlns:a="http://schemas.openxmlformats.org/drawingml/2006/main">
              <a:ext uri="{FF2B5EF4-FFF2-40B4-BE49-F238E27FC236}">
                <a16:creationId xmlns:a16="http://schemas.microsoft.com/office/drawing/2014/main" id="{E174446A-EDF8-464F-813B-7CB48D5DA59B}"/>
              </a:ext>
            </a:extLst>
          </p:cNvPr>
          <p:cNvSpPr>
            <a:spLocks xmlns:a="http://schemas.openxmlformats.org/drawingml/2006/main" noGrp="1"/>
          </p:cNvSpPr>
          <p:nvPr/>
        </p:nvSpPr>
        <p:spPr>
          <a:xfrm xmlns:a="http://schemas.openxmlformats.org/drawingml/2006/main">
            <a:off x="1389888" y="4864608"/>
            <a:ext cx="1691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93B"/>
              </a:buClr>
              <a:buSzPts val="1450"/>
              <a:buFont typeface="Trebuchet MS"/>
              <a:buNone/>
            </a:pPr>
            <a:r>
              <a:rPr sz="1450" b="1">
                <a:solidFill>
                  <a:srgbClr val="1E293B"/>
                </a:solidFill>
                <a:latin typeface="Trebuchet MS"/>
                <a:ea typeface="Trebuchet MS"/>
                <a:cs typeface="Trebuchet MS"/>
              </a:rPr>
              <a:t>Deskriptiv təhlil</a:t>
            </a:r>
            <a:endParaRPr sz="1450">
              <a:solidFill>
                <a:schemeClr val="dk1"/>
              </a:solidFill>
              <a:latin typeface="Calibri"/>
              <a:ea typeface="Calibri"/>
              <a:cs typeface="Calibri"/>
            </a:endParaRPr>
          </a:p>
        </p:txBody>
      </p:sp>
      <p:sp>
        <p:nvSpPr>
          <p:cNvPr id="39" name="Google Shape;39;p2">
            <a:extLst xmlns:a="http://schemas.openxmlformats.org/drawingml/2006/main">
              <a:ext uri="{FF2B5EF4-FFF2-40B4-BE49-F238E27FC236}">
                <a16:creationId xmlns:a16="http://schemas.microsoft.com/office/drawing/2014/main" id="{AE3230B2-410B-4D1C-9B41-D83AE40E7EC4}"/>
              </a:ext>
            </a:extLst>
          </p:cNvPr>
          <p:cNvSpPr>
            <a:spLocks xmlns:a="http://schemas.openxmlformats.org/drawingml/2006/main" noGrp="1"/>
          </p:cNvSpPr>
          <p:nvPr/>
        </p:nvSpPr>
        <p:spPr>
          <a:xfrm xmlns:a="http://schemas.openxmlformats.org/drawingml/2006/main">
            <a:off x="3374136" y="4572000"/>
            <a:ext cx="2606040" cy="105156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0" name="Google Shape;40;p2">
            <a:extLst xmlns:a="http://schemas.openxmlformats.org/drawingml/2006/main">
              <a:ext uri="{FF2B5EF4-FFF2-40B4-BE49-F238E27FC236}">
                <a16:creationId xmlns:a16="http://schemas.microsoft.com/office/drawing/2014/main" id="{F867045E-87CC-4E1C-ACCB-B8363AA79D75}"/>
              </a:ext>
            </a:extLst>
          </p:cNvPr>
          <p:cNvSpPr>
            <a:spLocks xmlns:a="http://schemas.openxmlformats.org/drawingml/2006/main" noGrp="1"/>
          </p:cNvSpPr>
          <p:nvPr/>
        </p:nvSpPr>
        <p:spPr>
          <a:xfrm xmlns:a="http://schemas.openxmlformats.org/drawingml/2006/main">
            <a:off x="3602736" y="4864608"/>
            <a:ext cx="457200" cy="457200"/>
          </a:xfrm>
          <a:prstGeom xmlns:a="http://schemas.openxmlformats.org/drawingml/2006/main" prst="ellipse">
            <a:avLst/>
          </a:prstGeom>
          <a:solidFill xmlns:a="http://schemas.openxmlformats.org/drawingml/2006/main">
            <a:srgbClr val="C0392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1" name="Google Shape;41;p2">
            <a:extLst xmlns:a="http://schemas.openxmlformats.org/drawingml/2006/main">
              <a:ext uri="{FF2B5EF4-FFF2-40B4-BE49-F238E27FC236}">
                <a16:creationId xmlns:a16="http://schemas.microsoft.com/office/drawing/2014/main" id="{61123195-ADF3-4383-9816-4FB5E87BF3BC}"/>
              </a:ext>
            </a:extLst>
          </p:cNvPr>
          <p:cNvSpPr>
            <a:spLocks xmlns:a="http://schemas.openxmlformats.org/drawingml/2006/main" noGrp="1"/>
          </p:cNvSpPr>
          <p:nvPr/>
        </p:nvSpPr>
        <p:spPr>
          <a:xfrm xmlns:a="http://schemas.openxmlformats.org/drawingml/2006/main">
            <a:off x="3602736" y="486460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600"/>
              <a:buFont typeface="Trebuchet MS"/>
              <a:buNone/>
            </a:pPr>
            <a:r>
              <a:rPr sz="1600" b="1">
                <a:solidFill>
                  <a:srgbClr val="FFFFFF"/>
                </a:solidFill>
                <a:latin typeface="Trebuchet MS"/>
                <a:ea typeface="Trebuchet MS"/>
                <a:cs typeface="Trebuchet MS"/>
              </a:rPr>
              <a:t>2</a:t>
            </a:r>
            <a:endParaRPr sz="1600">
              <a:solidFill>
                <a:schemeClr val="dk1"/>
              </a:solidFill>
              <a:latin typeface="Calibri"/>
              <a:ea typeface="Calibri"/>
              <a:cs typeface="Calibri"/>
            </a:endParaRPr>
          </a:p>
        </p:txBody>
      </p:sp>
      <p:sp>
        <p:nvSpPr>
          <p:cNvPr id="42" name="Google Shape;42;p2">
            <a:extLst xmlns:a="http://schemas.openxmlformats.org/drawingml/2006/main">
              <a:ext uri="{FF2B5EF4-FFF2-40B4-BE49-F238E27FC236}">
                <a16:creationId xmlns:a16="http://schemas.microsoft.com/office/drawing/2014/main" id="{471F6CC8-CAF6-47CC-80EF-8C11D2C985D9}"/>
              </a:ext>
            </a:extLst>
          </p:cNvPr>
          <p:cNvSpPr>
            <a:spLocks xmlns:a="http://schemas.openxmlformats.org/drawingml/2006/main" noGrp="1"/>
          </p:cNvSpPr>
          <p:nvPr/>
        </p:nvSpPr>
        <p:spPr>
          <a:xfrm xmlns:a="http://schemas.openxmlformats.org/drawingml/2006/main">
            <a:off x="4197096" y="4864608"/>
            <a:ext cx="1691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93B"/>
              </a:buClr>
              <a:buSzPts val="1450"/>
              <a:buFont typeface="Trebuchet MS"/>
              <a:buNone/>
            </a:pPr>
            <a:r>
              <a:rPr sz="1450" b="1">
                <a:solidFill>
                  <a:srgbClr val="1E293B"/>
                </a:solidFill>
                <a:latin typeface="Trebuchet MS"/>
                <a:ea typeface="Trebuchet MS"/>
                <a:cs typeface="Trebuchet MS"/>
              </a:rPr>
              <a:t>Anomaliyalar</a:t>
            </a:r>
            <a:endParaRPr sz="1450">
              <a:solidFill>
                <a:schemeClr val="dk1"/>
              </a:solidFill>
              <a:latin typeface="Calibri"/>
              <a:ea typeface="Calibri"/>
              <a:cs typeface="Calibri"/>
            </a:endParaRPr>
          </a:p>
        </p:txBody>
      </p:sp>
      <p:sp>
        <p:nvSpPr>
          <p:cNvPr id="43" name="Google Shape;43;p2">
            <a:extLst xmlns:a="http://schemas.openxmlformats.org/drawingml/2006/main">
              <a:ext uri="{FF2B5EF4-FFF2-40B4-BE49-F238E27FC236}">
                <a16:creationId xmlns:a16="http://schemas.microsoft.com/office/drawing/2014/main" id="{F0C4DAE3-B5EC-4B6F-BB6A-7F9851886EA5}"/>
              </a:ext>
            </a:extLst>
          </p:cNvPr>
          <p:cNvSpPr>
            <a:spLocks xmlns:a="http://schemas.openxmlformats.org/drawingml/2006/main" noGrp="1"/>
          </p:cNvSpPr>
          <p:nvPr/>
        </p:nvSpPr>
        <p:spPr>
          <a:xfrm xmlns:a="http://schemas.openxmlformats.org/drawingml/2006/main">
            <a:off x="6181344" y="4572000"/>
            <a:ext cx="2606040" cy="105156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4" name="Google Shape;44;p2">
            <a:extLst xmlns:a="http://schemas.openxmlformats.org/drawingml/2006/main">
              <a:ext uri="{FF2B5EF4-FFF2-40B4-BE49-F238E27FC236}">
                <a16:creationId xmlns:a16="http://schemas.microsoft.com/office/drawing/2014/main" id="{1CDA703B-83DF-450C-83D6-67B315A2EA08}"/>
              </a:ext>
            </a:extLst>
          </p:cNvPr>
          <p:cNvSpPr>
            <a:spLocks xmlns:a="http://schemas.openxmlformats.org/drawingml/2006/main" noGrp="1"/>
          </p:cNvSpPr>
          <p:nvPr/>
        </p:nvSpPr>
        <p:spPr>
          <a:xfrm xmlns:a="http://schemas.openxmlformats.org/drawingml/2006/main">
            <a:off x="6409944" y="4864608"/>
            <a:ext cx="457200" cy="457200"/>
          </a:xfrm>
          <a:prstGeom xmlns:a="http://schemas.openxmlformats.org/drawingml/2006/main" prst="ellipse">
            <a:avLst/>
          </a:prstGeom>
          <a:solidFill xmlns:a="http://schemas.openxmlformats.org/drawingml/2006/main">
            <a:srgbClr val="1D9E7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2">
            <a:extLst xmlns:a="http://schemas.openxmlformats.org/drawingml/2006/main">
              <a:ext uri="{FF2B5EF4-FFF2-40B4-BE49-F238E27FC236}">
                <a16:creationId xmlns:a16="http://schemas.microsoft.com/office/drawing/2014/main" id="{CA65507B-5353-4218-A711-2ADDD91D6CF4}"/>
              </a:ext>
            </a:extLst>
          </p:cNvPr>
          <p:cNvSpPr>
            <a:spLocks xmlns:a="http://schemas.openxmlformats.org/drawingml/2006/main" noGrp="1"/>
          </p:cNvSpPr>
          <p:nvPr/>
        </p:nvSpPr>
        <p:spPr>
          <a:xfrm xmlns:a="http://schemas.openxmlformats.org/drawingml/2006/main">
            <a:off x="6409944" y="486460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600"/>
              <a:buFont typeface="Trebuchet MS"/>
              <a:buNone/>
            </a:pPr>
            <a:r>
              <a:rPr sz="1600" b="1">
                <a:solidFill>
                  <a:srgbClr val="FFFFFF"/>
                </a:solidFill>
                <a:latin typeface="Trebuchet MS"/>
                <a:ea typeface="Trebuchet MS"/>
                <a:cs typeface="Trebuchet MS"/>
              </a:rPr>
              <a:t>3</a:t>
            </a:r>
            <a:endParaRPr sz="1600">
              <a:solidFill>
                <a:schemeClr val="dk1"/>
              </a:solidFill>
              <a:latin typeface="Calibri"/>
              <a:ea typeface="Calibri"/>
              <a:cs typeface="Calibri"/>
            </a:endParaRPr>
          </a:p>
        </p:txBody>
      </p:sp>
      <p:sp>
        <p:nvSpPr>
          <p:cNvPr id="46" name="Google Shape;46;p2">
            <a:extLst xmlns:a="http://schemas.openxmlformats.org/drawingml/2006/main">
              <a:ext uri="{FF2B5EF4-FFF2-40B4-BE49-F238E27FC236}">
                <a16:creationId xmlns:a16="http://schemas.microsoft.com/office/drawing/2014/main" id="{FEAC0ADC-D776-4344-B295-439CD5E1E467}"/>
              </a:ext>
            </a:extLst>
          </p:cNvPr>
          <p:cNvSpPr>
            <a:spLocks xmlns:a="http://schemas.openxmlformats.org/drawingml/2006/main" noGrp="1"/>
          </p:cNvSpPr>
          <p:nvPr/>
        </p:nvSpPr>
        <p:spPr>
          <a:xfrm xmlns:a="http://schemas.openxmlformats.org/drawingml/2006/main">
            <a:off x="7004304" y="4864608"/>
            <a:ext cx="1691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65" b="1">
                <a:solidFill>
                  <a:srgbClr val="1E293B"/>
                </a:solidFill>
                <a:latin typeface="Calibri"/>
                <a:ea typeface="Calibri"/>
                <a:cs typeface="Calibri"/>
              </a:defRPr>
            </a:defPPr>
            <a:lvl1pPr>
              <a:defRPr sz="1365" b="1">
                <a:solidFill>
                  <a:srgbClr val="1E293B"/>
                </a:solidFill>
                <a:latin typeface="Calibri"/>
                <a:ea typeface="Calibri"/>
                <a:cs typeface="Calibri"/>
              </a:defRPr>
            </a:lvl1pPr>
            <a:lvl2pPr>
              <a:defRPr sz="1365" b="1">
                <a:solidFill>
                  <a:srgbClr val="1E293B"/>
                </a:solidFill>
                <a:latin typeface="Calibri"/>
                <a:ea typeface="Calibri"/>
                <a:cs typeface="Calibri"/>
              </a:defRPr>
            </a:lvl2pPr>
            <a:lvl3pPr>
              <a:defRPr sz="1365" b="1">
                <a:solidFill>
                  <a:srgbClr val="1E293B"/>
                </a:solidFill>
                <a:latin typeface="Calibri"/>
                <a:ea typeface="Calibri"/>
                <a:cs typeface="Calibri"/>
              </a:defRPr>
            </a:lvl3pPr>
            <a:lvl4pPr>
              <a:defRPr sz="1365" b="1">
                <a:solidFill>
                  <a:srgbClr val="1E293B"/>
                </a:solidFill>
                <a:latin typeface="Calibri"/>
                <a:ea typeface="Calibri"/>
                <a:cs typeface="Calibri"/>
              </a:defRPr>
            </a:lvl4pPr>
            <a:lvl5pPr>
              <a:defRPr sz="1365" b="1">
                <a:solidFill>
                  <a:srgbClr val="1E293B"/>
                </a:solidFill>
                <a:latin typeface="Calibri"/>
                <a:ea typeface="Calibri"/>
                <a:cs typeface="Calibri"/>
              </a:defRPr>
            </a:lvl5pPr>
            <a:lvl6pPr>
              <a:defRPr sz="1365" b="1">
                <a:solidFill>
                  <a:srgbClr val="1E293B"/>
                </a:solidFill>
                <a:latin typeface="Calibri"/>
                <a:ea typeface="Calibri"/>
                <a:cs typeface="Calibri"/>
              </a:defRPr>
            </a:lvl6pPr>
            <a:lvl7pPr>
              <a:defRPr sz="1365" b="1">
                <a:solidFill>
                  <a:srgbClr val="1E293B"/>
                </a:solidFill>
                <a:latin typeface="Calibri"/>
                <a:ea typeface="Calibri"/>
                <a:cs typeface="Calibri"/>
              </a:defRPr>
            </a:lvl7pPr>
            <a:lvl8pPr>
              <a:defRPr sz="1365" b="1">
                <a:solidFill>
                  <a:srgbClr val="1E293B"/>
                </a:solidFill>
                <a:latin typeface="Calibri"/>
                <a:ea typeface="Calibri"/>
                <a:cs typeface="Calibri"/>
              </a:defRPr>
            </a:lvl8pPr>
            <a:lvl9pPr>
              <a:defRPr sz="1365" b="1">
                <a:solidFill>
                  <a:srgbClr val="1E293B"/>
                </a:solidFill>
                <a:latin typeface="Calibri"/>
                <a:ea typeface="Calibri"/>
                <a:cs typeface="Calibri"/>
              </a:defRPr>
            </a:lvl9pPr>
          </a:lstStyle>
          <a:p xmlns:a="http://schemas.openxmlformats.org/drawingml/2006/main">
            <a:pPr marL="0" marR="0" lvl="0" indent="0" algn="l">
              <a:spcBef>
                <a:spcPts val="0"/>
              </a:spcBef>
              <a:spcAft>
                <a:spcPts val="0"/>
              </a:spcAft>
              <a:buClr>
                <a:srgbClr val="1E293B"/>
              </a:buClr>
              <a:buSzPts val="1450"/>
              <a:buFont typeface="Trebuchet MS"/>
              <a:buNone/>
              <a:defRPr sz="1365" b="1">
                <a:solidFill>
                  <a:srgbClr val="1E293B"/>
                </a:solidFill>
                <a:latin typeface="Calibri"/>
                <a:ea typeface="Calibri"/>
                <a:cs typeface="Calibri"/>
              </a:defRPr>
            </a:pPr>
            <a:r>
              <a:rPr sz="1365" b="1">
                <a:solidFill>
                  <a:srgbClr val="1E293B"/>
                </a:solidFill>
                <a:latin typeface="Calibri"/>
                <a:ea typeface="Calibri"/>
                <a:cs typeface="Calibri"/>
              </a:rPr>
              <a:t>Proqnoz və fərziyyələr</a:t>
            </a:r>
            <a:endParaRPr sz="1450">
              <a:solidFill>
                <a:schemeClr val="dk1"/>
              </a:solidFill>
              <a:latin typeface="Calibri"/>
              <a:ea typeface="Calibri"/>
              <a:cs typeface="Calibri"/>
            </a:endParaRPr>
          </a:p>
        </p:txBody>
      </p:sp>
      <p:sp>
        <p:nvSpPr>
          <p:cNvPr id="47" name="Google Shape;47;p2">
            <a:extLst xmlns:a="http://schemas.openxmlformats.org/drawingml/2006/main">
              <a:ext uri="{FF2B5EF4-FFF2-40B4-BE49-F238E27FC236}">
                <a16:creationId xmlns:a16="http://schemas.microsoft.com/office/drawing/2014/main" id="{84BF2095-0EC7-474E-8560-7EAE14FAB895}"/>
              </a:ext>
            </a:extLst>
          </p:cNvPr>
          <p:cNvSpPr>
            <a:spLocks xmlns:a="http://schemas.openxmlformats.org/drawingml/2006/main" noGrp="1"/>
          </p:cNvSpPr>
          <p:nvPr/>
        </p:nvSpPr>
        <p:spPr>
          <a:xfrm xmlns:a="http://schemas.openxmlformats.org/drawingml/2006/main">
            <a:off x="8988552" y="4572000"/>
            <a:ext cx="2606040" cy="105156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8" name="Google Shape;48;p2">
            <a:extLst xmlns:a="http://schemas.openxmlformats.org/drawingml/2006/main">
              <a:ext uri="{FF2B5EF4-FFF2-40B4-BE49-F238E27FC236}">
                <a16:creationId xmlns:a16="http://schemas.microsoft.com/office/drawing/2014/main" id="{36A8BCC9-6416-4D5A-AA03-BBA7D49374C3}"/>
              </a:ext>
            </a:extLst>
          </p:cNvPr>
          <p:cNvSpPr>
            <a:spLocks xmlns:a="http://schemas.openxmlformats.org/drawingml/2006/main" noGrp="1"/>
          </p:cNvSpPr>
          <p:nvPr/>
        </p:nvSpPr>
        <p:spPr>
          <a:xfrm xmlns:a="http://schemas.openxmlformats.org/drawingml/2006/main">
            <a:off x="9217152" y="4864608"/>
            <a:ext cx="457200" cy="457200"/>
          </a:xfrm>
          <a:prstGeom xmlns:a="http://schemas.openxmlformats.org/drawingml/2006/main" prst="ellipse">
            <a:avLst/>
          </a:prstGeom>
          <a:solidFill xmlns:a="http://schemas.openxmlformats.org/drawingml/2006/main">
            <a:srgbClr val="143C63"/>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2">
            <a:extLst xmlns:a="http://schemas.openxmlformats.org/drawingml/2006/main">
              <a:ext uri="{FF2B5EF4-FFF2-40B4-BE49-F238E27FC236}">
                <a16:creationId xmlns:a16="http://schemas.microsoft.com/office/drawing/2014/main" id="{CE333BD1-982E-4587-A31F-87AE28640E84}"/>
              </a:ext>
            </a:extLst>
          </p:cNvPr>
          <p:cNvSpPr>
            <a:spLocks xmlns:a="http://schemas.openxmlformats.org/drawingml/2006/main" noGrp="1"/>
          </p:cNvSpPr>
          <p:nvPr/>
        </p:nvSpPr>
        <p:spPr>
          <a:xfrm xmlns:a="http://schemas.openxmlformats.org/drawingml/2006/main">
            <a:off x="9217152" y="4864608"/>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600"/>
              <a:buFont typeface="Trebuchet MS"/>
              <a:buNone/>
            </a:pPr>
            <a:r>
              <a:rPr sz="1600" b="1">
                <a:solidFill>
                  <a:srgbClr val="FFFFFF"/>
                </a:solidFill>
                <a:latin typeface="Trebuchet MS"/>
                <a:ea typeface="Trebuchet MS"/>
                <a:cs typeface="Trebuchet MS"/>
              </a:rPr>
              <a:t>4</a:t>
            </a:r>
            <a:endParaRPr sz="1600">
              <a:solidFill>
                <a:schemeClr val="dk1"/>
              </a:solidFill>
              <a:latin typeface="Calibri"/>
              <a:ea typeface="Calibri"/>
              <a:cs typeface="Calibri"/>
            </a:endParaRPr>
          </a:p>
        </p:txBody>
      </p:sp>
      <p:sp>
        <p:nvSpPr>
          <p:cNvPr id="50" name="Google Shape;50;p2">
            <a:extLst xmlns:a="http://schemas.openxmlformats.org/drawingml/2006/main">
              <a:ext uri="{FF2B5EF4-FFF2-40B4-BE49-F238E27FC236}">
                <a16:creationId xmlns:a16="http://schemas.microsoft.com/office/drawing/2014/main" id="{5E253270-4289-45A1-A416-9A3D0A2E7FC7}"/>
              </a:ext>
            </a:extLst>
          </p:cNvPr>
          <p:cNvSpPr>
            <a:spLocks xmlns:a="http://schemas.openxmlformats.org/drawingml/2006/main" noGrp="1"/>
          </p:cNvSpPr>
          <p:nvPr/>
        </p:nvSpPr>
        <p:spPr>
          <a:xfrm xmlns:a="http://schemas.openxmlformats.org/drawingml/2006/main">
            <a:off x="9811512" y="4864608"/>
            <a:ext cx="1691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93B"/>
              </a:buClr>
              <a:buSzPts val="1450"/>
              <a:buFont typeface="Trebuchet MS"/>
              <a:buNone/>
            </a:pPr>
            <a:r>
              <a:rPr sz="1450" b="1">
                <a:solidFill>
                  <a:srgbClr val="1E293B"/>
                </a:solidFill>
                <a:latin typeface="Trebuchet MS"/>
                <a:ea typeface="Trebuchet MS"/>
                <a:cs typeface="Trebuchet MS"/>
              </a:rPr>
              <a:t>Xülasə</a:t>
            </a:r>
            <a:endParaRPr sz="1450">
              <a:solidFill>
                <a:schemeClr val="dk1"/>
              </a:solidFill>
              <a:latin typeface="Calibri"/>
              <a:ea typeface="Calibri"/>
              <a:cs typeface="Calibri"/>
            </a:endParaRPr>
          </a:p>
        </p:txBody>
      </p:sp>
      <p:sp>
        <p:nvSpPr>
          <p:cNvPr id="51" name="Analiz vahidi məhsul sətiridir. rec_id hər sətirdə unik">
            <a:extLst xmlns:a="http://schemas.openxmlformats.org/drawingml/2006/main">
              <a:ext uri="{FF2B5EF4-FFF2-40B4-BE49-F238E27FC236}">
                <a16:creationId xmlns:a16="http://schemas.microsoft.com/office/drawing/2014/main" id="{36E52E78-3396-43DA-A1EF-E297757A07F1}"/>
              </a:ext>
            </a:extLst>
          </p:cNvPr>
          <p:cNvSpPr>
            <a:spLocks xmlns:a="http://schemas.openxmlformats.org/drawingml/2006/main" noGrp="1"/>
          </p:cNvSpPr>
          <p:nvPr/>
        </p:nvSpPr>
        <p:spPr>
          <a:xfrm xmlns:a="http://schemas.openxmlformats.org/drawingml/2006/main">
            <a:off x="571500" y="61436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4748B"/>
                </a:solidFill>
                <a:latin typeface="Calibri"/>
                <a:ea typeface="Calibri"/>
                <a:cs typeface="Calibri"/>
              </a:defRPr>
            </a:defPPr>
            <a:lvl1pPr algn="l">
              <a:defRPr sz="1500" b="0">
                <a:solidFill>
                  <a:srgbClr val="64748B"/>
                </a:solidFill>
                <a:latin typeface="Calibri"/>
                <a:ea typeface="Calibri"/>
                <a:cs typeface="Calibri"/>
              </a:defRPr>
            </a:lvl1pPr>
            <a:lvl2pPr algn="l">
              <a:defRPr sz="1500" b="0">
                <a:solidFill>
                  <a:srgbClr val="64748B"/>
                </a:solidFill>
                <a:latin typeface="Calibri"/>
                <a:ea typeface="Calibri"/>
                <a:cs typeface="Calibri"/>
              </a:defRPr>
            </a:lvl2pPr>
            <a:lvl3pPr algn="l">
              <a:defRPr sz="1500" b="0">
                <a:solidFill>
                  <a:srgbClr val="64748B"/>
                </a:solidFill>
                <a:latin typeface="Calibri"/>
                <a:ea typeface="Calibri"/>
                <a:cs typeface="Calibri"/>
              </a:defRPr>
            </a:lvl3pPr>
            <a:lvl4pPr algn="l">
              <a:defRPr sz="1500" b="0">
                <a:solidFill>
                  <a:srgbClr val="64748B"/>
                </a:solidFill>
                <a:latin typeface="Calibri"/>
                <a:ea typeface="Calibri"/>
                <a:cs typeface="Calibri"/>
              </a:defRPr>
            </a:lvl4pPr>
            <a:lvl5pPr algn="l">
              <a:defRPr sz="1500" b="0">
                <a:solidFill>
                  <a:srgbClr val="64748B"/>
                </a:solidFill>
                <a:latin typeface="Calibri"/>
                <a:ea typeface="Calibri"/>
                <a:cs typeface="Calibri"/>
              </a:defRPr>
            </a:lvl5pPr>
            <a:lvl6pPr algn="l">
              <a:defRPr sz="1500" b="0">
                <a:solidFill>
                  <a:srgbClr val="64748B"/>
                </a:solidFill>
                <a:latin typeface="Calibri"/>
                <a:ea typeface="Calibri"/>
                <a:cs typeface="Calibri"/>
              </a:defRPr>
            </a:lvl6pPr>
            <a:lvl7pPr algn="l">
              <a:defRPr sz="1500" b="0">
                <a:solidFill>
                  <a:srgbClr val="64748B"/>
                </a:solidFill>
                <a:latin typeface="Calibri"/>
                <a:ea typeface="Calibri"/>
                <a:cs typeface="Calibri"/>
              </a:defRPr>
            </a:lvl7pPr>
            <a:lvl8pPr algn="l">
              <a:defRPr sz="1500" b="0">
                <a:solidFill>
                  <a:srgbClr val="64748B"/>
                </a:solidFill>
                <a:latin typeface="Calibri"/>
                <a:ea typeface="Calibri"/>
                <a:cs typeface="Calibri"/>
              </a:defRPr>
            </a:lvl8pPr>
            <a:lvl9pPr algn="l">
              <a:defRPr sz="1500" b="0">
                <a:solidFill>
                  <a:srgbClr val="64748B"/>
                </a:solidFill>
                <a:latin typeface="Calibri"/>
                <a:ea typeface="Calibri"/>
                <a:cs typeface="Calibri"/>
              </a:defRPr>
            </a:lvl9pPr>
          </a:lstStyle>
          <a:p xmlns:a="http://schemas.openxmlformats.org/drawingml/2006/main">
            <a:pPr algn="l">
              <a:defRPr sz="1500" b="0">
                <a:solidFill>
                  <a:srgbClr val="64748B"/>
                </a:solidFill>
                <a:latin typeface="Calibri"/>
                <a:ea typeface="Calibri"/>
                <a:cs typeface="Calibri"/>
              </a:defRPr>
            </a:pPr>
            <a:r>
              <a:rPr sz="1500" b="0">
                <a:solidFill>
                  <a:srgbClr val="64748B"/>
                </a:solidFill>
                <a:latin typeface="Calibri"/>
                <a:ea typeface="Calibri"/>
                <a:cs typeface="Calibri"/>
              </a:rPr>
              <a:t>Analiz vahidi məhsul sətiridir. rec_id hər sətirdə unikaldır, alış səbəti təhlili mümkün deyil.</a:t>
            </a:r>
          </a:p>
        </p:txBody>
      </p:sp>
    </p:spTree>
    <p:extLst>
      <p:ext uri="{BB962C8B-B14F-4D97-AF65-F5344CB8AC3E}">
        <p14:creationId xmlns:p14="http://schemas.microsoft.com/office/powerpoint/2010/main" val="20099417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Google Shape;56;p3">
            <a:extLst xmlns:a="http://schemas.openxmlformats.org/drawingml/2006/main">
              <a:ext uri="{FF2B5EF4-FFF2-40B4-BE49-F238E27FC236}">
                <a16:creationId xmlns:a16="http://schemas.microsoft.com/office/drawing/2014/main" id="{795E7C0A-EE87-45EC-8756-36AAD49686AF}"/>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85FA5"/>
                </a:solidFill>
                <a:latin typeface="Trebuchet MS"/>
                <a:ea typeface="Trebuchet MS"/>
                <a:cs typeface="Trebuchet MS"/>
              </a:defRPr>
            </a:defPPr>
            <a:lvl1pPr>
              <a:defRPr sz="1250" b="1">
                <a:solidFill>
                  <a:srgbClr val="185FA5"/>
                </a:solidFill>
                <a:latin typeface="Trebuchet MS"/>
                <a:ea typeface="Trebuchet MS"/>
                <a:cs typeface="Trebuchet MS"/>
              </a:defRPr>
            </a:lvl1pPr>
            <a:lvl2pPr>
              <a:defRPr sz="1250" b="1">
                <a:solidFill>
                  <a:srgbClr val="185FA5"/>
                </a:solidFill>
                <a:latin typeface="Trebuchet MS"/>
                <a:ea typeface="Trebuchet MS"/>
                <a:cs typeface="Trebuchet MS"/>
              </a:defRPr>
            </a:lvl2pPr>
            <a:lvl3pPr>
              <a:defRPr sz="1250" b="1">
                <a:solidFill>
                  <a:srgbClr val="185FA5"/>
                </a:solidFill>
                <a:latin typeface="Trebuchet MS"/>
                <a:ea typeface="Trebuchet MS"/>
                <a:cs typeface="Trebuchet MS"/>
              </a:defRPr>
            </a:lvl3pPr>
            <a:lvl4pPr>
              <a:defRPr sz="1250" b="1">
                <a:solidFill>
                  <a:srgbClr val="185FA5"/>
                </a:solidFill>
                <a:latin typeface="Trebuchet MS"/>
                <a:ea typeface="Trebuchet MS"/>
                <a:cs typeface="Trebuchet MS"/>
              </a:defRPr>
            </a:lvl4pPr>
            <a:lvl5pPr>
              <a:defRPr sz="1250" b="1">
                <a:solidFill>
                  <a:srgbClr val="185FA5"/>
                </a:solidFill>
                <a:latin typeface="Trebuchet MS"/>
                <a:ea typeface="Trebuchet MS"/>
                <a:cs typeface="Trebuchet MS"/>
              </a:defRPr>
            </a:lvl5pPr>
            <a:lvl6pPr>
              <a:defRPr sz="1250" b="1">
                <a:solidFill>
                  <a:srgbClr val="185FA5"/>
                </a:solidFill>
                <a:latin typeface="Trebuchet MS"/>
                <a:ea typeface="Trebuchet MS"/>
                <a:cs typeface="Trebuchet MS"/>
              </a:defRPr>
            </a:lvl6pPr>
            <a:lvl7pPr>
              <a:defRPr sz="1250" b="1">
                <a:solidFill>
                  <a:srgbClr val="185FA5"/>
                </a:solidFill>
                <a:latin typeface="Trebuchet MS"/>
                <a:ea typeface="Trebuchet MS"/>
                <a:cs typeface="Trebuchet MS"/>
              </a:defRPr>
            </a:lvl7pPr>
            <a:lvl8pPr>
              <a:defRPr sz="1250" b="1">
                <a:solidFill>
                  <a:srgbClr val="185FA5"/>
                </a:solidFill>
                <a:latin typeface="Trebuchet MS"/>
                <a:ea typeface="Trebuchet MS"/>
                <a:cs typeface="Trebuchet MS"/>
              </a:defRPr>
            </a:lvl8pPr>
            <a:lvl9pPr>
              <a:defRPr sz="1250" b="1">
                <a:solidFill>
                  <a:srgbClr val="185FA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85FA5"/>
              </a:buClr>
              <a:buSzPts val="1250"/>
              <a:buFont typeface="Trebuchet MS"/>
              <a:buNone/>
              <a:defRPr sz="1250" b="1">
                <a:solidFill>
                  <a:srgbClr val="185FA5"/>
                </a:solidFill>
                <a:latin typeface="Trebuchet MS"/>
                <a:ea typeface="Trebuchet MS"/>
                <a:cs typeface="Trebuchet MS"/>
              </a:defRPr>
            </a:pPr>
            <a:r>
              <a:rPr sz="1250" b="1">
                <a:solidFill>
                  <a:srgbClr val="185FA5"/>
                </a:solidFill>
                <a:latin typeface="Trebuchet MS"/>
                <a:ea typeface="Trebuchet MS"/>
                <a:cs typeface="Trebuchet MS"/>
              </a:rPr>
              <a:t>1  DESKRİPTİV TƏHLİL</a:t>
            </a:r>
            <a:endParaRPr sz="1250">
              <a:solidFill>
                <a:schemeClr val="dk1"/>
              </a:solidFill>
              <a:latin typeface="Calibri"/>
              <a:ea typeface="Calibri"/>
              <a:cs typeface="Calibri"/>
            </a:endParaRPr>
          </a:p>
        </p:txBody>
      </p:sp>
      <p:sp>
        <p:nvSpPr>
          <p:cNvPr id="57" name="Google Shape;57;p3">
            <a:extLst xmlns:a="http://schemas.openxmlformats.org/drawingml/2006/main">
              <a:ext uri="{FF2B5EF4-FFF2-40B4-BE49-F238E27FC236}">
                <a16:creationId xmlns:a16="http://schemas.microsoft.com/office/drawing/2014/main" id="{4EFE9DFC-C036-4207-9C50-2030F38A3144}"/>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Təmizləmə dövriyyə ölçüsünü dəyişir</a:t>
            </a:r>
            <a:endParaRPr sz="2900">
              <a:solidFill>
                <a:schemeClr val="dk1"/>
              </a:solidFill>
              <a:latin typeface="Calibri"/>
              <a:ea typeface="Calibri"/>
              <a:cs typeface="Calibri"/>
            </a:endParaRPr>
          </a:p>
        </p:txBody>
      </p:sp>
      <p:sp>
        <p:nvSpPr>
          <p:cNvPr id="60" name="Google Shape;60;p3">
            <a:extLst xmlns:a="http://schemas.openxmlformats.org/drawingml/2006/main">
              <a:ext uri="{FF2B5EF4-FFF2-40B4-BE49-F238E27FC236}">
                <a16:creationId xmlns:a16="http://schemas.microsoft.com/office/drawing/2014/main" id="{B4C450FD-ABDC-4840-B974-34D864E6D462}"/>
              </a:ext>
            </a:extLst>
          </p:cNvPr>
          <p:cNvSpPr>
            <a:spLocks xmlns:a="http://schemas.openxmlformats.org/drawingml/2006/main" noGrp="1"/>
          </p:cNvSpPr>
          <p:nvPr/>
        </p:nvSpPr>
        <p:spPr>
          <a:xfrm xmlns:a="http://schemas.openxmlformats.org/drawingml/2006/main">
            <a:off x="566928" y="6053328"/>
            <a:ext cx="11055096" cy="566928"/>
          </a:xfrm>
          <a:prstGeom xmlns:a="http://schemas.openxmlformats.org/drawingml/2006/main" prst="rect">
            <a:avLst/>
          </a:prstGeom>
          <a:solidFill xmlns:a="http://schemas.openxmlformats.org/drawingml/2006/main">
            <a:srgbClr val="F4F7F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1" name="Google Shape;61;p3">
            <a:extLst xmlns:a="http://schemas.openxmlformats.org/drawingml/2006/main">
              <a:ext uri="{FF2B5EF4-FFF2-40B4-BE49-F238E27FC236}">
                <a16:creationId xmlns:a16="http://schemas.microsoft.com/office/drawing/2014/main" id="{B1B59FD9-CA40-4A77-A712-7F5C763FCFE4}"/>
              </a:ext>
            </a:extLst>
          </p:cNvPr>
          <p:cNvSpPr>
            <a:spLocks xmlns:a="http://schemas.openxmlformats.org/drawingml/2006/main" noGrp="1"/>
          </p:cNvSpPr>
          <p:nvPr/>
        </p:nvSpPr>
        <p:spPr>
          <a:xfrm xmlns:a="http://schemas.openxmlformats.org/drawingml/2006/main">
            <a:off x="868680" y="6053328"/>
            <a:ext cx="106070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142875" rIns="0" bIns="0" anchor="ctr">
            <a:noAutofit/>
          </a:bodyPr>
          <a:lstStyle xmlns:a="http://schemas.openxmlformats.org/drawingml/2006/main">
            <a:defPPr>
              <a:defRPr sz="1448">
                <a:solidFill>
                  <a:srgbClr val="185FA5"/>
                </a:solidFill>
                <a:latin typeface="Calibri"/>
                <a:ea typeface="Calibri"/>
                <a:cs typeface="Calibri"/>
              </a:defRPr>
            </a:defPPr>
            <a:lvl1pPr>
              <a:defRPr sz="1448">
                <a:solidFill>
                  <a:srgbClr val="185FA5"/>
                </a:solidFill>
                <a:latin typeface="Calibri"/>
                <a:ea typeface="Calibri"/>
                <a:cs typeface="Calibri"/>
              </a:defRPr>
            </a:lvl1pPr>
            <a:lvl2pPr>
              <a:defRPr sz="1448">
                <a:solidFill>
                  <a:srgbClr val="185FA5"/>
                </a:solidFill>
                <a:latin typeface="Calibri"/>
                <a:ea typeface="Calibri"/>
                <a:cs typeface="Calibri"/>
              </a:defRPr>
            </a:lvl2pPr>
            <a:lvl3pPr>
              <a:defRPr sz="1448">
                <a:solidFill>
                  <a:srgbClr val="185FA5"/>
                </a:solidFill>
                <a:latin typeface="Calibri"/>
                <a:ea typeface="Calibri"/>
                <a:cs typeface="Calibri"/>
              </a:defRPr>
            </a:lvl3pPr>
            <a:lvl4pPr>
              <a:defRPr sz="1448">
                <a:solidFill>
                  <a:srgbClr val="185FA5"/>
                </a:solidFill>
                <a:latin typeface="Calibri"/>
                <a:ea typeface="Calibri"/>
                <a:cs typeface="Calibri"/>
              </a:defRPr>
            </a:lvl4pPr>
            <a:lvl5pPr>
              <a:defRPr sz="1448">
                <a:solidFill>
                  <a:srgbClr val="185FA5"/>
                </a:solidFill>
                <a:latin typeface="Calibri"/>
                <a:ea typeface="Calibri"/>
                <a:cs typeface="Calibri"/>
              </a:defRPr>
            </a:lvl5pPr>
            <a:lvl6pPr>
              <a:defRPr sz="1448">
                <a:solidFill>
                  <a:srgbClr val="185FA5"/>
                </a:solidFill>
                <a:latin typeface="Calibri"/>
                <a:ea typeface="Calibri"/>
                <a:cs typeface="Calibri"/>
              </a:defRPr>
            </a:lvl6pPr>
            <a:lvl7pPr>
              <a:defRPr sz="1448">
                <a:solidFill>
                  <a:srgbClr val="185FA5"/>
                </a:solidFill>
                <a:latin typeface="Calibri"/>
                <a:ea typeface="Calibri"/>
                <a:cs typeface="Calibri"/>
              </a:defRPr>
            </a:lvl7pPr>
            <a:lvl8pPr>
              <a:defRPr sz="1448">
                <a:solidFill>
                  <a:srgbClr val="185FA5"/>
                </a:solidFill>
                <a:latin typeface="Calibri"/>
                <a:ea typeface="Calibri"/>
                <a:cs typeface="Calibri"/>
              </a:defRPr>
            </a:lvl8pPr>
            <a:lvl9pPr>
              <a:defRPr sz="1448">
                <a:solidFill>
                  <a:srgbClr val="185FA5"/>
                </a:solidFill>
                <a:latin typeface="Calibri"/>
                <a:ea typeface="Calibri"/>
                <a:cs typeface="Calibri"/>
              </a:defRPr>
            </a:lvl9pPr>
          </a:lstStyle>
          <a:p xmlns:a="http://schemas.openxmlformats.org/drawingml/2006/main">
            <a:pPr marL="0" marR="0" lvl="0" indent="0" algn="l">
              <a:spcBef>
                <a:spcPts val="0"/>
              </a:spcBef>
              <a:spcAft>
                <a:spcPts val="0"/>
              </a:spcAft>
              <a:buClr>
                <a:srgbClr val="185FA5"/>
              </a:buClr>
              <a:buSzPts val="1350"/>
              <a:buFont typeface="Calibri"/>
              <a:buNone/>
              <a:defRPr sz="1448">
                <a:solidFill>
                  <a:srgbClr val="185FA5"/>
                </a:solidFill>
                <a:latin typeface="Calibri"/>
                <a:ea typeface="Calibri"/>
                <a:cs typeface="Calibri"/>
              </a:defRPr>
            </a:pPr>
            <a:r>
              <a:rPr sz="1448" b="1">
                <a:solidFill>
                  <a:srgbClr val="185FA5"/>
                </a:solidFill>
                <a:latin typeface="Calibri"/>
                <a:ea typeface="Calibri"/>
                <a:cs typeface="Calibri"/>
              </a:rPr>
              <a:t>QEYD: −1 düzəlişi hesabatın fərziyyəsidir. Mənbə sistemi ilə təsdiqi vacibdir.</a:t>
            </a:r>
            <a:endParaRPr sz="1350">
              <a:solidFill>
                <a:schemeClr val="dk1"/>
              </a:solidFill>
              <a:latin typeface="Calibri"/>
              <a:ea typeface="Calibri"/>
              <a:cs typeface="Calibri"/>
            </a:endParaRPr>
          </a:p>
        </p:txBody>
      </p:sp>
      <p:sp>
        <p:nvSpPr>
          <p:cNvPr id="62" name="Məbləğlər mln AZN ilə göstərilib">
            <a:extLst xmlns:a="http://schemas.openxmlformats.org/drawingml/2006/main">
              <a:ext uri="{FF2B5EF4-FFF2-40B4-BE49-F238E27FC236}">
                <a16:creationId xmlns:a16="http://schemas.microsoft.com/office/drawing/2014/main" id="{80DD37A6-8189-44E9-B167-38880CBC8499}"/>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Məbləğlər mln AZN ilə göstərilib</a:t>
            </a:r>
          </a:p>
        </p:txBody>
      </p:sp>
      <p:graphicFrame>
        <p:nvGraphicFramePr>
          <p:cNvPr id="63" name="Chart">
            <a:extLst xmlns:a="http://schemas.openxmlformats.org/drawingml/2006/main">
              <a:ext uri="{FF2B5EF4-FFF2-40B4-BE49-F238E27FC236}">
                <a16:creationId xmlns:a16="http://schemas.microsoft.com/office/drawing/2014/main" id="{A9624BAF-01F0-44C4-86D5-EF4B7B5B6F03}"/>
              </a:ext>
            </a:extLst>
          </p:cNvPr>
          <p:cNvGraphicFramePr/>
          <p:nvPr/>
        </p:nvGraphicFramePr>
        <p:xfrm>
          <a:off xmlns:a="http://schemas.openxmlformats.org/drawingml/2006/main" x="619125" y="2000250"/>
          <a:ext xmlns:a="http://schemas.openxmlformats.org/drawingml/2006/main" cx="7048500" cy="3524250"/>
        </p:xfrm>
        <a:graphic xmlns:a="http://schemas.openxmlformats.org/drawingml/2006/main">
          <a:graphicData uri="http://schemas.openxmlformats.org/drawingml/2006/chart">
            <c:chart xmlns:r="http://schemas.openxmlformats.org/officeDocument/2006/relationships" xmlns:c="http://schemas.openxmlformats.org/drawingml/2006/chart" r:id="R72e02eb1e6b0479d"/>
          </a:graphicData>
        </a:graphic>
      </p:graphicFrame>
      <p:sp>
        <p:nvSpPr>
          <p:cNvPr id="64" name="Hesabatın düzəlişi">
            <a:extLst xmlns:a="http://schemas.openxmlformats.org/drawingml/2006/main">
              <a:ext uri="{FF2B5EF4-FFF2-40B4-BE49-F238E27FC236}">
                <a16:creationId xmlns:a16="http://schemas.microsoft.com/office/drawing/2014/main" id="{10DE3609-F01F-4F09-B256-DEF73A4C8F15}"/>
              </a:ext>
            </a:extLst>
          </p:cNvPr>
          <p:cNvSpPr>
            <a:spLocks xmlns:a="http://schemas.openxmlformats.org/drawingml/2006/main" noGrp="1"/>
          </p:cNvSpPr>
          <p:nvPr/>
        </p:nvSpPr>
        <p:spPr>
          <a:xfrm xmlns:a="http://schemas.openxmlformats.org/drawingml/2006/main">
            <a:off x="8239125" y="19526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85FA5"/>
                </a:solidFill>
                <a:latin typeface="Trebuchet MS"/>
                <a:ea typeface="Trebuchet MS"/>
                <a:cs typeface="Trebuchet MS"/>
              </a:defRPr>
            </a:defPPr>
            <a:lvl1pPr algn="l">
              <a:defRPr sz="1950" b="1">
                <a:solidFill>
                  <a:srgbClr val="185FA5"/>
                </a:solidFill>
                <a:latin typeface="Trebuchet MS"/>
                <a:ea typeface="Trebuchet MS"/>
                <a:cs typeface="Trebuchet MS"/>
              </a:defRPr>
            </a:lvl1pPr>
            <a:lvl2pPr algn="l">
              <a:defRPr sz="1950" b="1">
                <a:solidFill>
                  <a:srgbClr val="185FA5"/>
                </a:solidFill>
                <a:latin typeface="Trebuchet MS"/>
                <a:ea typeface="Trebuchet MS"/>
                <a:cs typeface="Trebuchet MS"/>
              </a:defRPr>
            </a:lvl2pPr>
            <a:lvl3pPr algn="l">
              <a:defRPr sz="1950" b="1">
                <a:solidFill>
                  <a:srgbClr val="185FA5"/>
                </a:solidFill>
                <a:latin typeface="Trebuchet MS"/>
                <a:ea typeface="Trebuchet MS"/>
                <a:cs typeface="Trebuchet MS"/>
              </a:defRPr>
            </a:lvl3pPr>
            <a:lvl4pPr algn="l">
              <a:defRPr sz="1950" b="1">
                <a:solidFill>
                  <a:srgbClr val="185FA5"/>
                </a:solidFill>
                <a:latin typeface="Trebuchet MS"/>
                <a:ea typeface="Trebuchet MS"/>
                <a:cs typeface="Trebuchet MS"/>
              </a:defRPr>
            </a:lvl4pPr>
            <a:lvl5pPr algn="l">
              <a:defRPr sz="1950" b="1">
                <a:solidFill>
                  <a:srgbClr val="185FA5"/>
                </a:solidFill>
                <a:latin typeface="Trebuchet MS"/>
                <a:ea typeface="Trebuchet MS"/>
                <a:cs typeface="Trebuchet MS"/>
              </a:defRPr>
            </a:lvl5pPr>
            <a:lvl6pPr algn="l">
              <a:defRPr sz="1950" b="1">
                <a:solidFill>
                  <a:srgbClr val="185FA5"/>
                </a:solidFill>
                <a:latin typeface="Trebuchet MS"/>
                <a:ea typeface="Trebuchet MS"/>
                <a:cs typeface="Trebuchet MS"/>
              </a:defRPr>
            </a:lvl6pPr>
            <a:lvl7pPr algn="l">
              <a:defRPr sz="1950" b="1">
                <a:solidFill>
                  <a:srgbClr val="185FA5"/>
                </a:solidFill>
                <a:latin typeface="Trebuchet MS"/>
                <a:ea typeface="Trebuchet MS"/>
                <a:cs typeface="Trebuchet MS"/>
              </a:defRPr>
            </a:lvl7pPr>
            <a:lvl8pPr algn="l">
              <a:defRPr sz="1950" b="1">
                <a:solidFill>
                  <a:srgbClr val="185FA5"/>
                </a:solidFill>
                <a:latin typeface="Trebuchet MS"/>
                <a:ea typeface="Trebuchet MS"/>
                <a:cs typeface="Trebuchet MS"/>
              </a:defRPr>
            </a:lvl8pPr>
            <a:lvl9pPr algn="l">
              <a:defRPr sz="1950" b="1">
                <a:solidFill>
                  <a:srgbClr val="185FA5"/>
                </a:solidFill>
                <a:latin typeface="Trebuchet MS"/>
                <a:ea typeface="Trebuchet MS"/>
                <a:cs typeface="Trebuchet MS"/>
              </a:defRPr>
            </a:lvl9pPr>
          </a:lstStyle>
          <a:p xmlns:a="http://schemas.openxmlformats.org/drawingml/2006/main">
            <a:pPr algn="l">
              <a:defRPr sz="1950" b="1">
                <a:solidFill>
                  <a:srgbClr val="185FA5"/>
                </a:solidFill>
                <a:latin typeface="Trebuchet MS"/>
                <a:ea typeface="Trebuchet MS"/>
                <a:cs typeface="Trebuchet MS"/>
              </a:defRPr>
            </a:pPr>
            <a:r>
              <a:rPr sz="1950" b="1">
                <a:solidFill>
                  <a:srgbClr val="185FA5"/>
                </a:solidFill>
                <a:latin typeface="Trebuchet MS"/>
                <a:ea typeface="Trebuchet MS"/>
                <a:cs typeface="Trebuchet MS"/>
              </a:rPr>
              <a:t>Hesabatın düzəlişi</a:t>
            </a:r>
          </a:p>
        </p:txBody>
      </p:sp>
      <p:sp>
        <p:nvSpPr>
          <p:cNvPr id="65" name="qnt və unit_price sütunlarının hər birindən 1 çıxılır.">
            <a:extLst xmlns:a="http://schemas.openxmlformats.org/drawingml/2006/main">
              <a:ext uri="{FF2B5EF4-FFF2-40B4-BE49-F238E27FC236}">
                <a16:creationId xmlns:a16="http://schemas.microsoft.com/office/drawing/2014/main" id="{53B0C860-6844-4914-927E-AC843EB1DFF3}"/>
              </a:ext>
            </a:extLst>
          </p:cNvPr>
          <p:cNvSpPr>
            <a:spLocks xmlns:a="http://schemas.openxmlformats.org/drawingml/2006/main" noGrp="1"/>
          </p:cNvSpPr>
          <p:nvPr/>
        </p:nvSpPr>
        <p:spPr>
          <a:xfrm xmlns:a="http://schemas.openxmlformats.org/drawingml/2006/main">
            <a:off x="8239125" y="2419350"/>
            <a:ext cx="3286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qnt və unit_price sütunlarının hər birindən 1 çıxılır.</a:t>
            </a:r>
          </a:p>
        </p:txBody>
      </p:sp>
      <p:sp>
        <p:nvSpPr>
          <p:cNvPr id="66" name="Satış bazası">
            <a:extLst xmlns:a="http://schemas.openxmlformats.org/drawingml/2006/main">
              <a:ext uri="{FF2B5EF4-FFF2-40B4-BE49-F238E27FC236}">
                <a16:creationId xmlns:a16="http://schemas.microsoft.com/office/drawing/2014/main" id="{3FD26B9F-B381-4890-93D8-0CC5645D4FA5}"/>
              </a:ext>
            </a:extLst>
          </p:cNvPr>
          <p:cNvSpPr>
            <a:spLocks xmlns:a="http://schemas.openxmlformats.org/drawingml/2006/main" noGrp="1"/>
          </p:cNvSpPr>
          <p:nvPr/>
        </p:nvSpPr>
        <p:spPr>
          <a:xfrm xmlns:a="http://schemas.openxmlformats.org/drawingml/2006/main">
            <a:off x="8239125" y="3714750"/>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D9E75"/>
                </a:solidFill>
                <a:latin typeface="Trebuchet MS"/>
                <a:ea typeface="Trebuchet MS"/>
                <a:cs typeface="Trebuchet MS"/>
              </a:defRPr>
            </a:defPPr>
            <a:lvl1pPr algn="l">
              <a:defRPr sz="1950" b="1">
                <a:solidFill>
                  <a:srgbClr val="1D9E75"/>
                </a:solidFill>
                <a:latin typeface="Trebuchet MS"/>
                <a:ea typeface="Trebuchet MS"/>
                <a:cs typeface="Trebuchet MS"/>
              </a:defRPr>
            </a:lvl1pPr>
            <a:lvl2pPr algn="l">
              <a:defRPr sz="1950" b="1">
                <a:solidFill>
                  <a:srgbClr val="1D9E75"/>
                </a:solidFill>
                <a:latin typeface="Trebuchet MS"/>
                <a:ea typeface="Trebuchet MS"/>
                <a:cs typeface="Trebuchet MS"/>
              </a:defRPr>
            </a:lvl2pPr>
            <a:lvl3pPr algn="l">
              <a:defRPr sz="1950" b="1">
                <a:solidFill>
                  <a:srgbClr val="1D9E75"/>
                </a:solidFill>
                <a:latin typeface="Trebuchet MS"/>
                <a:ea typeface="Trebuchet MS"/>
                <a:cs typeface="Trebuchet MS"/>
              </a:defRPr>
            </a:lvl3pPr>
            <a:lvl4pPr algn="l">
              <a:defRPr sz="1950" b="1">
                <a:solidFill>
                  <a:srgbClr val="1D9E75"/>
                </a:solidFill>
                <a:latin typeface="Trebuchet MS"/>
                <a:ea typeface="Trebuchet MS"/>
                <a:cs typeface="Trebuchet MS"/>
              </a:defRPr>
            </a:lvl4pPr>
            <a:lvl5pPr algn="l">
              <a:defRPr sz="1950" b="1">
                <a:solidFill>
                  <a:srgbClr val="1D9E75"/>
                </a:solidFill>
                <a:latin typeface="Trebuchet MS"/>
                <a:ea typeface="Trebuchet MS"/>
                <a:cs typeface="Trebuchet MS"/>
              </a:defRPr>
            </a:lvl5pPr>
            <a:lvl6pPr algn="l">
              <a:defRPr sz="1950" b="1">
                <a:solidFill>
                  <a:srgbClr val="1D9E75"/>
                </a:solidFill>
                <a:latin typeface="Trebuchet MS"/>
                <a:ea typeface="Trebuchet MS"/>
                <a:cs typeface="Trebuchet MS"/>
              </a:defRPr>
            </a:lvl6pPr>
            <a:lvl7pPr algn="l">
              <a:defRPr sz="1950" b="1">
                <a:solidFill>
                  <a:srgbClr val="1D9E75"/>
                </a:solidFill>
                <a:latin typeface="Trebuchet MS"/>
                <a:ea typeface="Trebuchet MS"/>
                <a:cs typeface="Trebuchet MS"/>
              </a:defRPr>
            </a:lvl7pPr>
            <a:lvl8pPr algn="l">
              <a:defRPr sz="1950" b="1">
                <a:solidFill>
                  <a:srgbClr val="1D9E75"/>
                </a:solidFill>
                <a:latin typeface="Trebuchet MS"/>
                <a:ea typeface="Trebuchet MS"/>
                <a:cs typeface="Trebuchet MS"/>
              </a:defRPr>
            </a:lvl8pPr>
            <a:lvl9pPr algn="l">
              <a:defRPr sz="1950" b="1">
                <a:solidFill>
                  <a:srgbClr val="1D9E75"/>
                </a:solidFill>
                <a:latin typeface="Trebuchet MS"/>
                <a:ea typeface="Trebuchet MS"/>
                <a:cs typeface="Trebuchet MS"/>
              </a:defRPr>
            </a:lvl9pPr>
          </a:lstStyle>
          <a:p xmlns:a="http://schemas.openxmlformats.org/drawingml/2006/main">
            <a:pPr algn="l">
              <a:defRPr sz="1950" b="1">
                <a:solidFill>
                  <a:srgbClr val="1D9E75"/>
                </a:solidFill>
                <a:latin typeface="Trebuchet MS"/>
                <a:ea typeface="Trebuchet MS"/>
                <a:cs typeface="Trebuchet MS"/>
              </a:defRPr>
            </a:pPr>
            <a:r>
              <a:rPr sz="1950" b="1">
                <a:solidFill>
                  <a:srgbClr val="1D9E75"/>
                </a:solidFill>
                <a:latin typeface="Trebuchet MS"/>
                <a:ea typeface="Trebuchet MS"/>
                <a:cs typeface="Trebuchet MS"/>
              </a:rPr>
              <a:t>Satış bazası</a:t>
            </a:r>
          </a:p>
        </p:txBody>
      </p:sp>
      <p:sp>
        <p:nvSpPr>
          <p:cNvPr id="67" name="8 005 avans və kredit ödənişi sətri çıxarılır. Məbləğ: ">
            <a:extLst xmlns:a="http://schemas.openxmlformats.org/drawingml/2006/main">
              <a:ext uri="{FF2B5EF4-FFF2-40B4-BE49-F238E27FC236}">
                <a16:creationId xmlns:a16="http://schemas.microsoft.com/office/drawing/2014/main" id="{5B98EEED-BEE5-4066-A9F1-46476F77CD31}"/>
              </a:ext>
            </a:extLst>
          </p:cNvPr>
          <p:cNvSpPr>
            <a:spLocks xmlns:a="http://schemas.openxmlformats.org/drawingml/2006/main" noGrp="1"/>
          </p:cNvSpPr>
          <p:nvPr/>
        </p:nvSpPr>
        <p:spPr>
          <a:xfrm xmlns:a="http://schemas.openxmlformats.org/drawingml/2006/main">
            <a:off x="8239125" y="4181475"/>
            <a:ext cx="3286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8 005 avans və kredit ödənişi sətri çıxarılır. Məbləğ: 0,94 mln AZN.</a:t>
            </a:r>
          </a:p>
        </p:txBody>
      </p:sp>
    </p:spTree>
    <p:extLst>
      <p:ext uri="{BB962C8B-B14F-4D97-AF65-F5344CB8AC3E}">
        <p14:creationId xmlns:p14="http://schemas.microsoft.com/office/powerpoint/2010/main" val="19032270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Google Shape;67;p4">
            <a:extLst xmlns:a="http://schemas.openxmlformats.org/drawingml/2006/main">
              <a:ext uri="{FF2B5EF4-FFF2-40B4-BE49-F238E27FC236}">
                <a16:creationId xmlns:a16="http://schemas.microsoft.com/office/drawing/2014/main" id="{69B266DE-42CD-44ED-A677-760C8204F751}"/>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85FA5"/>
                </a:solidFill>
                <a:latin typeface="Trebuchet MS"/>
                <a:ea typeface="Trebuchet MS"/>
                <a:cs typeface="Trebuchet MS"/>
              </a:defRPr>
            </a:defPPr>
            <a:lvl1pPr>
              <a:defRPr sz="1250" b="1">
                <a:solidFill>
                  <a:srgbClr val="185FA5"/>
                </a:solidFill>
                <a:latin typeface="Trebuchet MS"/>
                <a:ea typeface="Trebuchet MS"/>
                <a:cs typeface="Trebuchet MS"/>
              </a:defRPr>
            </a:lvl1pPr>
            <a:lvl2pPr>
              <a:defRPr sz="1250" b="1">
                <a:solidFill>
                  <a:srgbClr val="185FA5"/>
                </a:solidFill>
                <a:latin typeface="Trebuchet MS"/>
                <a:ea typeface="Trebuchet MS"/>
                <a:cs typeface="Trebuchet MS"/>
              </a:defRPr>
            </a:lvl2pPr>
            <a:lvl3pPr>
              <a:defRPr sz="1250" b="1">
                <a:solidFill>
                  <a:srgbClr val="185FA5"/>
                </a:solidFill>
                <a:latin typeface="Trebuchet MS"/>
                <a:ea typeface="Trebuchet MS"/>
                <a:cs typeface="Trebuchet MS"/>
              </a:defRPr>
            </a:lvl3pPr>
            <a:lvl4pPr>
              <a:defRPr sz="1250" b="1">
                <a:solidFill>
                  <a:srgbClr val="185FA5"/>
                </a:solidFill>
                <a:latin typeface="Trebuchet MS"/>
                <a:ea typeface="Trebuchet MS"/>
                <a:cs typeface="Trebuchet MS"/>
              </a:defRPr>
            </a:lvl4pPr>
            <a:lvl5pPr>
              <a:defRPr sz="1250" b="1">
                <a:solidFill>
                  <a:srgbClr val="185FA5"/>
                </a:solidFill>
                <a:latin typeface="Trebuchet MS"/>
                <a:ea typeface="Trebuchet MS"/>
                <a:cs typeface="Trebuchet MS"/>
              </a:defRPr>
            </a:lvl5pPr>
            <a:lvl6pPr>
              <a:defRPr sz="1250" b="1">
                <a:solidFill>
                  <a:srgbClr val="185FA5"/>
                </a:solidFill>
                <a:latin typeface="Trebuchet MS"/>
                <a:ea typeface="Trebuchet MS"/>
                <a:cs typeface="Trebuchet MS"/>
              </a:defRPr>
            </a:lvl6pPr>
            <a:lvl7pPr>
              <a:defRPr sz="1250" b="1">
                <a:solidFill>
                  <a:srgbClr val="185FA5"/>
                </a:solidFill>
                <a:latin typeface="Trebuchet MS"/>
                <a:ea typeface="Trebuchet MS"/>
                <a:cs typeface="Trebuchet MS"/>
              </a:defRPr>
            </a:lvl7pPr>
            <a:lvl8pPr>
              <a:defRPr sz="1250" b="1">
                <a:solidFill>
                  <a:srgbClr val="185FA5"/>
                </a:solidFill>
                <a:latin typeface="Trebuchet MS"/>
                <a:ea typeface="Trebuchet MS"/>
                <a:cs typeface="Trebuchet MS"/>
              </a:defRPr>
            </a:lvl8pPr>
            <a:lvl9pPr>
              <a:defRPr sz="1250" b="1">
                <a:solidFill>
                  <a:srgbClr val="185FA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85FA5"/>
              </a:buClr>
              <a:buSzPts val="1250"/>
              <a:buFont typeface="Trebuchet MS"/>
              <a:buNone/>
              <a:defRPr sz="1250" b="1">
                <a:solidFill>
                  <a:srgbClr val="185FA5"/>
                </a:solidFill>
                <a:latin typeface="Trebuchet MS"/>
                <a:ea typeface="Trebuchet MS"/>
                <a:cs typeface="Trebuchet MS"/>
              </a:defRPr>
            </a:pPr>
            <a:r>
              <a:rPr sz="1250" b="1">
                <a:solidFill>
                  <a:srgbClr val="185FA5"/>
                </a:solidFill>
                <a:latin typeface="Trebuchet MS"/>
                <a:ea typeface="Trebuchet MS"/>
                <a:cs typeface="Trebuchet MS"/>
              </a:rPr>
              <a:t>1  DESKRİPTİV TƏHLİL</a:t>
            </a:r>
            <a:endParaRPr sz="1250">
              <a:solidFill>
                <a:schemeClr val="dk1"/>
              </a:solidFill>
              <a:latin typeface="Calibri"/>
              <a:ea typeface="Calibri"/>
              <a:cs typeface="Calibri"/>
            </a:endParaRPr>
          </a:p>
        </p:txBody>
      </p:sp>
      <p:sp>
        <p:nvSpPr>
          <p:cNvPr id="68" name="Google Shape;68;p4">
            <a:extLst xmlns:a="http://schemas.openxmlformats.org/drawingml/2006/main">
              <a:ext uri="{FF2B5EF4-FFF2-40B4-BE49-F238E27FC236}">
                <a16:creationId xmlns:a16="http://schemas.microsoft.com/office/drawing/2014/main" id="{B7B8348F-3898-409E-9C93-8141CCB982F4}"/>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Tipik satış sətirinin gəliri 1,80 AZN-dir</a:t>
            </a:r>
            <a:endParaRPr sz="2900">
              <a:solidFill>
                <a:schemeClr val="dk1"/>
              </a:solidFill>
              <a:latin typeface="Calibri"/>
              <a:ea typeface="Calibri"/>
              <a:cs typeface="Calibri"/>
            </a:endParaRPr>
          </a:p>
        </p:txBody>
      </p:sp>
      <p:sp>
        <p:nvSpPr>
          <p:cNvPr id="71" name="Google Shape;71;p4">
            <a:extLst xmlns:a="http://schemas.openxmlformats.org/drawingml/2006/main">
              <a:ext uri="{FF2B5EF4-FFF2-40B4-BE49-F238E27FC236}">
                <a16:creationId xmlns:a16="http://schemas.microsoft.com/office/drawing/2014/main" id="{BA6F5BA8-2C1E-479E-A54C-AED00729B5E6}"/>
              </a:ext>
            </a:extLst>
          </p:cNvPr>
          <p:cNvSpPr>
            <a:spLocks xmlns:a="http://schemas.openxmlformats.org/drawingml/2006/main" noGrp="1"/>
          </p:cNvSpPr>
          <p:nvPr/>
        </p:nvSpPr>
        <p:spPr>
          <a:xfrm xmlns:a="http://schemas.openxmlformats.org/drawingml/2006/main">
            <a:off x="566928" y="6053328"/>
            <a:ext cx="11055096" cy="566928"/>
          </a:xfrm>
          <a:prstGeom xmlns:a="http://schemas.openxmlformats.org/drawingml/2006/main" prst="rect">
            <a:avLst/>
          </a:prstGeom>
          <a:solidFill xmlns:a="http://schemas.openxmlformats.org/drawingml/2006/main">
            <a:srgbClr val="F4F7F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2" name="Google Shape;72;p4">
            <a:extLst xmlns:a="http://schemas.openxmlformats.org/drawingml/2006/main">
              <a:ext uri="{FF2B5EF4-FFF2-40B4-BE49-F238E27FC236}">
                <a16:creationId xmlns:a16="http://schemas.microsoft.com/office/drawing/2014/main" id="{0476D278-4CAB-4B57-B8CC-D7170C4A581F}"/>
              </a:ext>
            </a:extLst>
          </p:cNvPr>
          <p:cNvSpPr>
            <a:spLocks xmlns:a="http://schemas.openxmlformats.org/drawingml/2006/main" noGrp="1"/>
          </p:cNvSpPr>
          <p:nvPr/>
        </p:nvSpPr>
        <p:spPr>
          <a:xfrm xmlns:a="http://schemas.openxmlformats.org/drawingml/2006/main">
            <a:off x="868680" y="6053328"/>
            <a:ext cx="106070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142875" rIns="0" bIns="0" anchor="ctr">
            <a:noAutofit/>
          </a:bodyPr>
          <a:lstStyle xmlns:a="http://schemas.openxmlformats.org/drawingml/2006/main">
            <a:defPPr>
              <a:defRPr sz="1448">
                <a:solidFill>
                  <a:srgbClr val="185FA5"/>
                </a:solidFill>
                <a:latin typeface="Calibri"/>
                <a:ea typeface="Calibri"/>
                <a:cs typeface="Calibri"/>
              </a:defRPr>
            </a:defPPr>
            <a:lvl1pPr>
              <a:defRPr sz="1448">
                <a:solidFill>
                  <a:srgbClr val="185FA5"/>
                </a:solidFill>
                <a:latin typeface="Calibri"/>
                <a:ea typeface="Calibri"/>
                <a:cs typeface="Calibri"/>
              </a:defRPr>
            </a:lvl1pPr>
            <a:lvl2pPr>
              <a:defRPr sz="1448">
                <a:solidFill>
                  <a:srgbClr val="185FA5"/>
                </a:solidFill>
                <a:latin typeface="Calibri"/>
                <a:ea typeface="Calibri"/>
                <a:cs typeface="Calibri"/>
              </a:defRPr>
            </a:lvl2pPr>
            <a:lvl3pPr>
              <a:defRPr sz="1448">
                <a:solidFill>
                  <a:srgbClr val="185FA5"/>
                </a:solidFill>
                <a:latin typeface="Calibri"/>
                <a:ea typeface="Calibri"/>
                <a:cs typeface="Calibri"/>
              </a:defRPr>
            </a:lvl3pPr>
            <a:lvl4pPr>
              <a:defRPr sz="1448">
                <a:solidFill>
                  <a:srgbClr val="185FA5"/>
                </a:solidFill>
                <a:latin typeface="Calibri"/>
                <a:ea typeface="Calibri"/>
                <a:cs typeface="Calibri"/>
              </a:defRPr>
            </a:lvl4pPr>
            <a:lvl5pPr>
              <a:defRPr sz="1448">
                <a:solidFill>
                  <a:srgbClr val="185FA5"/>
                </a:solidFill>
                <a:latin typeface="Calibri"/>
                <a:ea typeface="Calibri"/>
                <a:cs typeface="Calibri"/>
              </a:defRPr>
            </a:lvl5pPr>
            <a:lvl6pPr>
              <a:defRPr sz="1448">
                <a:solidFill>
                  <a:srgbClr val="185FA5"/>
                </a:solidFill>
                <a:latin typeface="Calibri"/>
                <a:ea typeface="Calibri"/>
                <a:cs typeface="Calibri"/>
              </a:defRPr>
            </a:lvl6pPr>
            <a:lvl7pPr>
              <a:defRPr sz="1448">
                <a:solidFill>
                  <a:srgbClr val="185FA5"/>
                </a:solidFill>
                <a:latin typeface="Calibri"/>
                <a:ea typeface="Calibri"/>
                <a:cs typeface="Calibri"/>
              </a:defRPr>
            </a:lvl7pPr>
            <a:lvl8pPr>
              <a:defRPr sz="1448">
                <a:solidFill>
                  <a:srgbClr val="185FA5"/>
                </a:solidFill>
                <a:latin typeface="Calibri"/>
                <a:ea typeface="Calibri"/>
                <a:cs typeface="Calibri"/>
              </a:defRPr>
            </a:lvl8pPr>
            <a:lvl9pPr>
              <a:defRPr sz="1448">
                <a:solidFill>
                  <a:srgbClr val="185FA5"/>
                </a:solidFill>
                <a:latin typeface="Calibri"/>
                <a:ea typeface="Calibri"/>
                <a:cs typeface="Calibri"/>
              </a:defRPr>
            </a:lvl9pPr>
          </a:lstStyle>
          <a:p xmlns:a="http://schemas.openxmlformats.org/drawingml/2006/main">
            <a:pPr marL="0" marR="0" lvl="0" indent="0" algn="l">
              <a:spcBef>
                <a:spcPts val="0"/>
              </a:spcBef>
              <a:spcAft>
                <a:spcPts val="0"/>
              </a:spcAft>
              <a:buClr>
                <a:srgbClr val="185FA5"/>
              </a:buClr>
              <a:buSzPts val="1350"/>
              <a:buFont typeface="Calibri"/>
              <a:buNone/>
              <a:defRPr sz="1448">
                <a:solidFill>
                  <a:srgbClr val="185FA5"/>
                </a:solidFill>
                <a:latin typeface="Calibri"/>
                <a:ea typeface="Calibri"/>
                <a:cs typeface="Calibri"/>
              </a:defRPr>
            </a:pPr>
            <a:r>
              <a:rPr sz="1448" b="1">
                <a:solidFill>
                  <a:srgbClr val="185FA5"/>
                </a:solidFill>
                <a:latin typeface="Calibri"/>
                <a:ea typeface="Calibri"/>
                <a:cs typeface="Calibri"/>
              </a:rPr>
              <a:t>NƏTİCƏ: Orta gəlir mediandan 3,1 dəfə böyükdür. Paylanma sağa meyllidir.</a:t>
            </a:r>
            <a:endParaRPr sz="1350">
              <a:solidFill>
                <a:schemeClr val="dk1"/>
              </a:solidFill>
              <a:latin typeface="Calibri"/>
              <a:ea typeface="Calibri"/>
              <a:cs typeface="Calibri"/>
            </a:endParaRPr>
          </a:p>
        </p:txBody>
      </p:sp>
      <p:sp>
        <p:nvSpPr>
          <p:cNvPr id="73" name="Satış olmayan əməliyyatlar çıxarıldıqdan sonra 9 992 90">
            <a:extLst xmlns:a="http://schemas.openxmlformats.org/drawingml/2006/main">
              <a:ext uri="{FF2B5EF4-FFF2-40B4-BE49-F238E27FC236}">
                <a16:creationId xmlns:a16="http://schemas.microsoft.com/office/drawing/2014/main" id="{0BB1008A-359F-434E-B533-94E9B00CF31A}"/>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Satış olmayan əməliyyatlar çıxarıldıqdan sonra 9 992 904 sətir</a:t>
            </a:r>
          </a:p>
        </p:txBody>
      </p:sp>
      <p:sp>
        <p:nvSpPr>
          <p:cNvPr id="74" name="1 ədəd">
            <a:extLst xmlns:a="http://schemas.openxmlformats.org/drawingml/2006/main">
              <a:ext uri="{FF2B5EF4-FFF2-40B4-BE49-F238E27FC236}">
                <a16:creationId xmlns:a16="http://schemas.microsoft.com/office/drawing/2014/main" id="{0E99B356-E793-4BDC-8B6B-386379E700F7}"/>
              </a:ext>
            </a:extLst>
          </p:cNvPr>
          <p:cNvSpPr>
            <a:spLocks xmlns:a="http://schemas.openxmlformats.org/drawingml/2006/main" noGrp="1"/>
          </p:cNvSpPr>
          <p:nvPr/>
        </p:nvSpPr>
        <p:spPr>
          <a:xfrm xmlns:a="http://schemas.openxmlformats.org/drawingml/2006/main">
            <a:off x="762000" y="19621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85FA5"/>
                </a:solidFill>
                <a:latin typeface="Trebuchet MS"/>
                <a:ea typeface="Trebuchet MS"/>
                <a:cs typeface="Trebuchet MS"/>
              </a:defRPr>
            </a:defPPr>
            <a:lvl1pPr algn="l">
              <a:defRPr sz="3600" b="1">
                <a:solidFill>
                  <a:srgbClr val="185FA5"/>
                </a:solidFill>
                <a:latin typeface="Trebuchet MS"/>
                <a:ea typeface="Trebuchet MS"/>
                <a:cs typeface="Trebuchet MS"/>
              </a:defRPr>
            </a:lvl1pPr>
            <a:lvl2pPr algn="l">
              <a:defRPr sz="3600" b="1">
                <a:solidFill>
                  <a:srgbClr val="185FA5"/>
                </a:solidFill>
                <a:latin typeface="Trebuchet MS"/>
                <a:ea typeface="Trebuchet MS"/>
                <a:cs typeface="Trebuchet MS"/>
              </a:defRPr>
            </a:lvl2pPr>
            <a:lvl3pPr algn="l">
              <a:defRPr sz="3600" b="1">
                <a:solidFill>
                  <a:srgbClr val="185FA5"/>
                </a:solidFill>
                <a:latin typeface="Trebuchet MS"/>
                <a:ea typeface="Trebuchet MS"/>
                <a:cs typeface="Trebuchet MS"/>
              </a:defRPr>
            </a:lvl3pPr>
            <a:lvl4pPr algn="l">
              <a:defRPr sz="3600" b="1">
                <a:solidFill>
                  <a:srgbClr val="185FA5"/>
                </a:solidFill>
                <a:latin typeface="Trebuchet MS"/>
                <a:ea typeface="Trebuchet MS"/>
                <a:cs typeface="Trebuchet MS"/>
              </a:defRPr>
            </a:lvl4pPr>
            <a:lvl5pPr algn="l">
              <a:defRPr sz="3600" b="1">
                <a:solidFill>
                  <a:srgbClr val="185FA5"/>
                </a:solidFill>
                <a:latin typeface="Trebuchet MS"/>
                <a:ea typeface="Trebuchet MS"/>
                <a:cs typeface="Trebuchet MS"/>
              </a:defRPr>
            </a:lvl5pPr>
            <a:lvl6pPr algn="l">
              <a:defRPr sz="3600" b="1">
                <a:solidFill>
                  <a:srgbClr val="185FA5"/>
                </a:solidFill>
                <a:latin typeface="Trebuchet MS"/>
                <a:ea typeface="Trebuchet MS"/>
                <a:cs typeface="Trebuchet MS"/>
              </a:defRPr>
            </a:lvl6pPr>
            <a:lvl7pPr algn="l">
              <a:defRPr sz="3600" b="1">
                <a:solidFill>
                  <a:srgbClr val="185FA5"/>
                </a:solidFill>
                <a:latin typeface="Trebuchet MS"/>
                <a:ea typeface="Trebuchet MS"/>
                <a:cs typeface="Trebuchet MS"/>
              </a:defRPr>
            </a:lvl7pPr>
            <a:lvl8pPr algn="l">
              <a:defRPr sz="3600" b="1">
                <a:solidFill>
                  <a:srgbClr val="185FA5"/>
                </a:solidFill>
                <a:latin typeface="Trebuchet MS"/>
                <a:ea typeface="Trebuchet MS"/>
                <a:cs typeface="Trebuchet MS"/>
              </a:defRPr>
            </a:lvl8pPr>
            <a:lvl9pPr algn="l">
              <a:defRPr sz="3600" b="1">
                <a:solidFill>
                  <a:srgbClr val="185FA5"/>
                </a:solidFill>
                <a:latin typeface="Trebuchet MS"/>
                <a:ea typeface="Trebuchet MS"/>
                <a:cs typeface="Trebuchet MS"/>
              </a:defRPr>
            </a:lvl9pPr>
          </a:lstStyle>
          <a:p xmlns:a="http://schemas.openxmlformats.org/drawingml/2006/main">
            <a:pPr algn="l">
              <a:defRPr sz="3600" b="1">
                <a:solidFill>
                  <a:srgbClr val="185FA5"/>
                </a:solidFill>
                <a:latin typeface="Trebuchet MS"/>
                <a:ea typeface="Trebuchet MS"/>
                <a:cs typeface="Trebuchet MS"/>
              </a:defRPr>
            </a:pPr>
            <a:r>
              <a:rPr sz="3600" b="1">
                <a:solidFill>
                  <a:srgbClr val="185FA5"/>
                </a:solidFill>
                <a:latin typeface="Trebuchet MS"/>
                <a:ea typeface="Trebuchet MS"/>
                <a:cs typeface="Trebuchet MS"/>
              </a:rPr>
              <a:t>1 ədəd</a:t>
            </a:r>
          </a:p>
        </p:txBody>
      </p:sp>
      <p:sp>
        <p:nvSpPr>
          <p:cNvPr id="75" name="Median miqdar">
            <a:extLst xmlns:a="http://schemas.openxmlformats.org/drawingml/2006/main">
              <a:ext uri="{FF2B5EF4-FFF2-40B4-BE49-F238E27FC236}">
                <a16:creationId xmlns:a16="http://schemas.microsoft.com/office/drawing/2014/main" id="{A1E5F8A3-2350-4F96-9EA0-DF0C08637A15}"/>
              </a:ext>
            </a:extLst>
          </p:cNvPr>
          <p:cNvSpPr>
            <a:spLocks xmlns:a="http://schemas.openxmlformats.org/drawingml/2006/main" noGrp="1"/>
          </p:cNvSpPr>
          <p:nvPr/>
        </p:nvSpPr>
        <p:spPr>
          <a:xfrm xmlns:a="http://schemas.openxmlformats.org/drawingml/2006/main">
            <a:off x="762000" y="2686050"/>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Median miqdar</a:t>
            </a:r>
          </a:p>
        </p:txBody>
      </p:sp>
      <p:sp>
        <p:nvSpPr>
          <p:cNvPr id="76" name="1,80 AZN">
            <a:extLst xmlns:a="http://schemas.openxmlformats.org/drawingml/2006/main">
              <a:ext uri="{FF2B5EF4-FFF2-40B4-BE49-F238E27FC236}">
                <a16:creationId xmlns:a16="http://schemas.microsoft.com/office/drawing/2014/main" id="{7B9058B1-158A-4711-A369-1A6515578903}"/>
              </a:ext>
            </a:extLst>
          </p:cNvPr>
          <p:cNvSpPr>
            <a:spLocks xmlns:a="http://schemas.openxmlformats.org/drawingml/2006/main" noGrp="1"/>
          </p:cNvSpPr>
          <p:nvPr/>
        </p:nvSpPr>
        <p:spPr>
          <a:xfrm xmlns:a="http://schemas.openxmlformats.org/drawingml/2006/main">
            <a:off x="4572000" y="19621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D9E75"/>
                </a:solidFill>
                <a:latin typeface="Trebuchet MS"/>
                <a:ea typeface="Trebuchet MS"/>
                <a:cs typeface="Trebuchet MS"/>
              </a:defRPr>
            </a:defPPr>
            <a:lvl1pPr algn="l">
              <a:defRPr sz="3600" b="1">
                <a:solidFill>
                  <a:srgbClr val="1D9E75"/>
                </a:solidFill>
                <a:latin typeface="Trebuchet MS"/>
                <a:ea typeface="Trebuchet MS"/>
                <a:cs typeface="Trebuchet MS"/>
              </a:defRPr>
            </a:lvl1pPr>
            <a:lvl2pPr algn="l">
              <a:defRPr sz="3600" b="1">
                <a:solidFill>
                  <a:srgbClr val="1D9E75"/>
                </a:solidFill>
                <a:latin typeface="Trebuchet MS"/>
                <a:ea typeface="Trebuchet MS"/>
                <a:cs typeface="Trebuchet MS"/>
              </a:defRPr>
            </a:lvl2pPr>
            <a:lvl3pPr algn="l">
              <a:defRPr sz="3600" b="1">
                <a:solidFill>
                  <a:srgbClr val="1D9E75"/>
                </a:solidFill>
                <a:latin typeface="Trebuchet MS"/>
                <a:ea typeface="Trebuchet MS"/>
                <a:cs typeface="Trebuchet MS"/>
              </a:defRPr>
            </a:lvl3pPr>
            <a:lvl4pPr algn="l">
              <a:defRPr sz="3600" b="1">
                <a:solidFill>
                  <a:srgbClr val="1D9E75"/>
                </a:solidFill>
                <a:latin typeface="Trebuchet MS"/>
                <a:ea typeface="Trebuchet MS"/>
                <a:cs typeface="Trebuchet MS"/>
              </a:defRPr>
            </a:lvl4pPr>
            <a:lvl5pPr algn="l">
              <a:defRPr sz="3600" b="1">
                <a:solidFill>
                  <a:srgbClr val="1D9E75"/>
                </a:solidFill>
                <a:latin typeface="Trebuchet MS"/>
                <a:ea typeface="Trebuchet MS"/>
                <a:cs typeface="Trebuchet MS"/>
              </a:defRPr>
            </a:lvl5pPr>
            <a:lvl6pPr algn="l">
              <a:defRPr sz="3600" b="1">
                <a:solidFill>
                  <a:srgbClr val="1D9E75"/>
                </a:solidFill>
                <a:latin typeface="Trebuchet MS"/>
                <a:ea typeface="Trebuchet MS"/>
                <a:cs typeface="Trebuchet MS"/>
              </a:defRPr>
            </a:lvl6pPr>
            <a:lvl7pPr algn="l">
              <a:defRPr sz="3600" b="1">
                <a:solidFill>
                  <a:srgbClr val="1D9E75"/>
                </a:solidFill>
                <a:latin typeface="Trebuchet MS"/>
                <a:ea typeface="Trebuchet MS"/>
                <a:cs typeface="Trebuchet MS"/>
              </a:defRPr>
            </a:lvl7pPr>
            <a:lvl8pPr algn="l">
              <a:defRPr sz="3600" b="1">
                <a:solidFill>
                  <a:srgbClr val="1D9E75"/>
                </a:solidFill>
                <a:latin typeface="Trebuchet MS"/>
                <a:ea typeface="Trebuchet MS"/>
                <a:cs typeface="Trebuchet MS"/>
              </a:defRPr>
            </a:lvl8pPr>
            <a:lvl9pPr algn="l">
              <a:defRPr sz="3600" b="1">
                <a:solidFill>
                  <a:srgbClr val="1D9E75"/>
                </a:solidFill>
                <a:latin typeface="Trebuchet MS"/>
                <a:ea typeface="Trebuchet MS"/>
                <a:cs typeface="Trebuchet MS"/>
              </a:defRPr>
            </a:lvl9pPr>
          </a:lstStyle>
          <a:p xmlns:a="http://schemas.openxmlformats.org/drawingml/2006/main">
            <a:pPr algn="l">
              <a:defRPr sz="3600" b="1">
                <a:solidFill>
                  <a:srgbClr val="1D9E75"/>
                </a:solidFill>
                <a:latin typeface="Trebuchet MS"/>
                <a:ea typeface="Trebuchet MS"/>
                <a:cs typeface="Trebuchet MS"/>
              </a:defRPr>
            </a:pPr>
            <a:r>
              <a:rPr sz="3600" b="1">
                <a:solidFill>
                  <a:srgbClr val="1D9E75"/>
                </a:solidFill>
                <a:latin typeface="Trebuchet MS"/>
                <a:ea typeface="Trebuchet MS"/>
                <a:cs typeface="Trebuchet MS"/>
              </a:rPr>
              <a:t>1,80 AZN</a:t>
            </a:r>
          </a:p>
        </p:txBody>
      </p:sp>
      <p:sp>
        <p:nvSpPr>
          <p:cNvPr id="77" name="Median vahid qiymət">
            <a:extLst xmlns:a="http://schemas.openxmlformats.org/drawingml/2006/main">
              <a:ext uri="{FF2B5EF4-FFF2-40B4-BE49-F238E27FC236}">
                <a16:creationId xmlns:a16="http://schemas.microsoft.com/office/drawing/2014/main" id="{8C39DB63-4120-427A-9368-B656B3D35BE8}"/>
              </a:ext>
            </a:extLst>
          </p:cNvPr>
          <p:cNvSpPr>
            <a:spLocks xmlns:a="http://schemas.openxmlformats.org/drawingml/2006/main" noGrp="1"/>
          </p:cNvSpPr>
          <p:nvPr/>
        </p:nvSpPr>
        <p:spPr>
          <a:xfrm xmlns:a="http://schemas.openxmlformats.org/drawingml/2006/main">
            <a:off x="4572000" y="268605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Median vahid qiymət</a:t>
            </a:r>
          </a:p>
        </p:txBody>
      </p:sp>
      <p:sp>
        <p:nvSpPr>
          <p:cNvPr id="78" name="5,51 AZN">
            <a:extLst xmlns:a="http://schemas.openxmlformats.org/drawingml/2006/main">
              <a:ext uri="{FF2B5EF4-FFF2-40B4-BE49-F238E27FC236}">
                <a16:creationId xmlns:a16="http://schemas.microsoft.com/office/drawing/2014/main" id="{BA55F9AB-5993-41F4-A316-E6F673BEB730}"/>
              </a:ext>
            </a:extLst>
          </p:cNvPr>
          <p:cNvSpPr>
            <a:spLocks xmlns:a="http://schemas.openxmlformats.org/drawingml/2006/main" noGrp="1"/>
          </p:cNvSpPr>
          <p:nvPr/>
        </p:nvSpPr>
        <p:spPr>
          <a:xfrm xmlns:a="http://schemas.openxmlformats.org/drawingml/2006/main">
            <a:off x="8382000" y="19621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D4537E"/>
                </a:solidFill>
                <a:latin typeface="Trebuchet MS"/>
                <a:ea typeface="Trebuchet MS"/>
                <a:cs typeface="Trebuchet MS"/>
              </a:defRPr>
            </a:defPPr>
            <a:lvl1pPr algn="l">
              <a:defRPr sz="3600" b="1">
                <a:solidFill>
                  <a:srgbClr val="D4537E"/>
                </a:solidFill>
                <a:latin typeface="Trebuchet MS"/>
                <a:ea typeface="Trebuchet MS"/>
                <a:cs typeface="Trebuchet MS"/>
              </a:defRPr>
            </a:lvl1pPr>
            <a:lvl2pPr algn="l">
              <a:defRPr sz="3600" b="1">
                <a:solidFill>
                  <a:srgbClr val="D4537E"/>
                </a:solidFill>
                <a:latin typeface="Trebuchet MS"/>
                <a:ea typeface="Trebuchet MS"/>
                <a:cs typeface="Trebuchet MS"/>
              </a:defRPr>
            </a:lvl2pPr>
            <a:lvl3pPr algn="l">
              <a:defRPr sz="3600" b="1">
                <a:solidFill>
                  <a:srgbClr val="D4537E"/>
                </a:solidFill>
                <a:latin typeface="Trebuchet MS"/>
                <a:ea typeface="Trebuchet MS"/>
                <a:cs typeface="Trebuchet MS"/>
              </a:defRPr>
            </a:lvl3pPr>
            <a:lvl4pPr algn="l">
              <a:defRPr sz="3600" b="1">
                <a:solidFill>
                  <a:srgbClr val="D4537E"/>
                </a:solidFill>
                <a:latin typeface="Trebuchet MS"/>
                <a:ea typeface="Trebuchet MS"/>
                <a:cs typeface="Trebuchet MS"/>
              </a:defRPr>
            </a:lvl4pPr>
            <a:lvl5pPr algn="l">
              <a:defRPr sz="3600" b="1">
                <a:solidFill>
                  <a:srgbClr val="D4537E"/>
                </a:solidFill>
                <a:latin typeface="Trebuchet MS"/>
                <a:ea typeface="Trebuchet MS"/>
                <a:cs typeface="Trebuchet MS"/>
              </a:defRPr>
            </a:lvl5pPr>
            <a:lvl6pPr algn="l">
              <a:defRPr sz="3600" b="1">
                <a:solidFill>
                  <a:srgbClr val="D4537E"/>
                </a:solidFill>
                <a:latin typeface="Trebuchet MS"/>
                <a:ea typeface="Trebuchet MS"/>
                <a:cs typeface="Trebuchet MS"/>
              </a:defRPr>
            </a:lvl6pPr>
            <a:lvl7pPr algn="l">
              <a:defRPr sz="3600" b="1">
                <a:solidFill>
                  <a:srgbClr val="D4537E"/>
                </a:solidFill>
                <a:latin typeface="Trebuchet MS"/>
                <a:ea typeface="Trebuchet MS"/>
                <a:cs typeface="Trebuchet MS"/>
              </a:defRPr>
            </a:lvl7pPr>
            <a:lvl8pPr algn="l">
              <a:defRPr sz="3600" b="1">
                <a:solidFill>
                  <a:srgbClr val="D4537E"/>
                </a:solidFill>
                <a:latin typeface="Trebuchet MS"/>
                <a:ea typeface="Trebuchet MS"/>
                <a:cs typeface="Trebuchet MS"/>
              </a:defRPr>
            </a:lvl8pPr>
            <a:lvl9pPr algn="l">
              <a:defRPr sz="3600" b="1">
                <a:solidFill>
                  <a:srgbClr val="D4537E"/>
                </a:solidFill>
                <a:latin typeface="Trebuchet MS"/>
                <a:ea typeface="Trebuchet MS"/>
                <a:cs typeface="Trebuchet MS"/>
              </a:defRPr>
            </a:lvl9pPr>
          </a:lstStyle>
          <a:p xmlns:a="http://schemas.openxmlformats.org/drawingml/2006/main">
            <a:pPr algn="l">
              <a:defRPr sz="3600" b="1">
                <a:solidFill>
                  <a:srgbClr val="D4537E"/>
                </a:solidFill>
                <a:latin typeface="Trebuchet MS"/>
                <a:ea typeface="Trebuchet MS"/>
                <a:cs typeface="Trebuchet MS"/>
              </a:defRPr>
            </a:pPr>
            <a:r>
              <a:rPr sz="3600" b="1">
                <a:solidFill>
                  <a:srgbClr val="D4537E"/>
                </a:solidFill>
                <a:latin typeface="Trebuchet MS"/>
                <a:ea typeface="Trebuchet MS"/>
                <a:cs typeface="Trebuchet MS"/>
              </a:rPr>
              <a:t>5,51 AZN</a:t>
            </a:r>
          </a:p>
        </p:txBody>
      </p:sp>
      <p:sp>
        <p:nvSpPr>
          <p:cNvPr id="79" name="Sətir üzrə orta gəlir">
            <a:extLst xmlns:a="http://schemas.openxmlformats.org/drawingml/2006/main">
              <a:ext uri="{FF2B5EF4-FFF2-40B4-BE49-F238E27FC236}">
                <a16:creationId xmlns:a16="http://schemas.microsoft.com/office/drawing/2014/main" id="{F3EA30DE-4651-44AA-B3C9-5C919CC5A1A4}"/>
              </a:ext>
            </a:extLst>
          </p:cNvPr>
          <p:cNvSpPr>
            <a:spLocks xmlns:a="http://schemas.openxmlformats.org/drawingml/2006/main" noGrp="1"/>
          </p:cNvSpPr>
          <p:nvPr/>
        </p:nvSpPr>
        <p:spPr>
          <a:xfrm xmlns:a="http://schemas.openxmlformats.org/drawingml/2006/main">
            <a:off x="8382000" y="2686050"/>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Sətir üzrə orta gəlir</a:t>
            </a:r>
          </a:p>
        </p:txBody>
      </p:sp>
      <p:graphicFrame>
        <p:nvGraphicFramePr>
          <p:cNvPr id="80" name="">
            <a:extLst xmlns:a="http://schemas.openxmlformats.org/drawingml/2006/main">
              <a:ext uri="{FF2B5EF4-FFF2-40B4-BE49-F238E27FC236}">
                <a16:creationId xmlns:a16="http://schemas.microsoft.com/office/drawing/2014/main" id="{7A799AF2-4ED9-480F-BFD6-1E0ADCA2A505}"/>
              </a:ext>
            </a:extLst>
          </p:cNvPr>
          <p:cNvGraphicFramePr/>
          <p:nvPr/>
        </p:nvGraphicFramePr>
        <p:xfrm>
          <a:off xmlns:a="http://schemas.openxmlformats.org/drawingml/2006/main" x="571500" y="3781425"/>
          <a:ext xmlns:a="http://schemas.openxmlformats.org/drawingml/2006/main" cx="11049000" cy="1962150"/>
        </p:xfrm>
        <a:graphic xmlns:a="http://schemas.openxmlformats.org/drawingml/2006/main">
          <a:graphicData uri="http://schemas.openxmlformats.org/drawingml/2006/table">
            <a:tbl>
              <a:tblPr/>
              <a:tblGrid>
                <a:gridCol w="4191000"/>
                <a:gridCol w="2286000"/>
                <a:gridCol w="2286000"/>
                <a:gridCol w="2286000"/>
              </a:tblGrid>
              <a:tr h="490538">
                <a:tc>
                  <a:txBody>
                    <a:bodyPr lIns="133350" tIns="133350" rIns="133350" bIns="133350"/>
                    <a:lstStyle/>
                    <a:p>
                      <a:pPr algn="l"/>
                      <a:r>
                        <a:rPr sz="1575" b="1">
                          <a:solidFill>
                            <a:srgbClr val="FFFFFF"/>
                          </a:solidFill>
                          <a:latin typeface="Calibri"/>
                          <a:ea typeface="Calibri"/>
                          <a:cs typeface="Calibri"/>
                        </a:rPr>
                        <a:t>Göstərici</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Median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Orta</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P99</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r>
              <a:tr h="490538">
                <a:tc>
                  <a:txBody>
                    <a:bodyPr lIns="133350" tIns="133350" rIns="133350" bIns="133350"/>
                    <a:lstStyle/>
                    <a:p>
                      <a:pPr algn="l"/>
                      <a:r>
                        <a:rPr sz="1650" b="0">
                          <a:solidFill>
                            <a:srgbClr val="1E293B"/>
                          </a:solidFill>
                          <a:latin typeface="Calibri"/>
                          <a:ea typeface="Calibri"/>
                          <a:cs typeface="Calibri"/>
                        </a:rPr>
                        <a:t>Miqdar</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1,00</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2,52</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14,00</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r>
              <a:tr h="490538">
                <a:tc>
                  <a:txBody>
                    <a:bodyPr lIns="133350" tIns="133350" rIns="133350" bIns="133350"/>
                    <a:lstStyle/>
                    <a:p>
                      <a:pPr algn="l"/>
                      <a:r>
                        <a:rPr sz="1650" b="0">
                          <a:solidFill>
                            <a:srgbClr val="1E293B"/>
                          </a:solidFill>
                          <a:latin typeface="Calibri"/>
                          <a:ea typeface="Calibri"/>
                          <a:cs typeface="Calibri"/>
                        </a:rPr>
                        <a:t>Vahid qiymət, AZN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1,80</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5,06</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41,25</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490538">
                <a:tc>
                  <a:txBody>
                    <a:bodyPr lIns="133350" tIns="133350" rIns="133350" bIns="133350"/>
                    <a:lstStyle/>
                    <a:p>
                      <a:pPr algn="l"/>
                      <a:r>
                        <a:rPr sz="1650" b="0">
                          <a:solidFill>
                            <a:srgbClr val="1E293B"/>
                          </a:solidFill>
                          <a:latin typeface="Calibri"/>
                          <a:ea typeface="Calibri"/>
                          <a:cs typeface="Calibri"/>
                        </a:rPr>
                        <a:t>Sətir gəliri, AZN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1,80</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5,51</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55,00</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r>
            </a:tbl>
          </a:graphicData>
        </a:graphic>
      </p:graphicFrame>
    </p:spTree>
    <p:extLst>
      <p:ext uri="{BB962C8B-B14F-4D97-AF65-F5344CB8AC3E}">
        <p14:creationId xmlns:p14="http://schemas.microsoft.com/office/powerpoint/2010/main" val="18612284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Google Shape;78;p5">
            <a:extLst xmlns:a="http://schemas.openxmlformats.org/drawingml/2006/main">
              <a:ext uri="{FF2B5EF4-FFF2-40B4-BE49-F238E27FC236}">
                <a16:creationId xmlns:a16="http://schemas.microsoft.com/office/drawing/2014/main" id="{EF35C942-37E8-4FF6-A477-69A83338BF6E}"/>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85FA5"/>
                </a:solidFill>
                <a:latin typeface="Trebuchet MS"/>
                <a:ea typeface="Trebuchet MS"/>
                <a:cs typeface="Trebuchet MS"/>
              </a:defRPr>
            </a:defPPr>
            <a:lvl1pPr>
              <a:defRPr sz="1250" b="1">
                <a:solidFill>
                  <a:srgbClr val="185FA5"/>
                </a:solidFill>
                <a:latin typeface="Trebuchet MS"/>
                <a:ea typeface="Trebuchet MS"/>
                <a:cs typeface="Trebuchet MS"/>
              </a:defRPr>
            </a:lvl1pPr>
            <a:lvl2pPr>
              <a:defRPr sz="1250" b="1">
                <a:solidFill>
                  <a:srgbClr val="185FA5"/>
                </a:solidFill>
                <a:latin typeface="Trebuchet MS"/>
                <a:ea typeface="Trebuchet MS"/>
                <a:cs typeface="Trebuchet MS"/>
              </a:defRPr>
            </a:lvl2pPr>
            <a:lvl3pPr>
              <a:defRPr sz="1250" b="1">
                <a:solidFill>
                  <a:srgbClr val="185FA5"/>
                </a:solidFill>
                <a:latin typeface="Trebuchet MS"/>
                <a:ea typeface="Trebuchet MS"/>
                <a:cs typeface="Trebuchet MS"/>
              </a:defRPr>
            </a:lvl3pPr>
            <a:lvl4pPr>
              <a:defRPr sz="1250" b="1">
                <a:solidFill>
                  <a:srgbClr val="185FA5"/>
                </a:solidFill>
                <a:latin typeface="Trebuchet MS"/>
                <a:ea typeface="Trebuchet MS"/>
                <a:cs typeface="Trebuchet MS"/>
              </a:defRPr>
            </a:lvl4pPr>
            <a:lvl5pPr>
              <a:defRPr sz="1250" b="1">
                <a:solidFill>
                  <a:srgbClr val="185FA5"/>
                </a:solidFill>
                <a:latin typeface="Trebuchet MS"/>
                <a:ea typeface="Trebuchet MS"/>
                <a:cs typeface="Trebuchet MS"/>
              </a:defRPr>
            </a:lvl5pPr>
            <a:lvl6pPr>
              <a:defRPr sz="1250" b="1">
                <a:solidFill>
                  <a:srgbClr val="185FA5"/>
                </a:solidFill>
                <a:latin typeface="Trebuchet MS"/>
                <a:ea typeface="Trebuchet MS"/>
                <a:cs typeface="Trebuchet MS"/>
              </a:defRPr>
            </a:lvl6pPr>
            <a:lvl7pPr>
              <a:defRPr sz="1250" b="1">
                <a:solidFill>
                  <a:srgbClr val="185FA5"/>
                </a:solidFill>
                <a:latin typeface="Trebuchet MS"/>
                <a:ea typeface="Trebuchet MS"/>
                <a:cs typeface="Trebuchet MS"/>
              </a:defRPr>
            </a:lvl7pPr>
            <a:lvl8pPr>
              <a:defRPr sz="1250" b="1">
                <a:solidFill>
                  <a:srgbClr val="185FA5"/>
                </a:solidFill>
                <a:latin typeface="Trebuchet MS"/>
                <a:ea typeface="Trebuchet MS"/>
                <a:cs typeface="Trebuchet MS"/>
              </a:defRPr>
            </a:lvl8pPr>
            <a:lvl9pPr>
              <a:defRPr sz="1250" b="1">
                <a:solidFill>
                  <a:srgbClr val="185FA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85FA5"/>
              </a:buClr>
              <a:buSzPts val="1250"/>
              <a:buFont typeface="Trebuchet MS"/>
              <a:buNone/>
              <a:defRPr sz="1250" b="1">
                <a:solidFill>
                  <a:srgbClr val="185FA5"/>
                </a:solidFill>
                <a:latin typeface="Trebuchet MS"/>
                <a:ea typeface="Trebuchet MS"/>
                <a:cs typeface="Trebuchet MS"/>
              </a:defRPr>
            </a:pPr>
            <a:r>
              <a:rPr sz="1250" b="1">
                <a:solidFill>
                  <a:srgbClr val="185FA5"/>
                </a:solidFill>
                <a:latin typeface="Trebuchet MS"/>
                <a:ea typeface="Trebuchet MS"/>
                <a:cs typeface="Trebuchet MS"/>
              </a:rPr>
              <a:t>1  DESKRİPTİV TƏHLİL</a:t>
            </a:r>
            <a:endParaRPr sz="1250">
              <a:solidFill>
                <a:schemeClr val="dk1"/>
              </a:solidFill>
              <a:latin typeface="Calibri"/>
              <a:ea typeface="Calibri"/>
              <a:cs typeface="Calibri"/>
            </a:endParaRPr>
          </a:p>
        </p:txBody>
      </p:sp>
      <p:sp>
        <p:nvSpPr>
          <p:cNvPr id="79" name="Google Shape;79;p5">
            <a:extLst xmlns:a="http://schemas.openxmlformats.org/drawingml/2006/main">
              <a:ext uri="{FF2B5EF4-FFF2-40B4-BE49-F238E27FC236}">
                <a16:creationId xmlns:a16="http://schemas.microsoft.com/office/drawing/2014/main" id="{F6E8E59F-2AE3-4EFF-BBDC-3BDE394123D4}"/>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Bahalı məhsullar gəlirdə böyük pay tutur</a:t>
            </a:r>
            <a:endParaRPr sz="2900">
              <a:solidFill>
                <a:schemeClr val="dk1"/>
              </a:solidFill>
              <a:latin typeface="Calibri"/>
              <a:ea typeface="Calibri"/>
              <a:cs typeface="Calibri"/>
            </a:endParaRPr>
          </a:p>
        </p:txBody>
      </p:sp>
      <p:sp>
        <p:nvSpPr>
          <p:cNvPr id="80" name="Vahid qiymət aralıqları üzrə pay, %">
            <a:extLst xmlns:a="http://schemas.openxmlformats.org/drawingml/2006/main">
              <a:ext uri="{FF2B5EF4-FFF2-40B4-BE49-F238E27FC236}">
                <a16:creationId xmlns:a16="http://schemas.microsoft.com/office/drawing/2014/main" id="{ECDD9F7F-1D0A-41DA-B1E8-8009BFC583E2}"/>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Vahid qiymət aralıqları üzrə pay, %</a:t>
            </a:r>
          </a:p>
        </p:txBody>
      </p:sp>
      <p:graphicFrame>
        <p:nvGraphicFramePr>
          <p:cNvPr id="81" name="Chart">
            <a:extLst xmlns:a="http://schemas.openxmlformats.org/drawingml/2006/main">
              <a:ext uri="{FF2B5EF4-FFF2-40B4-BE49-F238E27FC236}">
                <a16:creationId xmlns:a16="http://schemas.microsoft.com/office/drawing/2014/main" id="{222F564E-B6AA-498C-B82E-B54D706982BC}"/>
              </a:ext>
            </a:extLst>
          </p:cNvPr>
          <p:cNvGraphicFramePr/>
          <p:nvPr/>
        </p:nvGraphicFramePr>
        <p:xfrm>
          <a:off xmlns:a="http://schemas.openxmlformats.org/drawingml/2006/main" x="552450" y="2047875"/>
          <a:ext xmlns:a="http://schemas.openxmlformats.org/drawingml/2006/main" cx="7429500" cy="3762375"/>
        </p:xfrm>
        <a:graphic xmlns:a="http://schemas.openxmlformats.org/drawingml/2006/main">
          <a:graphicData uri="http://schemas.openxmlformats.org/drawingml/2006/chart">
            <c:chart xmlns:r="http://schemas.openxmlformats.org/officeDocument/2006/relationships" xmlns:c="http://schemas.openxmlformats.org/drawingml/2006/chart" r:id="R601d76998b404f8c"/>
          </a:graphicData>
        </a:graphic>
      </p:graphicFrame>
      <p:sp>
        <p:nvSpPr>
          <p:cNvPr id="82" name="80,3%">
            <a:extLst xmlns:a="http://schemas.openxmlformats.org/drawingml/2006/main">
              <a:ext uri="{FF2B5EF4-FFF2-40B4-BE49-F238E27FC236}">
                <a16:creationId xmlns:a16="http://schemas.microsoft.com/office/drawing/2014/main" id="{DA264EC3-9CCB-46D2-87F1-8A9B141BB0BA}"/>
              </a:ext>
            </a:extLst>
          </p:cNvPr>
          <p:cNvSpPr>
            <a:spLocks xmlns:a="http://schemas.openxmlformats.org/drawingml/2006/main" noGrp="1"/>
          </p:cNvSpPr>
          <p:nvPr/>
        </p:nvSpPr>
        <p:spPr>
          <a:xfrm xmlns:a="http://schemas.openxmlformats.org/drawingml/2006/main">
            <a:off x="8382000" y="19812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85FA5"/>
                </a:solidFill>
                <a:latin typeface="Trebuchet MS"/>
                <a:ea typeface="Trebuchet MS"/>
                <a:cs typeface="Trebuchet MS"/>
              </a:defRPr>
            </a:defPPr>
            <a:lvl1pPr algn="l">
              <a:defRPr sz="3600" b="1">
                <a:solidFill>
                  <a:srgbClr val="185FA5"/>
                </a:solidFill>
                <a:latin typeface="Trebuchet MS"/>
                <a:ea typeface="Trebuchet MS"/>
                <a:cs typeface="Trebuchet MS"/>
              </a:defRPr>
            </a:lvl1pPr>
            <a:lvl2pPr algn="l">
              <a:defRPr sz="3600" b="1">
                <a:solidFill>
                  <a:srgbClr val="185FA5"/>
                </a:solidFill>
                <a:latin typeface="Trebuchet MS"/>
                <a:ea typeface="Trebuchet MS"/>
                <a:cs typeface="Trebuchet MS"/>
              </a:defRPr>
            </a:lvl2pPr>
            <a:lvl3pPr algn="l">
              <a:defRPr sz="3600" b="1">
                <a:solidFill>
                  <a:srgbClr val="185FA5"/>
                </a:solidFill>
                <a:latin typeface="Trebuchet MS"/>
                <a:ea typeface="Trebuchet MS"/>
                <a:cs typeface="Trebuchet MS"/>
              </a:defRPr>
            </a:lvl3pPr>
            <a:lvl4pPr algn="l">
              <a:defRPr sz="3600" b="1">
                <a:solidFill>
                  <a:srgbClr val="185FA5"/>
                </a:solidFill>
                <a:latin typeface="Trebuchet MS"/>
                <a:ea typeface="Trebuchet MS"/>
                <a:cs typeface="Trebuchet MS"/>
              </a:defRPr>
            </a:lvl4pPr>
            <a:lvl5pPr algn="l">
              <a:defRPr sz="3600" b="1">
                <a:solidFill>
                  <a:srgbClr val="185FA5"/>
                </a:solidFill>
                <a:latin typeface="Trebuchet MS"/>
                <a:ea typeface="Trebuchet MS"/>
                <a:cs typeface="Trebuchet MS"/>
              </a:defRPr>
            </a:lvl5pPr>
            <a:lvl6pPr algn="l">
              <a:defRPr sz="3600" b="1">
                <a:solidFill>
                  <a:srgbClr val="185FA5"/>
                </a:solidFill>
                <a:latin typeface="Trebuchet MS"/>
                <a:ea typeface="Trebuchet MS"/>
                <a:cs typeface="Trebuchet MS"/>
              </a:defRPr>
            </a:lvl6pPr>
            <a:lvl7pPr algn="l">
              <a:defRPr sz="3600" b="1">
                <a:solidFill>
                  <a:srgbClr val="185FA5"/>
                </a:solidFill>
                <a:latin typeface="Trebuchet MS"/>
                <a:ea typeface="Trebuchet MS"/>
                <a:cs typeface="Trebuchet MS"/>
              </a:defRPr>
            </a:lvl7pPr>
            <a:lvl8pPr algn="l">
              <a:defRPr sz="3600" b="1">
                <a:solidFill>
                  <a:srgbClr val="185FA5"/>
                </a:solidFill>
                <a:latin typeface="Trebuchet MS"/>
                <a:ea typeface="Trebuchet MS"/>
                <a:cs typeface="Trebuchet MS"/>
              </a:defRPr>
            </a:lvl8pPr>
            <a:lvl9pPr algn="l">
              <a:defRPr sz="3600" b="1">
                <a:solidFill>
                  <a:srgbClr val="185FA5"/>
                </a:solidFill>
                <a:latin typeface="Trebuchet MS"/>
                <a:ea typeface="Trebuchet MS"/>
                <a:cs typeface="Trebuchet MS"/>
              </a:defRPr>
            </a:lvl9pPr>
          </a:lstStyle>
          <a:p xmlns:a="http://schemas.openxmlformats.org/drawingml/2006/main">
            <a:pPr algn="l">
              <a:defRPr sz="3600" b="1">
                <a:solidFill>
                  <a:srgbClr val="185FA5"/>
                </a:solidFill>
                <a:latin typeface="Trebuchet MS"/>
                <a:ea typeface="Trebuchet MS"/>
                <a:cs typeface="Trebuchet MS"/>
              </a:defRPr>
            </a:pPr>
            <a:r>
              <a:rPr sz="3600" b="1">
                <a:solidFill>
                  <a:srgbClr val="185FA5"/>
                </a:solidFill>
                <a:latin typeface="Trebuchet MS"/>
                <a:ea typeface="Trebuchet MS"/>
                <a:cs typeface="Trebuchet MS"/>
              </a:rPr>
              <a:t>80,3%</a:t>
            </a:r>
          </a:p>
        </p:txBody>
      </p:sp>
      <p:sp>
        <p:nvSpPr>
          <p:cNvPr id="83" name="Sətirlərin bu hissəsində vahid qiymət 5 AZN və ya daha ">
            <a:extLst xmlns:a="http://schemas.openxmlformats.org/drawingml/2006/main">
              <a:ext uri="{FF2B5EF4-FFF2-40B4-BE49-F238E27FC236}">
                <a16:creationId xmlns:a16="http://schemas.microsoft.com/office/drawing/2014/main" id="{66206685-6AD4-4B04-9DF0-0E272CF3932D}"/>
              </a:ext>
            </a:extLst>
          </p:cNvPr>
          <p:cNvSpPr>
            <a:spLocks xmlns:a="http://schemas.openxmlformats.org/drawingml/2006/main" noGrp="1"/>
          </p:cNvSpPr>
          <p:nvPr/>
        </p:nvSpPr>
        <p:spPr>
          <a:xfrm xmlns:a="http://schemas.openxmlformats.org/drawingml/2006/main">
            <a:off x="8382000" y="2705100"/>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Sətirlərin bu hissəsində vahid qiymət 5 AZN və ya daha azdır.</a:t>
            </a:r>
          </a:p>
        </p:txBody>
      </p:sp>
      <p:sp>
        <p:nvSpPr>
          <p:cNvPr id="84" name="24,9%">
            <a:extLst xmlns:a="http://schemas.openxmlformats.org/drawingml/2006/main">
              <a:ext uri="{FF2B5EF4-FFF2-40B4-BE49-F238E27FC236}">
                <a16:creationId xmlns:a16="http://schemas.microsoft.com/office/drawing/2014/main" id="{B0B51848-1955-4904-922F-5976CDE59772}"/>
              </a:ext>
            </a:extLst>
          </p:cNvPr>
          <p:cNvSpPr>
            <a:spLocks xmlns:a="http://schemas.openxmlformats.org/drawingml/2006/main" noGrp="1"/>
          </p:cNvSpPr>
          <p:nvPr/>
        </p:nvSpPr>
        <p:spPr>
          <a:xfrm xmlns:a="http://schemas.openxmlformats.org/drawingml/2006/main">
            <a:off x="8382000" y="393382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D9E75"/>
                </a:solidFill>
                <a:latin typeface="Trebuchet MS"/>
                <a:ea typeface="Trebuchet MS"/>
                <a:cs typeface="Trebuchet MS"/>
              </a:defRPr>
            </a:defPPr>
            <a:lvl1pPr algn="l">
              <a:defRPr sz="3600" b="1">
                <a:solidFill>
                  <a:srgbClr val="1D9E75"/>
                </a:solidFill>
                <a:latin typeface="Trebuchet MS"/>
                <a:ea typeface="Trebuchet MS"/>
                <a:cs typeface="Trebuchet MS"/>
              </a:defRPr>
            </a:lvl1pPr>
            <a:lvl2pPr algn="l">
              <a:defRPr sz="3600" b="1">
                <a:solidFill>
                  <a:srgbClr val="1D9E75"/>
                </a:solidFill>
                <a:latin typeface="Trebuchet MS"/>
                <a:ea typeface="Trebuchet MS"/>
                <a:cs typeface="Trebuchet MS"/>
              </a:defRPr>
            </a:lvl2pPr>
            <a:lvl3pPr algn="l">
              <a:defRPr sz="3600" b="1">
                <a:solidFill>
                  <a:srgbClr val="1D9E75"/>
                </a:solidFill>
                <a:latin typeface="Trebuchet MS"/>
                <a:ea typeface="Trebuchet MS"/>
                <a:cs typeface="Trebuchet MS"/>
              </a:defRPr>
            </a:lvl3pPr>
            <a:lvl4pPr algn="l">
              <a:defRPr sz="3600" b="1">
                <a:solidFill>
                  <a:srgbClr val="1D9E75"/>
                </a:solidFill>
                <a:latin typeface="Trebuchet MS"/>
                <a:ea typeface="Trebuchet MS"/>
                <a:cs typeface="Trebuchet MS"/>
              </a:defRPr>
            </a:lvl4pPr>
            <a:lvl5pPr algn="l">
              <a:defRPr sz="3600" b="1">
                <a:solidFill>
                  <a:srgbClr val="1D9E75"/>
                </a:solidFill>
                <a:latin typeface="Trebuchet MS"/>
                <a:ea typeface="Trebuchet MS"/>
                <a:cs typeface="Trebuchet MS"/>
              </a:defRPr>
            </a:lvl5pPr>
            <a:lvl6pPr algn="l">
              <a:defRPr sz="3600" b="1">
                <a:solidFill>
                  <a:srgbClr val="1D9E75"/>
                </a:solidFill>
                <a:latin typeface="Trebuchet MS"/>
                <a:ea typeface="Trebuchet MS"/>
                <a:cs typeface="Trebuchet MS"/>
              </a:defRPr>
            </a:lvl6pPr>
            <a:lvl7pPr algn="l">
              <a:defRPr sz="3600" b="1">
                <a:solidFill>
                  <a:srgbClr val="1D9E75"/>
                </a:solidFill>
                <a:latin typeface="Trebuchet MS"/>
                <a:ea typeface="Trebuchet MS"/>
                <a:cs typeface="Trebuchet MS"/>
              </a:defRPr>
            </a:lvl7pPr>
            <a:lvl8pPr algn="l">
              <a:defRPr sz="3600" b="1">
                <a:solidFill>
                  <a:srgbClr val="1D9E75"/>
                </a:solidFill>
                <a:latin typeface="Trebuchet MS"/>
                <a:ea typeface="Trebuchet MS"/>
                <a:cs typeface="Trebuchet MS"/>
              </a:defRPr>
            </a:lvl8pPr>
            <a:lvl9pPr algn="l">
              <a:defRPr sz="3600" b="1">
                <a:solidFill>
                  <a:srgbClr val="1D9E75"/>
                </a:solidFill>
                <a:latin typeface="Trebuchet MS"/>
                <a:ea typeface="Trebuchet MS"/>
                <a:cs typeface="Trebuchet MS"/>
              </a:defRPr>
            </a:lvl9pPr>
          </a:lstStyle>
          <a:p xmlns:a="http://schemas.openxmlformats.org/drawingml/2006/main">
            <a:pPr algn="l">
              <a:defRPr sz="3600" b="1">
                <a:solidFill>
                  <a:srgbClr val="1D9E75"/>
                </a:solidFill>
                <a:latin typeface="Trebuchet MS"/>
                <a:ea typeface="Trebuchet MS"/>
                <a:cs typeface="Trebuchet MS"/>
              </a:defRPr>
            </a:pPr>
            <a:r>
              <a:rPr sz="3600" b="1">
                <a:solidFill>
                  <a:srgbClr val="1D9E75"/>
                </a:solidFill>
                <a:latin typeface="Trebuchet MS"/>
                <a:ea typeface="Trebuchet MS"/>
                <a:cs typeface="Trebuchet MS"/>
              </a:rPr>
              <a:t>24,9%</a:t>
            </a:r>
          </a:p>
        </p:txBody>
      </p:sp>
      <p:sp>
        <p:nvSpPr>
          <p:cNvPr id="85" name="Gəlirin bu hissəsini 100 AZN-dən baha məhsullar yaradır">
            <a:extLst xmlns:a="http://schemas.openxmlformats.org/drawingml/2006/main">
              <a:ext uri="{FF2B5EF4-FFF2-40B4-BE49-F238E27FC236}">
                <a16:creationId xmlns:a16="http://schemas.microsoft.com/office/drawing/2014/main" id="{6ED28A2B-803A-48F9-B7ED-7FF994F60186}"/>
              </a:ext>
            </a:extLst>
          </p:cNvPr>
          <p:cNvSpPr>
            <a:spLocks xmlns:a="http://schemas.openxmlformats.org/drawingml/2006/main" noGrp="1"/>
          </p:cNvSpPr>
          <p:nvPr/>
        </p:nvSpPr>
        <p:spPr>
          <a:xfrm xmlns:a="http://schemas.openxmlformats.org/drawingml/2006/main">
            <a:off x="8382000" y="4657725"/>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Gəlirin bu hissəsini 100 AZN-dən baha məhsullar yaradır. Sətir payı cəmi 0,4%-dir.</a:t>
            </a:r>
          </a:p>
        </p:txBody>
      </p:sp>
    </p:spTree>
    <p:extLst>
      <p:ext uri="{BB962C8B-B14F-4D97-AF65-F5344CB8AC3E}">
        <p14:creationId xmlns:p14="http://schemas.microsoft.com/office/powerpoint/2010/main" val="840686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 name="Google Shape;92;p6">
            <a:extLst xmlns:a="http://schemas.openxmlformats.org/drawingml/2006/main">
              <a:ext uri="{FF2B5EF4-FFF2-40B4-BE49-F238E27FC236}">
                <a16:creationId xmlns:a16="http://schemas.microsoft.com/office/drawing/2014/main" id="{3DCAE33C-FE1A-4A40-8DBC-7F9309618304}"/>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85FA5"/>
                </a:solidFill>
                <a:latin typeface="Trebuchet MS"/>
                <a:ea typeface="Trebuchet MS"/>
                <a:cs typeface="Trebuchet MS"/>
              </a:defRPr>
            </a:defPPr>
            <a:lvl1pPr>
              <a:defRPr sz="1250" b="1">
                <a:solidFill>
                  <a:srgbClr val="185FA5"/>
                </a:solidFill>
                <a:latin typeface="Trebuchet MS"/>
                <a:ea typeface="Trebuchet MS"/>
                <a:cs typeface="Trebuchet MS"/>
              </a:defRPr>
            </a:lvl1pPr>
            <a:lvl2pPr>
              <a:defRPr sz="1250" b="1">
                <a:solidFill>
                  <a:srgbClr val="185FA5"/>
                </a:solidFill>
                <a:latin typeface="Trebuchet MS"/>
                <a:ea typeface="Trebuchet MS"/>
                <a:cs typeface="Trebuchet MS"/>
              </a:defRPr>
            </a:lvl2pPr>
            <a:lvl3pPr>
              <a:defRPr sz="1250" b="1">
                <a:solidFill>
                  <a:srgbClr val="185FA5"/>
                </a:solidFill>
                <a:latin typeface="Trebuchet MS"/>
                <a:ea typeface="Trebuchet MS"/>
                <a:cs typeface="Trebuchet MS"/>
              </a:defRPr>
            </a:lvl3pPr>
            <a:lvl4pPr>
              <a:defRPr sz="1250" b="1">
                <a:solidFill>
                  <a:srgbClr val="185FA5"/>
                </a:solidFill>
                <a:latin typeface="Trebuchet MS"/>
                <a:ea typeface="Trebuchet MS"/>
                <a:cs typeface="Trebuchet MS"/>
              </a:defRPr>
            </a:lvl4pPr>
            <a:lvl5pPr>
              <a:defRPr sz="1250" b="1">
                <a:solidFill>
                  <a:srgbClr val="185FA5"/>
                </a:solidFill>
                <a:latin typeface="Trebuchet MS"/>
                <a:ea typeface="Trebuchet MS"/>
                <a:cs typeface="Trebuchet MS"/>
              </a:defRPr>
            </a:lvl5pPr>
            <a:lvl6pPr>
              <a:defRPr sz="1250" b="1">
                <a:solidFill>
                  <a:srgbClr val="185FA5"/>
                </a:solidFill>
                <a:latin typeface="Trebuchet MS"/>
                <a:ea typeface="Trebuchet MS"/>
                <a:cs typeface="Trebuchet MS"/>
              </a:defRPr>
            </a:lvl6pPr>
            <a:lvl7pPr>
              <a:defRPr sz="1250" b="1">
                <a:solidFill>
                  <a:srgbClr val="185FA5"/>
                </a:solidFill>
                <a:latin typeface="Trebuchet MS"/>
                <a:ea typeface="Trebuchet MS"/>
                <a:cs typeface="Trebuchet MS"/>
              </a:defRPr>
            </a:lvl7pPr>
            <a:lvl8pPr>
              <a:defRPr sz="1250" b="1">
                <a:solidFill>
                  <a:srgbClr val="185FA5"/>
                </a:solidFill>
                <a:latin typeface="Trebuchet MS"/>
                <a:ea typeface="Trebuchet MS"/>
                <a:cs typeface="Trebuchet MS"/>
              </a:defRPr>
            </a:lvl8pPr>
            <a:lvl9pPr>
              <a:defRPr sz="1250" b="1">
                <a:solidFill>
                  <a:srgbClr val="185FA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85FA5"/>
              </a:buClr>
              <a:buSzPts val="1250"/>
              <a:buFont typeface="Trebuchet MS"/>
              <a:buNone/>
              <a:defRPr sz="1250" b="1">
                <a:solidFill>
                  <a:srgbClr val="185FA5"/>
                </a:solidFill>
                <a:latin typeface="Trebuchet MS"/>
                <a:ea typeface="Trebuchet MS"/>
                <a:cs typeface="Trebuchet MS"/>
              </a:defRPr>
            </a:pPr>
            <a:r>
              <a:rPr sz="1250" b="1">
                <a:solidFill>
                  <a:srgbClr val="185FA5"/>
                </a:solidFill>
                <a:latin typeface="Trebuchet MS"/>
                <a:ea typeface="Trebuchet MS"/>
                <a:cs typeface="Trebuchet MS"/>
              </a:rPr>
              <a:t>1  DESKRİPTİV TƏHLİL</a:t>
            </a:r>
            <a:endParaRPr sz="1250">
              <a:solidFill>
                <a:schemeClr val="dk1"/>
              </a:solidFill>
              <a:latin typeface="Calibri"/>
              <a:ea typeface="Calibri"/>
              <a:cs typeface="Calibri"/>
            </a:endParaRPr>
          </a:p>
        </p:txBody>
      </p:sp>
      <p:sp>
        <p:nvSpPr>
          <p:cNvPr id="93" name="Google Shape;93;p6">
            <a:extLst xmlns:a="http://schemas.openxmlformats.org/drawingml/2006/main">
              <a:ext uri="{FF2B5EF4-FFF2-40B4-BE49-F238E27FC236}">
                <a16:creationId xmlns:a16="http://schemas.microsoft.com/office/drawing/2014/main" id="{C8261930-F092-4A18-B1D5-226DCFAFAD01}"/>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Məhsul adları üzrə satış tezliyi</a:t>
            </a:r>
            <a:endParaRPr sz="2900">
              <a:solidFill>
                <a:schemeClr val="dk1"/>
              </a:solidFill>
              <a:latin typeface="Calibri"/>
              <a:ea typeface="Calibri"/>
              <a:cs typeface="Calibri"/>
            </a:endParaRPr>
          </a:p>
        </p:txBody>
      </p:sp>
      <p:sp>
        <p:nvSpPr>
          <p:cNvPr id="94" name="Ən çox görünən 7 konkret məhsul adı, min sətir">
            <a:extLst xmlns:a="http://schemas.openxmlformats.org/drawingml/2006/main">
              <a:ext uri="{FF2B5EF4-FFF2-40B4-BE49-F238E27FC236}">
                <a16:creationId xmlns:a16="http://schemas.microsoft.com/office/drawing/2014/main" id="{C1CCE00F-8F62-473A-956E-316031C5B79D}"/>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Ən çox görünən 7 konkret məhsul adı, min sətir</a:t>
            </a:r>
          </a:p>
        </p:txBody>
      </p:sp>
      <p:graphicFrame>
        <p:nvGraphicFramePr>
          <p:cNvPr id="95" name="Chart">
            <a:extLst xmlns:a="http://schemas.openxmlformats.org/drawingml/2006/main">
              <a:ext uri="{FF2B5EF4-FFF2-40B4-BE49-F238E27FC236}">
                <a16:creationId xmlns:a16="http://schemas.microsoft.com/office/drawing/2014/main" id="{2A19308A-FFF3-4D95-B1AB-49C8466D3073}"/>
              </a:ext>
            </a:extLst>
          </p:cNvPr>
          <p:cNvGraphicFramePr/>
          <p:nvPr/>
        </p:nvGraphicFramePr>
        <p:xfrm>
          <a:off xmlns:a="http://schemas.openxmlformats.org/drawingml/2006/main" x="571500" y="1952625"/>
          <a:ext xmlns:a="http://schemas.openxmlformats.org/drawingml/2006/main" cx="7477125" cy="3905250"/>
        </p:xfrm>
        <a:graphic xmlns:a="http://schemas.openxmlformats.org/drawingml/2006/main">
          <a:graphicData uri="http://schemas.openxmlformats.org/drawingml/2006/chart">
            <c:chart xmlns:r="http://schemas.openxmlformats.org/officeDocument/2006/relationships" xmlns:c="http://schemas.openxmlformats.org/drawingml/2006/chart" r:id="R41888b19c709437c"/>
          </a:graphicData>
        </a:graphic>
      </p:graphicFrame>
      <p:sp>
        <p:nvSpPr>
          <p:cNvPr id="96" name="10,4%">
            <a:extLst xmlns:a="http://schemas.openxmlformats.org/drawingml/2006/main">
              <a:ext uri="{FF2B5EF4-FFF2-40B4-BE49-F238E27FC236}">
                <a16:creationId xmlns:a16="http://schemas.microsoft.com/office/drawing/2014/main" id="{1A2BA375-8087-4D05-A812-D08A544F2235}"/>
              </a:ext>
            </a:extLst>
          </p:cNvPr>
          <p:cNvSpPr>
            <a:spLocks xmlns:a="http://schemas.openxmlformats.org/drawingml/2006/main" noGrp="1"/>
          </p:cNvSpPr>
          <p:nvPr/>
        </p:nvSpPr>
        <p:spPr>
          <a:xfrm xmlns:a="http://schemas.openxmlformats.org/drawingml/2006/main">
            <a:off x="8524875" y="2000250"/>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85FA5"/>
                </a:solidFill>
                <a:latin typeface="Trebuchet MS"/>
                <a:ea typeface="Trebuchet MS"/>
                <a:cs typeface="Trebuchet MS"/>
              </a:defRPr>
            </a:defPPr>
            <a:lvl1pPr algn="l">
              <a:defRPr sz="3600" b="1">
                <a:solidFill>
                  <a:srgbClr val="185FA5"/>
                </a:solidFill>
                <a:latin typeface="Trebuchet MS"/>
                <a:ea typeface="Trebuchet MS"/>
                <a:cs typeface="Trebuchet MS"/>
              </a:defRPr>
            </a:lvl1pPr>
            <a:lvl2pPr algn="l">
              <a:defRPr sz="3600" b="1">
                <a:solidFill>
                  <a:srgbClr val="185FA5"/>
                </a:solidFill>
                <a:latin typeface="Trebuchet MS"/>
                <a:ea typeface="Trebuchet MS"/>
                <a:cs typeface="Trebuchet MS"/>
              </a:defRPr>
            </a:lvl2pPr>
            <a:lvl3pPr algn="l">
              <a:defRPr sz="3600" b="1">
                <a:solidFill>
                  <a:srgbClr val="185FA5"/>
                </a:solidFill>
                <a:latin typeface="Trebuchet MS"/>
                <a:ea typeface="Trebuchet MS"/>
                <a:cs typeface="Trebuchet MS"/>
              </a:defRPr>
            </a:lvl3pPr>
            <a:lvl4pPr algn="l">
              <a:defRPr sz="3600" b="1">
                <a:solidFill>
                  <a:srgbClr val="185FA5"/>
                </a:solidFill>
                <a:latin typeface="Trebuchet MS"/>
                <a:ea typeface="Trebuchet MS"/>
                <a:cs typeface="Trebuchet MS"/>
              </a:defRPr>
            </a:lvl4pPr>
            <a:lvl5pPr algn="l">
              <a:defRPr sz="3600" b="1">
                <a:solidFill>
                  <a:srgbClr val="185FA5"/>
                </a:solidFill>
                <a:latin typeface="Trebuchet MS"/>
                <a:ea typeface="Trebuchet MS"/>
                <a:cs typeface="Trebuchet MS"/>
              </a:defRPr>
            </a:lvl5pPr>
            <a:lvl6pPr algn="l">
              <a:defRPr sz="3600" b="1">
                <a:solidFill>
                  <a:srgbClr val="185FA5"/>
                </a:solidFill>
                <a:latin typeface="Trebuchet MS"/>
                <a:ea typeface="Trebuchet MS"/>
                <a:cs typeface="Trebuchet MS"/>
              </a:defRPr>
            </a:lvl6pPr>
            <a:lvl7pPr algn="l">
              <a:defRPr sz="3600" b="1">
                <a:solidFill>
                  <a:srgbClr val="185FA5"/>
                </a:solidFill>
                <a:latin typeface="Trebuchet MS"/>
                <a:ea typeface="Trebuchet MS"/>
                <a:cs typeface="Trebuchet MS"/>
              </a:defRPr>
            </a:lvl7pPr>
            <a:lvl8pPr algn="l">
              <a:defRPr sz="3600" b="1">
                <a:solidFill>
                  <a:srgbClr val="185FA5"/>
                </a:solidFill>
                <a:latin typeface="Trebuchet MS"/>
                <a:ea typeface="Trebuchet MS"/>
                <a:cs typeface="Trebuchet MS"/>
              </a:defRPr>
            </a:lvl8pPr>
            <a:lvl9pPr algn="l">
              <a:defRPr sz="3600" b="1">
                <a:solidFill>
                  <a:srgbClr val="185FA5"/>
                </a:solidFill>
                <a:latin typeface="Trebuchet MS"/>
                <a:ea typeface="Trebuchet MS"/>
                <a:cs typeface="Trebuchet MS"/>
              </a:defRPr>
            </a:lvl9pPr>
          </a:lstStyle>
          <a:p xmlns:a="http://schemas.openxmlformats.org/drawingml/2006/main">
            <a:pPr algn="l">
              <a:defRPr sz="3600" b="1">
                <a:solidFill>
                  <a:srgbClr val="185FA5"/>
                </a:solidFill>
                <a:latin typeface="Trebuchet MS"/>
                <a:ea typeface="Trebuchet MS"/>
                <a:cs typeface="Trebuchet MS"/>
              </a:defRPr>
            </a:pPr>
            <a:r>
              <a:rPr sz="3600" b="1">
                <a:solidFill>
                  <a:srgbClr val="185FA5"/>
                </a:solidFill>
                <a:latin typeface="Trebuchet MS"/>
                <a:ea typeface="Trebuchet MS"/>
                <a:cs typeface="Trebuchet MS"/>
              </a:rPr>
              <a:t>10,4%</a:t>
            </a:r>
          </a:p>
        </p:txBody>
      </p:sp>
      <p:sp>
        <p:nvSpPr>
          <p:cNvPr id="97" name="Konkret məhsul adları üzrə ilk 100 adın sətir payı">
            <a:extLst xmlns:a="http://schemas.openxmlformats.org/drawingml/2006/main">
              <a:ext uri="{FF2B5EF4-FFF2-40B4-BE49-F238E27FC236}">
                <a16:creationId xmlns:a16="http://schemas.microsoft.com/office/drawing/2014/main" id="{FF8EEE50-973B-47CB-9D2A-24140435D4B7}"/>
              </a:ext>
            </a:extLst>
          </p:cNvPr>
          <p:cNvSpPr>
            <a:spLocks xmlns:a="http://schemas.openxmlformats.org/drawingml/2006/main" noGrp="1"/>
          </p:cNvSpPr>
          <p:nvPr/>
        </p:nvSpPr>
        <p:spPr>
          <a:xfrm xmlns:a="http://schemas.openxmlformats.org/drawingml/2006/main">
            <a:off x="8524875" y="2724150"/>
            <a:ext cx="295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Konkret məhsul adları üzrə ilk 100 adın sətir payı</a:t>
            </a:r>
          </a:p>
        </p:txBody>
      </p:sp>
      <p:sp>
        <p:nvSpPr>
          <p:cNvPr id="98" name="Adların parçalanması">
            <a:extLst xmlns:a="http://schemas.openxmlformats.org/drawingml/2006/main">
              <a:ext uri="{FF2B5EF4-FFF2-40B4-BE49-F238E27FC236}">
                <a16:creationId xmlns:a16="http://schemas.microsoft.com/office/drawing/2014/main" id="{8ADF3C53-C4B1-41CB-AE91-E7656BFD6A78}"/>
              </a:ext>
            </a:extLst>
          </p:cNvPr>
          <p:cNvSpPr>
            <a:spLocks xmlns:a="http://schemas.openxmlformats.org/drawingml/2006/main" noGrp="1"/>
          </p:cNvSpPr>
          <p:nvPr/>
        </p:nvSpPr>
        <p:spPr>
          <a:xfrm xmlns:a="http://schemas.openxmlformats.org/drawingml/2006/main">
            <a:off x="8524875" y="40481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D4537E"/>
                </a:solidFill>
                <a:latin typeface="Trebuchet MS"/>
                <a:ea typeface="Trebuchet MS"/>
                <a:cs typeface="Trebuchet MS"/>
              </a:defRPr>
            </a:defPPr>
            <a:lvl1pPr algn="l">
              <a:defRPr sz="1950" b="1">
                <a:solidFill>
                  <a:srgbClr val="D4537E"/>
                </a:solidFill>
                <a:latin typeface="Trebuchet MS"/>
                <a:ea typeface="Trebuchet MS"/>
                <a:cs typeface="Trebuchet MS"/>
              </a:defRPr>
            </a:lvl1pPr>
            <a:lvl2pPr algn="l">
              <a:defRPr sz="1950" b="1">
                <a:solidFill>
                  <a:srgbClr val="D4537E"/>
                </a:solidFill>
                <a:latin typeface="Trebuchet MS"/>
                <a:ea typeface="Trebuchet MS"/>
                <a:cs typeface="Trebuchet MS"/>
              </a:defRPr>
            </a:lvl2pPr>
            <a:lvl3pPr algn="l">
              <a:defRPr sz="1950" b="1">
                <a:solidFill>
                  <a:srgbClr val="D4537E"/>
                </a:solidFill>
                <a:latin typeface="Trebuchet MS"/>
                <a:ea typeface="Trebuchet MS"/>
                <a:cs typeface="Trebuchet MS"/>
              </a:defRPr>
            </a:lvl3pPr>
            <a:lvl4pPr algn="l">
              <a:defRPr sz="1950" b="1">
                <a:solidFill>
                  <a:srgbClr val="D4537E"/>
                </a:solidFill>
                <a:latin typeface="Trebuchet MS"/>
                <a:ea typeface="Trebuchet MS"/>
                <a:cs typeface="Trebuchet MS"/>
              </a:defRPr>
            </a:lvl4pPr>
            <a:lvl5pPr algn="l">
              <a:defRPr sz="1950" b="1">
                <a:solidFill>
                  <a:srgbClr val="D4537E"/>
                </a:solidFill>
                <a:latin typeface="Trebuchet MS"/>
                <a:ea typeface="Trebuchet MS"/>
                <a:cs typeface="Trebuchet MS"/>
              </a:defRPr>
            </a:lvl5pPr>
            <a:lvl6pPr algn="l">
              <a:defRPr sz="1950" b="1">
                <a:solidFill>
                  <a:srgbClr val="D4537E"/>
                </a:solidFill>
                <a:latin typeface="Trebuchet MS"/>
                <a:ea typeface="Trebuchet MS"/>
                <a:cs typeface="Trebuchet MS"/>
              </a:defRPr>
            </a:lvl6pPr>
            <a:lvl7pPr algn="l">
              <a:defRPr sz="1950" b="1">
                <a:solidFill>
                  <a:srgbClr val="D4537E"/>
                </a:solidFill>
                <a:latin typeface="Trebuchet MS"/>
                <a:ea typeface="Trebuchet MS"/>
                <a:cs typeface="Trebuchet MS"/>
              </a:defRPr>
            </a:lvl7pPr>
            <a:lvl8pPr algn="l">
              <a:defRPr sz="1950" b="1">
                <a:solidFill>
                  <a:srgbClr val="D4537E"/>
                </a:solidFill>
                <a:latin typeface="Trebuchet MS"/>
                <a:ea typeface="Trebuchet MS"/>
                <a:cs typeface="Trebuchet MS"/>
              </a:defRPr>
            </a:lvl8pPr>
            <a:lvl9pPr algn="l">
              <a:defRPr sz="1950" b="1">
                <a:solidFill>
                  <a:srgbClr val="D4537E"/>
                </a:solidFill>
                <a:latin typeface="Trebuchet MS"/>
                <a:ea typeface="Trebuchet MS"/>
                <a:cs typeface="Trebuchet MS"/>
              </a:defRPr>
            </a:lvl9pPr>
          </a:lstStyle>
          <a:p xmlns:a="http://schemas.openxmlformats.org/drawingml/2006/main">
            <a:pPr algn="l">
              <a:defRPr sz="1950" b="1">
                <a:solidFill>
                  <a:srgbClr val="D4537E"/>
                </a:solidFill>
                <a:latin typeface="Trebuchet MS"/>
                <a:ea typeface="Trebuchet MS"/>
                <a:cs typeface="Trebuchet MS"/>
              </a:defRPr>
            </a:pPr>
            <a:r>
              <a:rPr sz="1950" b="1">
                <a:solidFill>
                  <a:srgbClr val="D4537E"/>
                </a:solidFill>
                <a:latin typeface="Trebuchet MS"/>
                <a:ea typeface="Trebuchet MS"/>
                <a:cs typeface="Trebuchet MS"/>
              </a:rPr>
              <a:t>Adların parçalanması</a:t>
            </a:r>
          </a:p>
        </p:txBody>
      </p:sp>
      <p:sp>
        <p:nvSpPr>
          <p:cNvPr id="99" name="659 558 konkret məhsul adı var. Eyni məhsulun fərqli ya">
            <a:extLst xmlns:a="http://schemas.openxmlformats.org/drawingml/2006/main">
              <a:ext uri="{FF2B5EF4-FFF2-40B4-BE49-F238E27FC236}">
                <a16:creationId xmlns:a16="http://schemas.microsoft.com/office/drawing/2014/main" id="{184C55EF-3454-41E5-8BE3-0E72B163A25F}"/>
              </a:ext>
            </a:extLst>
          </p:cNvPr>
          <p:cNvSpPr>
            <a:spLocks xmlns:a="http://schemas.openxmlformats.org/drawingml/2006/main" noGrp="1"/>
          </p:cNvSpPr>
          <p:nvPr/>
        </p:nvSpPr>
        <p:spPr>
          <a:xfrm xmlns:a="http://schemas.openxmlformats.org/drawingml/2006/main">
            <a:off x="8524875" y="4514850"/>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659 558 konkret məhsul adı var. Eyni məhsulun fərqli yazılışları ayrıca sayılır.</a:t>
            </a:r>
          </a:p>
        </p:txBody>
      </p:sp>
    </p:spTree>
    <p:extLst>
      <p:ext uri="{BB962C8B-B14F-4D97-AF65-F5344CB8AC3E}">
        <p14:creationId xmlns:p14="http://schemas.microsoft.com/office/powerpoint/2010/main" val="4216647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 name="Google Shape;106;p7">
            <a:extLst xmlns:a="http://schemas.openxmlformats.org/drawingml/2006/main">
              <a:ext uri="{FF2B5EF4-FFF2-40B4-BE49-F238E27FC236}">
                <a16:creationId xmlns:a16="http://schemas.microsoft.com/office/drawing/2014/main" id="{09F856D9-85F6-4D50-92D4-4EEF70293F26}"/>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85FA5"/>
                </a:solidFill>
                <a:latin typeface="Trebuchet MS"/>
                <a:ea typeface="Trebuchet MS"/>
                <a:cs typeface="Trebuchet MS"/>
              </a:defRPr>
            </a:defPPr>
            <a:lvl1pPr>
              <a:defRPr sz="1250" b="1">
                <a:solidFill>
                  <a:srgbClr val="185FA5"/>
                </a:solidFill>
                <a:latin typeface="Trebuchet MS"/>
                <a:ea typeface="Trebuchet MS"/>
                <a:cs typeface="Trebuchet MS"/>
              </a:defRPr>
            </a:lvl1pPr>
            <a:lvl2pPr>
              <a:defRPr sz="1250" b="1">
                <a:solidFill>
                  <a:srgbClr val="185FA5"/>
                </a:solidFill>
                <a:latin typeface="Trebuchet MS"/>
                <a:ea typeface="Trebuchet MS"/>
                <a:cs typeface="Trebuchet MS"/>
              </a:defRPr>
            </a:lvl2pPr>
            <a:lvl3pPr>
              <a:defRPr sz="1250" b="1">
                <a:solidFill>
                  <a:srgbClr val="185FA5"/>
                </a:solidFill>
                <a:latin typeface="Trebuchet MS"/>
                <a:ea typeface="Trebuchet MS"/>
                <a:cs typeface="Trebuchet MS"/>
              </a:defRPr>
            </a:lvl3pPr>
            <a:lvl4pPr>
              <a:defRPr sz="1250" b="1">
                <a:solidFill>
                  <a:srgbClr val="185FA5"/>
                </a:solidFill>
                <a:latin typeface="Trebuchet MS"/>
                <a:ea typeface="Trebuchet MS"/>
                <a:cs typeface="Trebuchet MS"/>
              </a:defRPr>
            </a:lvl4pPr>
            <a:lvl5pPr>
              <a:defRPr sz="1250" b="1">
                <a:solidFill>
                  <a:srgbClr val="185FA5"/>
                </a:solidFill>
                <a:latin typeface="Trebuchet MS"/>
                <a:ea typeface="Trebuchet MS"/>
                <a:cs typeface="Trebuchet MS"/>
              </a:defRPr>
            </a:lvl5pPr>
            <a:lvl6pPr>
              <a:defRPr sz="1250" b="1">
                <a:solidFill>
                  <a:srgbClr val="185FA5"/>
                </a:solidFill>
                <a:latin typeface="Trebuchet MS"/>
                <a:ea typeface="Trebuchet MS"/>
                <a:cs typeface="Trebuchet MS"/>
              </a:defRPr>
            </a:lvl6pPr>
            <a:lvl7pPr>
              <a:defRPr sz="1250" b="1">
                <a:solidFill>
                  <a:srgbClr val="185FA5"/>
                </a:solidFill>
                <a:latin typeface="Trebuchet MS"/>
                <a:ea typeface="Trebuchet MS"/>
                <a:cs typeface="Trebuchet MS"/>
              </a:defRPr>
            </a:lvl7pPr>
            <a:lvl8pPr>
              <a:defRPr sz="1250" b="1">
                <a:solidFill>
                  <a:srgbClr val="185FA5"/>
                </a:solidFill>
                <a:latin typeface="Trebuchet MS"/>
                <a:ea typeface="Trebuchet MS"/>
                <a:cs typeface="Trebuchet MS"/>
              </a:defRPr>
            </a:lvl8pPr>
            <a:lvl9pPr>
              <a:defRPr sz="1250" b="1">
                <a:solidFill>
                  <a:srgbClr val="185FA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85FA5"/>
              </a:buClr>
              <a:buSzPts val="1250"/>
              <a:buFont typeface="Trebuchet MS"/>
              <a:buNone/>
              <a:defRPr sz="1250" b="1">
                <a:solidFill>
                  <a:srgbClr val="185FA5"/>
                </a:solidFill>
                <a:latin typeface="Trebuchet MS"/>
                <a:ea typeface="Trebuchet MS"/>
                <a:cs typeface="Trebuchet MS"/>
              </a:defRPr>
            </a:pPr>
            <a:r>
              <a:rPr sz="1250" b="1">
                <a:solidFill>
                  <a:srgbClr val="185FA5"/>
                </a:solidFill>
                <a:latin typeface="Trebuchet MS"/>
                <a:ea typeface="Trebuchet MS"/>
                <a:cs typeface="Trebuchet MS"/>
              </a:rPr>
              <a:t>1  DESKRİPTİV TƏHLİL</a:t>
            </a:r>
            <a:endParaRPr sz="1250">
              <a:solidFill>
                <a:schemeClr val="dk1"/>
              </a:solidFill>
              <a:latin typeface="Calibri"/>
              <a:ea typeface="Calibri"/>
              <a:cs typeface="Calibri"/>
            </a:endParaRPr>
          </a:p>
        </p:txBody>
      </p:sp>
      <p:sp>
        <p:nvSpPr>
          <p:cNvPr id="107" name="Google Shape;107;p7">
            <a:extLst xmlns:a="http://schemas.openxmlformats.org/drawingml/2006/main">
              <a:ext uri="{FF2B5EF4-FFF2-40B4-BE49-F238E27FC236}">
                <a16:creationId xmlns:a16="http://schemas.microsoft.com/office/drawing/2014/main" id="{78B67338-CC2E-487E-A994-5D301666168F}"/>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İlk 10% POS adı gəlirin 70,6%-ni toplayır</a:t>
            </a:r>
            <a:endParaRPr sz="2900">
              <a:solidFill>
                <a:schemeClr val="dk1"/>
              </a:solidFill>
              <a:latin typeface="Calibri"/>
              <a:ea typeface="Calibri"/>
              <a:cs typeface="Calibri"/>
            </a:endParaRPr>
          </a:p>
        </p:txBody>
      </p:sp>
      <p:sp>
        <p:nvSpPr>
          <p:cNvPr id="110" name="Google Shape;110;p7">
            <a:extLst xmlns:a="http://schemas.openxmlformats.org/drawingml/2006/main">
              <a:ext uri="{FF2B5EF4-FFF2-40B4-BE49-F238E27FC236}">
                <a16:creationId xmlns:a16="http://schemas.microsoft.com/office/drawing/2014/main" id="{F9D631EF-54B4-4A96-8247-CB39643FB48D}"/>
              </a:ext>
            </a:extLst>
          </p:cNvPr>
          <p:cNvSpPr>
            <a:spLocks xmlns:a="http://schemas.openxmlformats.org/drawingml/2006/main" noGrp="1"/>
          </p:cNvSpPr>
          <p:nvPr/>
        </p:nvSpPr>
        <p:spPr>
          <a:xfrm xmlns:a="http://schemas.openxmlformats.org/drawingml/2006/main">
            <a:off x="566928" y="6053328"/>
            <a:ext cx="11055096" cy="566928"/>
          </a:xfrm>
          <a:prstGeom xmlns:a="http://schemas.openxmlformats.org/drawingml/2006/main" prst="rect">
            <a:avLst/>
          </a:prstGeom>
          <a:solidFill xmlns:a="http://schemas.openxmlformats.org/drawingml/2006/main">
            <a:srgbClr val="F4F7F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1" name="Google Shape;111;p7">
            <a:extLst xmlns:a="http://schemas.openxmlformats.org/drawingml/2006/main">
              <a:ext uri="{FF2B5EF4-FFF2-40B4-BE49-F238E27FC236}">
                <a16:creationId xmlns:a16="http://schemas.microsoft.com/office/drawing/2014/main" id="{4332053E-7A4C-4EAE-8B35-4924F004553D}"/>
              </a:ext>
            </a:extLst>
          </p:cNvPr>
          <p:cNvSpPr>
            <a:spLocks xmlns:a="http://schemas.openxmlformats.org/drawingml/2006/main" noGrp="1"/>
          </p:cNvSpPr>
          <p:nvPr/>
        </p:nvSpPr>
        <p:spPr>
          <a:xfrm xmlns:a="http://schemas.openxmlformats.org/drawingml/2006/main">
            <a:off x="868680" y="6053328"/>
            <a:ext cx="106070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142875" rIns="0" bIns="0" anchor="ctr">
            <a:noAutofit/>
          </a:bodyPr>
          <a:lstStyle xmlns:a="http://schemas.openxmlformats.org/drawingml/2006/main">
            <a:defPPr>
              <a:defRPr sz="1448">
                <a:solidFill>
                  <a:srgbClr val="185FA5"/>
                </a:solidFill>
                <a:latin typeface="Calibri"/>
                <a:ea typeface="Calibri"/>
                <a:cs typeface="Calibri"/>
              </a:defRPr>
            </a:defPPr>
            <a:lvl1pPr>
              <a:defRPr sz="1448">
                <a:solidFill>
                  <a:srgbClr val="185FA5"/>
                </a:solidFill>
                <a:latin typeface="Calibri"/>
                <a:ea typeface="Calibri"/>
                <a:cs typeface="Calibri"/>
              </a:defRPr>
            </a:lvl1pPr>
            <a:lvl2pPr>
              <a:defRPr sz="1448">
                <a:solidFill>
                  <a:srgbClr val="185FA5"/>
                </a:solidFill>
                <a:latin typeface="Calibri"/>
                <a:ea typeface="Calibri"/>
                <a:cs typeface="Calibri"/>
              </a:defRPr>
            </a:lvl2pPr>
            <a:lvl3pPr>
              <a:defRPr sz="1448">
                <a:solidFill>
                  <a:srgbClr val="185FA5"/>
                </a:solidFill>
                <a:latin typeface="Calibri"/>
                <a:ea typeface="Calibri"/>
                <a:cs typeface="Calibri"/>
              </a:defRPr>
            </a:lvl3pPr>
            <a:lvl4pPr>
              <a:defRPr sz="1448">
                <a:solidFill>
                  <a:srgbClr val="185FA5"/>
                </a:solidFill>
                <a:latin typeface="Calibri"/>
                <a:ea typeface="Calibri"/>
                <a:cs typeface="Calibri"/>
              </a:defRPr>
            </a:lvl4pPr>
            <a:lvl5pPr>
              <a:defRPr sz="1448">
                <a:solidFill>
                  <a:srgbClr val="185FA5"/>
                </a:solidFill>
                <a:latin typeface="Calibri"/>
                <a:ea typeface="Calibri"/>
                <a:cs typeface="Calibri"/>
              </a:defRPr>
            </a:lvl5pPr>
            <a:lvl6pPr>
              <a:defRPr sz="1448">
                <a:solidFill>
                  <a:srgbClr val="185FA5"/>
                </a:solidFill>
                <a:latin typeface="Calibri"/>
                <a:ea typeface="Calibri"/>
                <a:cs typeface="Calibri"/>
              </a:defRPr>
            </a:lvl6pPr>
            <a:lvl7pPr>
              <a:defRPr sz="1448">
                <a:solidFill>
                  <a:srgbClr val="185FA5"/>
                </a:solidFill>
                <a:latin typeface="Calibri"/>
                <a:ea typeface="Calibri"/>
                <a:cs typeface="Calibri"/>
              </a:defRPr>
            </a:lvl7pPr>
            <a:lvl8pPr>
              <a:defRPr sz="1448">
                <a:solidFill>
                  <a:srgbClr val="185FA5"/>
                </a:solidFill>
                <a:latin typeface="Calibri"/>
                <a:ea typeface="Calibri"/>
                <a:cs typeface="Calibri"/>
              </a:defRPr>
            </a:lvl8pPr>
            <a:lvl9pPr>
              <a:defRPr sz="1448">
                <a:solidFill>
                  <a:srgbClr val="185FA5"/>
                </a:solidFill>
                <a:latin typeface="Calibri"/>
                <a:ea typeface="Calibri"/>
                <a:cs typeface="Calibri"/>
              </a:defRPr>
            </a:lvl9pPr>
          </a:lstStyle>
          <a:p xmlns:a="http://schemas.openxmlformats.org/drawingml/2006/main">
            <a:pPr marL="0" marR="0" lvl="0" indent="0" algn="l">
              <a:spcBef>
                <a:spcPts val="0"/>
              </a:spcBef>
              <a:spcAft>
                <a:spcPts val="0"/>
              </a:spcAft>
              <a:buClr>
                <a:srgbClr val="1D9E75"/>
              </a:buClr>
              <a:buSzPts val="1350"/>
              <a:buFont typeface="Calibri"/>
              <a:buNone/>
              <a:defRPr sz="1448">
                <a:solidFill>
                  <a:srgbClr val="185FA5"/>
                </a:solidFill>
                <a:latin typeface="Calibri"/>
                <a:ea typeface="Calibri"/>
                <a:cs typeface="Calibri"/>
              </a:defRPr>
            </a:pPr>
            <a:r>
              <a:rPr sz="1448" b="1">
                <a:solidFill>
                  <a:srgbClr val="185FA5"/>
                </a:solidFill>
                <a:latin typeface="Calibri"/>
                <a:ea typeface="Calibri"/>
                <a:cs typeface="Calibri"/>
              </a:rPr>
              <a:t>NƏTİCƏ: Gəlir az sayda adda cəmləşir. Bu, mağaza səviyyəsində bazar payı deyil.</a:t>
            </a:r>
            <a:endParaRPr sz="1350">
              <a:solidFill>
                <a:schemeClr val="dk1"/>
              </a:solidFill>
              <a:latin typeface="Calibri"/>
              <a:ea typeface="Calibri"/>
              <a:cs typeface="Calibri"/>
            </a:endParaRPr>
          </a:p>
        </p:txBody>
      </p:sp>
      <p:sp>
        <p:nvSpPr>
          <p:cNvPr id="112" name="Yalnız konkret adı olan 4 162 normallaşdırılmış POS adı">
            <a:extLst xmlns:a="http://schemas.openxmlformats.org/drawingml/2006/main">
              <a:ext uri="{FF2B5EF4-FFF2-40B4-BE49-F238E27FC236}">
                <a16:creationId xmlns:a16="http://schemas.microsoft.com/office/drawing/2014/main" id="{E4D22995-2BF1-46B0-93D4-00097027D35C}"/>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Yalnız konkret adı olan 4 162 normallaşdırılmış POS adı üzrə</a:t>
            </a:r>
          </a:p>
        </p:txBody>
      </p:sp>
      <p:graphicFrame>
        <p:nvGraphicFramePr>
          <p:cNvPr id="113" name="Chart">
            <a:extLst xmlns:a="http://schemas.openxmlformats.org/drawingml/2006/main">
              <a:ext uri="{FF2B5EF4-FFF2-40B4-BE49-F238E27FC236}">
                <a16:creationId xmlns:a16="http://schemas.microsoft.com/office/drawing/2014/main" id="{97B3F96D-2A2D-43A5-B1EB-5E65F400423A}"/>
              </a:ext>
            </a:extLst>
          </p:cNvPr>
          <p:cNvGraphicFramePr/>
          <p:nvPr/>
        </p:nvGraphicFramePr>
        <p:xfrm>
          <a:off xmlns:a="http://schemas.openxmlformats.org/drawingml/2006/main" x="571500" y="2105025"/>
          <a:ext xmlns:a="http://schemas.openxmlformats.org/drawingml/2006/main" cx="7096125" cy="3429000"/>
        </p:xfrm>
        <a:graphic xmlns:a="http://schemas.openxmlformats.org/drawingml/2006/main">
          <a:graphicData uri="http://schemas.openxmlformats.org/drawingml/2006/chart">
            <c:chart xmlns:r="http://schemas.openxmlformats.org/officeDocument/2006/relationships" xmlns:c="http://schemas.openxmlformats.org/drawingml/2006/chart" r:id="R5747ab6cec394cca"/>
          </a:graphicData>
        </a:graphic>
      </p:graphicFrame>
      <p:sp>
        <p:nvSpPr>
          <p:cNvPr id="114" name="37,5%">
            <a:extLst xmlns:a="http://schemas.openxmlformats.org/drawingml/2006/main">
              <a:ext uri="{FF2B5EF4-FFF2-40B4-BE49-F238E27FC236}">
                <a16:creationId xmlns:a16="http://schemas.microsoft.com/office/drawing/2014/main" id="{046B41C5-396C-4211-9064-181FB89A8C11}"/>
              </a:ext>
            </a:extLst>
          </p:cNvPr>
          <p:cNvSpPr>
            <a:spLocks xmlns:a="http://schemas.openxmlformats.org/drawingml/2006/main" noGrp="1"/>
          </p:cNvSpPr>
          <p:nvPr/>
        </p:nvSpPr>
        <p:spPr>
          <a:xfrm xmlns:a="http://schemas.openxmlformats.org/drawingml/2006/main">
            <a:off x="8334375" y="20097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85FA5"/>
                </a:solidFill>
                <a:latin typeface="Trebuchet MS"/>
                <a:ea typeface="Trebuchet MS"/>
                <a:cs typeface="Trebuchet MS"/>
              </a:defRPr>
            </a:defPPr>
            <a:lvl1pPr algn="l">
              <a:defRPr sz="3600" b="1">
                <a:solidFill>
                  <a:srgbClr val="185FA5"/>
                </a:solidFill>
                <a:latin typeface="Trebuchet MS"/>
                <a:ea typeface="Trebuchet MS"/>
                <a:cs typeface="Trebuchet MS"/>
              </a:defRPr>
            </a:lvl1pPr>
            <a:lvl2pPr algn="l">
              <a:defRPr sz="3600" b="1">
                <a:solidFill>
                  <a:srgbClr val="185FA5"/>
                </a:solidFill>
                <a:latin typeface="Trebuchet MS"/>
                <a:ea typeface="Trebuchet MS"/>
                <a:cs typeface="Trebuchet MS"/>
              </a:defRPr>
            </a:lvl2pPr>
            <a:lvl3pPr algn="l">
              <a:defRPr sz="3600" b="1">
                <a:solidFill>
                  <a:srgbClr val="185FA5"/>
                </a:solidFill>
                <a:latin typeface="Trebuchet MS"/>
                <a:ea typeface="Trebuchet MS"/>
                <a:cs typeface="Trebuchet MS"/>
              </a:defRPr>
            </a:lvl3pPr>
            <a:lvl4pPr algn="l">
              <a:defRPr sz="3600" b="1">
                <a:solidFill>
                  <a:srgbClr val="185FA5"/>
                </a:solidFill>
                <a:latin typeface="Trebuchet MS"/>
                <a:ea typeface="Trebuchet MS"/>
                <a:cs typeface="Trebuchet MS"/>
              </a:defRPr>
            </a:lvl4pPr>
            <a:lvl5pPr algn="l">
              <a:defRPr sz="3600" b="1">
                <a:solidFill>
                  <a:srgbClr val="185FA5"/>
                </a:solidFill>
                <a:latin typeface="Trebuchet MS"/>
                <a:ea typeface="Trebuchet MS"/>
                <a:cs typeface="Trebuchet MS"/>
              </a:defRPr>
            </a:lvl5pPr>
            <a:lvl6pPr algn="l">
              <a:defRPr sz="3600" b="1">
                <a:solidFill>
                  <a:srgbClr val="185FA5"/>
                </a:solidFill>
                <a:latin typeface="Trebuchet MS"/>
                <a:ea typeface="Trebuchet MS"/>
                <a:cs typeface="Trebuchet MS"/>
              </a:defRPr>
            </a:lvl6pPr>
            <a:lvl7pPr algn="l">
              <a:defRPr sz="3600" b="1">
                <a:solidFill>
                  <a:srgbClr val="185FA5"/>
                </a:solidFill>
                <a:latin typeface="Trebuchet MS"/>
                <a:ea typeface="Trebuchet MS"/>
                <a:cs typeface="Trebuchet MS"/>
              </a:defRPr>
            </a:lvl7pPr>
            <a:lvl8pPr algn="l">
              <a:defRPr sz="3600" b="1">
                <a:solidFill>
                  <a:srgbClr val="185FA5"/>
                </a:solidFill>
                <a:latin typeface="Trebuchet MS"/>
                <a:ea typeface="Trebuchet MS"/>
                <a:cs typeface="Trebuchet MS"/>
              </a:defRPr>
            </a:lvl8pPr>
            <a:lvl9pPr algn="l">
              <a:defRPr sz="3600" b="1">
                <a:solidFill>
                  <a:srgbClr val="185FA5"/>
                </a:solidFill>
                <a:latin typeface="Trebuchet MS"/>
                <a:ea typeface="Trebuchet MS"/>
                <a:cs typeface="Trebuchet MS"/>
              </a:defRPr>
            </a:lvl9pPr>
          </a:lstStyle>
          <a:p xmlns:a="http://schemas.openxmlformats.org/drawingml/2006/main">
            <a:pPr algn="l">
              <a:defRPr sz="3600" b="1">
                <a:solidFill>
                  <a:srgbClr val="185FA5"/>
                </a:solidFill>
                <a:latin typeface="Trebuchet MS"/>
                <a:ea typeface="Trebuchet MS"/>
                <a:cs typeface="Trebuchet MS"/>
              </a:defRPr>
            </a:pPr>
            <a:r>
              <a:rPr sz="3600" b="1">
                <a:solidFill>
                  <a:srgbClr val="185FA5"/>
                </a:solidFill>
                <a:latin typeface="Trebuchet MS"/>
                <a:ea typeface="Trebuchet MS"/>
                <a:cs typeface="Trebuchet MS"/>
              </a:rPr>
              <a:t>37,5%</a:t>
            </a:r>
          </a:p>
        </p:txBody>
      </p:sp>
      <p:sp>
        <p:nvSpPr>
          <p:cNvPr id="115" name="Gəlirin bu hissəsi ilk 1% POS adında cəmlənir.">
            <a:extLst xmlns:a="http://schemas.openxmlformats.org/drawingml/2006/main">
              <a:ext uri="{FF2B5EF4-FFF2-40B4-BE49-F238E27FC236}">
                <a16:creationId xmlns:a16="http://schemas.microsoft.com/office/drawing/2014/main" id="{BC1706A9-855A-45DF-89B8-6F887B30018B}"/>
              </a:ext>
            </a:extLst>
          </p:cNvPr>
          <p:cNvSpPr>
            <a:spLocks xmlns:a="http://schemas.openxmlformats.org/drawingml/2006/main" noGrp="1"/>
          </p:cNvSpPr>
          <p:nvPr/>
        </p:nvSpPr>
        <p:spPr>
          <a:xfrm xmlns:a="http://schemas.openxmlformats.org/drawingml/2006/main">
            <a:off x="8334375" y="2733675"/>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Gəlirin bu hissəsi ilk 1% POS adında cəmlənir.</a:t>
            </a:r>
          </a:p>
        </p:txBody>
      </p:sp>
      <p:sp>
        <p:nvSpPr>
          <p:cNvPr id="116" name="Əhatə məhdudiyyəti">
            <a:extLst xmlns:a="http://schemas.openxmlformats.org/drawingml/2006/main">
              <a:ext uri="{FF2B5EF4-FFF2-40B4-BE49-F238E27FC236}">
                <a16:creationId xmlns:a16="http://schemas.microsoft.com/office/drawing/2014/main" id="{01E1E38E-381F-43B5-A1CB-B82E17717E16}"/>
              </a:ext>
            </a:extLst>
          </p:cNvPr>
          <p:cNvSpPr>
            <a:spLocks xmlns:a="http://schemas.openxmlformats.org/drawingml/2006/main" noGrp="1"/>
          </p:cNvSpPr>
          <p:nvPr/>
        </p:nvSpPr>
        <p:spPr>
          <a:xfrm xmlns:a="http://schemas.openxmlformats.org/drawingml/2006/main">
            <a:off x="8334375" y="40100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D4537E"/>
                </a:solidFill>
                <a:latin typeface="Trebuchet MS"/>
                <a:ea typeface="Trebuchet MS"/>
                <a:cs typeface="Trebuchet MS"/>
              </a:defRPr>
            </a:defPPr>
            <a:lvl1pPr algn="l">
              <a:defRPr sz="1950" b="1">
                <a:solidFill>
                  <a:srgbClr val="D4537E"/>
                </a:solidFill>
                <a:latin typeface="Trebuchet MS"/>
                <a:ea typeface="Trebuchet MS"/>
                <a:cs typeface="Trebuchet MS"/>
              </a:defRPr>
            </a:lvl1pPr>
            <a:lvl2pPr algn="l">
              <a:defRPr sz="1950" b="1">
                <a:solidFill>
                  <a:srgbClr val="D4537E"/>
                </a:solidFill>
                <a:latin typeface="Trebuchet MS"/>
                <a:ea typeface="Trebuchet MS"/>
                <a:cs typeface="Trebuchet MS"/>
              </a:defRPr>
            </a:lvl2pPr>
            <a:lvl3pPr algn="l">
              <a:defRPr sz="1950" b="1">
                <a:solidFill>
                  <a:srgbClr val="D4537E"/>
                </a:solidFill>
                <a:latin typeface="Trebuchet MS"/>
                <a:ea typeface="Trebuchet MS"/>
                <a:cs typeface="Trebuchet MS"/>
              </a:defRPr>
            </a:lvl3pPr>
            <a:lvl4pPr algn="l">
              <a:defRPr sz="1950" b="1">
                <a:solidFill>
                  <a:srgbClr val="D4537E"/>
                </a:solidFill>
                <a:latin typeface="Trebuchet MS"/>
                <a:ea typeface="Trebuchet MS"/>
                <a:cs typeface="Trebuchet MS"/>
              </a:defRPr>
            </a:lvl4pPr>
            <a:lvl5pPr algn="l">
              <a:defRPr sz="1950" b="1">
                <a:solidFill>
                  <a:srgbClr val="D4537E"/>
                </a:solidFill>
                <a:latin typeface="Trebuchet MS"/>
                <a:ea typeface="Trebuchet MS"/>
                <a:cs typeface="Trebuchet MS"/>
              </a:defRPr>
            </a:lvl5pPr>
            <a:lvl6pPr algn="l">
              <a:defRPr sz="1950" b="1">
                <a:solidFill>
                  <a:srgbClr val="D4537E"/>
                </a:solidFill>
                <a:latin typeface="Trebuchet MS"/>
                <a:ea typeface="Trebuchet MS"/>
                <a:cs typeface="Trebuchet MS"/>
              </a:defRPr>
            </a:lvl6pPr>
            <a:lvl7pPr algn="l">
              <a:defRPr sz="1950" b="1">
                <a:solidFill>
                  <a:srgbClr val="D4537E"/>
                </a:solidFill>
                <a:latin typeface="Trebuchet MS"/>
                <a:ea typeface="Trebuchet MS"/>
                <a:cs typeface="Trebuchet MS"/>
              </a:defRPr>
            </a:lvl7pPr>
            <a:lvl8pPr algn="l">
              <a:defRPr sz="1950" b="1">
                <a:solidFill>
                  <a:srgbClr val="D4537E"/>
                </a:solidFill>
                <a:latin typeface="Trebuchet MS"/>
                <a:ea typeface="Trebuchet MS"/>
                <a:cs typeface="Trebuchet MS"/>
              </a:defRPr>
            </a:lvl8pPr>
            <a:lvl9pPr algn="l">
              <a:defRPr sz="1950" b="1">
                <a:solidFill>
                  <a:srgbClr val="D4537E"/>
                </a:solidFill>
                <a:latin typeface="Trebuchet MS"/>
                <a:ea typeface="Trebuchet MS"/>
                <a:cs typeface="Trebuchet MS"/>
              </a:defRPr>
            </a:lvl9pPr>
          </a:lstStyle>
          <a:p xmlns:a="http://schemas.openxmlformats.org/drawingml/2006/main">
            <a:pPr algn="l">
              <a:defRPr sz="1950" b="1">
                <a:solidFill>
                  <a:srgbClr val="D4537E"/>
                </a:solidFill>
                <a:latin typeface="Trebuchet MS"/>
                <a:ea typeface="Trebuchet MS"/>
                <a:cs typeface="Trebuchet MS"/>
              </a:defRPr>
            </a:pPr>
            <a:r>
              <a:rPr sz="1950" b="1">
                <a:solidFill>
                  <a:srgbClr val="D4537E"/>
                </a:solidFill>
                <a:latin typeface="Trebuchet MS"/>
                <a:ea typeface="Trebuchet MS"/>
                <a:cs typeface="Trebuchet MS"/>
              </a:rPr>
              <a:t>Əhatə məhdudiyyəti</a:t>
            </a:r>
          </a:p>
        </p:txBody>
      </p:sp>
      <p:sp>
        <p:nvSpPr>
          <p:cNvPr id="117" name="POS adı mağaza kodu deyil. Bir ad bir neçə filialı birl">
            <a:extLst xmlns:a="http://schemas.openxmlformats.org/drawingml/2006/main">
              <a:ext uri="{FF2B5EF4-FFF2-40B4-BE49-F238E27FC236}">
                <a16:creationId xmlns:a16="http://schemas.microsoft.com/office/drawing/2014/main" id="{72EEEEED-918D-4185-B6A2-05758AAD4F35}"/>
              </a:ext>
            </a:extLst>
          </p:cNvPr>
          <p:cNvSpPr>
            <a:spLocks xmlns:a="http://schemas.openxmlformats.org/drawingml/2006/main" noGrp="1"/>
          </p:cNvSpPr>
          <p:nvPr/>
        </p:nvSpPr>
        <p:spPr>
          <a:xfrm xmlns:a="http://schemas.openxmlformats.org/drawingml/2006/main">
            <a:off x="8334375" y="447675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POS adı mağaza kodu deyil. Bir ad bir neçə filialı birləşdirə bilər.</a:t>
            </a:r>
          </a:p>
        </p:txBody>
      </p:sp>
    </p:spTree>
    <p:extLst>
      <p:ext uri="{BB962C8B-B14F-4D97-AF65-F5344CB8AC3E}">
        <p14:creationId xmlns:p14="http://schemas.microsoft.com/office/powerpoint/2010/main" val="16216962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8">
            <a:extLst xmlns:a="http://schemas.openxmlformats.org/drawingml/2006/main">
              <a:ext uri="{FF2B5EF4-FFF2-40B4-BE49-F238E27FC236}">
                <a16:creationId xmlns:a16="http://schemas.microsoft.com/office/drawing/2014/main" id="{3DBB1198-31DD-4771-B864-B1090235FD1B}"/>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85FA5"/>
                </a:solidFill>
                <a:latin typeface="Trebuchet MS"/>
                <a:ea typeface="Trebuchet MS"/>
                <a:cs typeface="Trebuchet MS"/>
              </a:defRPr>
            </a:defPPr>
            <a:lvl1pPr>
              <a:defRPr sz="1250" b="1">
                <a:solidFill>
                  <a:srgbClr val="185FA5"/>
                </a:solidFill>
                <a:latin typeface="Trebuchet MS"/>
                <a:ea typeface="Trebuchet MS"/>
                <a:cs typeface="Trebuchet MS"/>
              </a:defRPr>
            </a:lvl1pPr>
            <a:lvl2pPr>
              <a:defRPr sz="1250" b="1">
                <a:solidFill>
                  <a:srgbClr val="185FA5"/>
                </a:solidFill>
                <a:latin typeface="Trebuchet MS"/>
                <a:ea typeface="Trebuchet MS"/>
                <a:cs typeface="Trebuchet MS"/>
              </a:defRPr>
            </a:lvl2pPr>
            <a:lvl3pPr>
              <a:defRPr sz="1250" b="1">
                <a:solidFill>
                  <a:srgbClr val="185FA5"/>
                </a:solidFill>
                <a:latin typeface="Trebuchet MS"/>
                <a:ea typeface="Trebuchet MS"/>
                <a:cs typeface="Trebuchet MS"/>
              </a:defRPr>
            </a:lvl3pPr>
            <a:lvl4pPr>
              <a:defRPr sz="1250" b="1">
                <a:solidFill>
                  <a:srgbClr val="185FA5"/>
                </a:solidFill>
                <a:latin typeface="Trebuchet MS"/>
                <a:ea typeface="Trebuchet MS"/>
                <a:cs typeface="Trebuchet MS"/>
              </a:defRPr>
            </a:lvl4pPr>
            <a:lvl5pPr>
              <a:defRPr sz="1250" b="1">
                <a:solidFill>
                  <a:srgbClr val="185FA5"/>
                </a:solidFill>
                <a:latin typeface="Trebuchet MS"/>
                <a:ea typeface="Trebuchet MS"/>
                <a:cs typeface="Trebuchet MS"/>
              </a:defRPr>
            </a:lvl5pPr>
            <a:lvl6pPr>
              <a:defRPr sz="1250" b="1">
                <a:solidFill>
                  <a:srgbClr val="185FA5"/>
                </a:solidFill>
                <a:latin typeface="Trebuchet MS"/>
                <a:ea typeface="Trebuchet MS"/>
                <a:cs typeface="Trebuchet MS"/>
              </a:defRPr>
            </a:lvl6pPr>
            <a:lvl7pPr>
              <a:defRPr sz="1250" b="1">
                <a:solidFill>
                  <a:srgbClr val="185FA5"/>
                </a:solidFill>
                <a:latin typeface="Trebuchet MS"/>
                <a:ea typeface="Trebuchet MS"/>
                <a:cs typeface="Trebuchet MS"/>
              </a:defRPr>
            </a:lvl7pPr>
            <a:lvl8pPr>
              <a:defRPr sz="1250" b="1">
                <a:solidFill>
                  <a:srgbClr val="185FA5"/>
                </a:solidFill>
                <a:latin typeface="Trebuchet MS"/>
                <a:ea typeface="Trebuchet MS"/>
                <a:cs typeface="Trebuchet MS"/>
              </a:defRPr>
            </a:lvl8pPr>
            <a:lvl9pPr>
              <a:defRPr sz="1250" b="1">
                <a:solidFill>
                  <a:srgbClr val="185FA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85FA5"/>
              </a:buClr>
              <a:buSzPts val="1250"/>
              <a:buFont typeface="Trebuchet MS"/>
              <a:buNone/>
              <a:defRPr sz="1250" b="1">
                <a:solidFill>
                  <a:srgbClr val="185FA5"/>
                </a:solidFill>
                <a:latin typeface="Trebuchet MS"/>
                <a:ea typeface="Trebuchet MS"/>
                <a:cs typeface="Trebuchet MS"/>
              </a:defRPr>
            </a:pPr>
            <a:r>
              <a:rPr sz="1250" b="1">
                <a:solidFill>
                  <a:srgbClr val="185FA5"/>
                </a:solidFill>
                <a:latin typeface="Trebuchet MS"/>
                <a:ea typeface="Trebuchet MS"/>
                <a:cs typeface="Trebuchet MS"/>
              </a:rPr>
              <a:t>1  DESKRİPTİV TƏHLİL</a:t>
            </a:r>
            <a:endParaRPr sz="1250">
              <a:solidFill>
                <a:schemeClr val="dk1"/>
              </a:solidFill>
              <a:latin typeface="Calibri"/>
              <a:ea typeface="Calibri"/>
              <a:cs typeface="Calibri"/>
            </a:endParaRPr>
          </a:p>
        </p:txBody>
      </p:sp>
      <p:sp>
        <p:nvSpPr>
          <p:cNvPr id="118" name="Google Shape;118;p8">
            <a:extLst xmlns:a="http://schemas.openxmlformats.org/drawingml/2006/main">
              <a:ext uri="{FF2B5EF4-FFF2-40B4-BE49-F238E27FC236}">
                <a16:creationId xmlns:a16="http://schemas.microsoft.com/office/drawing/2014/main" id="{96752936-3F5F-41CF-8EEF-BEB9F1D7F5DA}"/>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Kəsr miqdarlı satışlar sətirlərin 23,1%-idir</a:t>
            </a:r>
            <a:endParaRPr sz="2900">
              <a:solidFill>
                <a:schemeClr val="dk1"/>
              </a:solidFill>
              <a:latin typeface="Calibri"/>
              <a:ea typeface="Calibri"/>
              <a:cs typeface="Calibri"/>
            </a:endParaRPr>
          </a:p>
        </p:txBody>
      </p:sp>
      <p:sp>
        <p:nvSpPr>
          <p:cNvPr id="121" name="Google Shape;121;p8">
            <a:extLst xmlns:a="http://schemas.openxmlformats.org/drawingml/2006/main">
              <a:ext uri="{FF2B5EF4-FFF2-40B4-BE49-F238E27FC236}">
                <a16:creationId xmlns:a16="http://schemas.microsoft.com/office/drawing/2014/main" id="{32FD25F6-09D0-4D7C-93F2-28E8518B4835}"/>
              </a:ext>
            </a:extLst>
          </p:cNvPr>
          <p:cNvSpPr>
            <a:spLocks xmlns:a="http://schemas.openxmlformats.org/drawingml/2006/main" noGrp="1"/>
          </p:cNvSpPr>
          <p:nvPr/>
        </p:nvSpPr>
        <p:spPr>
          <a:xfrm xmlns:a="http://schemas.openxmlformats.org/drawingml/2006/main">
            <a:off x="566928" y="6053328"/>
            <a:ext cx="11055096" cy="566928"/>
          </a:xfrm>
          <a:prstGeom xmlns:a="http://schemas.openxmlformats.org/drawingml/2006/main" prst="rect">
            <a:avLst/>
          </a:prstGeom>
          <a:solidFill xmlns:a="http://schemas.openxmlformats.org/drawingml/2006/main">
            <a:srgbClr val="F4F7F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 name="Google Shape;122;p8">
            <a:extLst xmlns:a="http://schemas.openxmlformats.org/drawingml/2006/main">
              <a:ext uri="{FF2B5EF4-FFF2-40B4-BE49-F238E27FC236}">
                <a16:creationId xmlns:a16="http://schemas.microsoft.com/office/drawing/2014/main" id="{CD8E8D72-9799-46AB-9429-C6991675B840}"/>
              </a:ext>
            </a:extLst>
          </p:cNvPr>
          <p:cNvSpPr>
            <a:spLocks xmlns:a="http://schemas.openxmlformats.org/drawingml/2006/main" noGrp="1"/>
          </p:cNvSpPr>
          <p:nvPr/>
        </p:nvSpPr>
        <p:spPr>
          <a:xfrm xmlns:a="http://schemas.openxmlformats.org/drawingml/2006/main">
            <a:off x="868680" y="6053328"/>
            <a:ext cx="106070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142875" rIns="0" bIns="0" anchor="ctr">
            <a:noAutofit/>
          </a:bodyPr>
          <a:lstStyle xmlns:a="http://schemas.openxmlformats.org/drawingml/2006/main">
            <a:defPPr>
              <a:defRPr sz="1448">
                <a:solidFill>
                  <a:srgbClr val="185FA5"/>
                </a:solidFill>
                <a:latin typeface="Calibri"/>
                <a:ea typeface="Calibri"/>
                <a:cs typeface="Calibri"/>
              </a:defRPr>
            </a:defPPr>
            <a:lvl1pPr>
              <a:defRPr sz="1448">
                <a:solidFill>
                  <a:srgbClr val="185FA5"/>
                </a:solidFill>
                <a:latin typeface="Calibri"/>
                <a:ea typeface="Calibri"/>
                <a:cs typeface="Calibri"/>
              </a:defRPr>
            </a:lvl1pPr>
            <a:lvl2pPr>
              <a:defRPr sz="1448">
                <a:solidFill>
                  <a:srgbClr val="185FA5"/>
                </a:solidFill>
                <a:latin typeface="Calibri"/>
                <a:ea typeface="Calibri"/>
                <a:cs typeface="Calibri"/>
              </a:defRPr>
            </a:lvl2pPr>
            <a:lvl3pPr>
              <a:defRPr sz="1448">
                <a:solidFill>
                  <a:srgbClr val="185FA5"/>
                </a:solidFill>
                <a:latin typeface="Calibri"/>
                <a:ea typeface="Calibri"/>
                <a:cs typeface="Calibri"/>
              </a:defRPr>
            </a:lvl3pPr>
            <a:lvl4pPr>
              <a:defRPr sz="1448">
                <a:solidFill>
                  <a:srgbClr val="185FA5"/>
                </a:solidFill>
                <a:latin typeface="Calibri"/>
                <a:ea typeface="Calibri"/>
                <a:cs typeface="Calibri"/>
              </a:defRPr>
            </a:lvl4pPr>
            <a:lvl5pPr>
              <a:defRPr sz="1448">
                <a:solidFill>
                  <a:srgbClr val="185FA5"/>
                </a:solidFill>
                <a:latin typeface="Calibri"/>
                <a:ea typeface="Calibri"/>
                <a:cs typeface="Calibri"/>
              </a:defRPr>
            </a:lvl5pPr>
            <a:lvl6pPr>
              <a:defRPr sz="1448">
                <a:solidFill>
                  <a:srgbClr val="185FA5"/>
                </a:solidFill>
                <a:latin typeface="Calibri"/>
                <a:ea typeface="Calibri"/>
                <a:cs typeface="Calibri"/>
              </a:defRPr>
            </a:lvl6pPr>
            <a:lvl7pPr>
              <a:defRPr sz="1448">
                <a:solidFill>
                  <a:srgbClr val="185FA5"/>
                </a:solidFill>
                <a:latin typeface="Calibri"/>
                <a:ea typeface="Calibri"/>
                <a:cs typeface="Calibri"/>
              </a:defRPr>
            </a:lvl7pPr>
            <a:lvl8pPr>
              <a:defRPr sz="1448">
                <a:solidFill>
                  <a:srgbClr val="185FA5"/>
                </a:solidFill>
                <a:latin typeface="Calibri"/>
                <a:ea typeface="Calibri"/>
                <a:cs typeface="Calibri"/>
              </a:defRPr>
            </a:lvl8pPr>
            <a:lvl9pPr>
              <a:defRPr sz="1448">
                <a:solidFill>
                  <a:srgbClr val="185FA5"/>
                </a:solidFill>
                <a:latin typeface="Calibri"/>
                <a:ea typeface="Calibri"/>
                <a:cs typeface="Calibri"/>
              </a:defRPr>
            </a:lvl9pPr>
          </a:lstStyle>
          <a:p xmlns:a="http://schemas.openxmlformats.org/drawingml/2006/main">
            <a:pPr marL="0" marR="0" lvl="0" indent="0" algn="l">
              <a:spcBef>
                <a:spcPts val="0"/>
              </a:spcBef>
              <a:spcAft>
                <a:spcPts val="0"/>
              </a:spcAft>
              <a:buClr>
                <a:srgbClr val="1D9E75"/>
              </a:buClr>
              <a:buSzPts val="1350"/>
              <a:buFont typeface="Calibri"/>
              <a:buNone/>
              <a:defRPr sz="1448">
                <a:solidFill>
                  <a:srgbClr val="185FA5"/>
                </a:solidFill>
                <a:latin typeface="Calibri"/>
                <a:ea typeface="Calibri"/>
                <a:cs typeface="Calibri"/>
              </a:defRPr>
            </a:pPr>
            <a:r>
              <a:rPr sz="1448" b="1">
                <a:solidFill>
                  <a:srgbClr val="185FA5"/>
                </a:solidFill>
                <a:latin typeface="Calibri"/>
                <a:ea typeface="Calibri"/>
                <a:cs typeface="Calibri"/>
              </a:rPr>
              <a:t>QEYD: Satış növü miqdarın tam və ya kəsr olmasına görə müəyyənləşdirilib.</a:t>
            </a:r>
            <a:endParaRPr sz="1350">
              <a:solidFill>
                <a:schemeClr val="dk1"/>
              </a:solidFill>
              <a:latin typeface="Calibri"/>
              <a:ea typeface="Calibri"/>
              <a:cs typeface="Calibri"/>
            </a:endParaRPr>
          </a:p>
        </p:txBody>
      </p:sp>
      <p:sp>
        <p:nvSpPr>
          <p:cNvPr id="123" name="Hesabat kəsr miqdarlı sətirləri çəki ilə satış kimi qru">
            <a:extLst xmlns:a="http://schemas.openxmlformats.org/drawingml/2006/main">
              <a:ext uri="{FF2B5EF4-FFF2-40B4-BE49-F238E27FC236}">
                <a16:creationId xmlns:a16="http://schemas.microsoft.com/office/drawing/2014/main" id="{38D0B5F4-85AD-483E-A775-73FB5FBE9EE1}"/>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Hesabat kəsr miqdarlı sətirləri çəki ilə satış kimi qruplaşdırır</a:t>
            </a:r>
          </a:p>
        </p:txBody>
      </p:sp>
      <p:graphicFrame>
        <p:nvGraphicFramePr>
          <p:cNvPr id="124" name="Chart">
            <a:extLst xmlns:a="http://schemas.openxmlformats.org/drawingml/2006/main">
              <a:ext uri="{FF2B5EF4-FFF2-40B4-BE49-F238E27FC236}">
                <a16:creationId xmlns:a16="http://schemas.microsoft.com/office/drawing/2014/main" id="{5F010960-53BC-48CF-AB6B-1543FB45E2A9}"/>
              </a:ext>
            </a:extLst>
          </p:cNvPr>
          <p:cNvGraphicFramePr/>
          <p:nvPr/>
        </p:nvGraphicFramePr>
        <p:xfrm>
          <a:off xmlns:a="http://schemas.openxmlformats.org/drawingml/2006/main" x="571500" y="2085975"/>
          <a:ext xmlns:a="http://schemas.openxmlformats.org/drawingml/2006/main" cx="7143750" cy="3448050"/>
        </p:xfrm>
        <a:graphic xmlns:a="http://schemas.openxmlformats.org/drawingml/2006/main">
          <a:graphicData uri="http://schemas.openxmlformats.org/drawingml/2006/chart">
            <c:chart xmlns:r="http://schemas.openxmlformats.org/officeDocument/2006/relationships" xmlns:c="http://schemas.openxmlformats.org/drawingml/2006/chart" r:id="R67e5ae6a6080470d"/>
          </a:graphicData>
        </a:graphic>
      </p:graphicFrame>
      <p:sp>
        <p:nvSpPr>
          <p:cNvPr id="125" name="Çəki ilə satış">
            <a:extLst xmlns:a="http://schemas.openxmlformats.org/drawingml/2006/main">
              <a:ext uri="{FF2B5EF4-FFF2-40B4-BE49-F238E27FC236}">
                <a16:creationId xmlns:a16="http://schemas.microsoft.com/office/drawing/2014/main" id="{D6570AA3-19B2-406A-9424-5E7D4F760D78}"/>
              </a:ext>
            </a:extLst>
          </p:cNvPr>
          <p:cNvSpPr>
            <a:spLocks xmlns:a="http://schemas.openxmlformats.org/drawingml/2006/main" noGrp="1"/>
          </p:cNvSpPr>
          <p:nvPr/>
        </p:nvSpPr>
        <p:spPr>
          <a:xfrm xmlns:a="http://schemas.openxmlformats.org/drawingml/2006/main">
            <a:off x="8382000" y="20478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D9E75"/>
                </a:solidFill>
                <a:latin typeface="Trebuchet MS"/>
                <a:ea typeface="Trebuchet MS"/>
                <a:cs typeface="Trebuchet MS"/>
              </a:defRPr>
            </a:defPPr>
            <a:lvl1pPr algn="l">
              <a:defRPr sz="1950" b="1">
                <a:solidFill>
                  <a:srgbClr val="1D9E75"/>
                </a:solidFill>
                <a:latin typeface="Trebuchet MS"/>
                <a:ea typeface="Trebuchet MS"/>
                <a:cs typeface="Trebuchet MS"/>
              </a:defRPr>
            </a:lvl1pPr>
            <a:lvl2pPr algn="l">
              <a:defRPr sz="1950" b="1">
                <a:solidFill>
                  <a:srgbClr val="1D9E75"/>
                </a:solidFill>
                <a:latin typeface="Trebuchet MS"/>
                <a:ea typeface="Trebuchet MS"/>
                <a:cs typeface="Trebuchet MS"/>
              </a:defRPr>
            </a:lvl2pPr>
            <a:lvl3pPr algn="l">
              <a:defRPr sz="1950" b="1">
                <a:solidFill>
                  <a:srgbClr val="1D9E75"/>
                </a:solidFill>
                <a:latin typeface="Trebuchet MS"/>
                <a:ea typeface="Trebuchet MS"/>
                <a:cs typeface="Trebuchet MS"/>
              </a:defRPr>
            </a:lvl3pPr>
            <a:lvl4pPr algn="l">
              <a:defRPr sz="1950" b="1">
                <a:solidFill>
                  <a:srgbClr val="1D9E75"/>
                </a:solidFill>
                <a:latin typeface="Trebuchet MS"/>
                <a:ea typeface="Trebuchet MS"/>
                <a:cs typeface="Trebuchet MS"/>
              </a:defRPr>
            </a:lvl4pPr>
            <a:lvl5pPr algn="l">
              <a:defRPr sz="1950" b="1">
                <a:solidFill>
                  <a:srgbClr val="1D9E75"/>
                </a:solidFill>
                <a:latin typeface="Trebuchet MS"/>
                <a:ea typeface="Trebuchet MS"/>
                <a:cs typeface="Trebuchet MS"/>
              </a:defRPr>
            </a:lvl5pPr>
            <a:lvl6pPr algn="l">
              <a:defRPr sz="1950" b="1">
                <a:solidFill>
                  <a:srgbClr val="1D9E75"/>
                </a:solidFill>
                <a:latin typeface="Trebuchet MS"/>
                <a:ea typeface="Trebuchet MS"/>
                <a:cs typeface="Trebuchet MS"/>
              </a:defRPr>
            </a:lvl6pPr>
            <a:lvl7pPr algn="l">
              <a:defRPr sz="1950" b="1">
                <a:solidFill>
                  <a:srgbClr val="1D9E75"/>
                </a:solidFill>
                <a:latin typeface="Trebuchet MS"/>
                <a:ea typeface="Trebuchet MS"/>
                <a:cs typeface="Trebuchet MS"/>
              </a:defRPr>
            </a:lvl7pPr>
            <a:lvl8pPr algn="l">
              <a:defRPr sz="1950" b="1">
                <a:solidFill>
                  <a:srgbClr val="1D9E75"/>
                </a:solidFill>
                <a:latin typeface="Trebuchet MS"/>
                <a:ea typeface="Trebuchet MS"/>
                <a:cs typeface="Trebuchet MS"/>
              </a:defRPr>
            </a:lvl8pPr>
            <a:lvl9pPr algn="l">
              <a:defRPr sz="1950" b="1">
                <a:solidFill>
                  <a:srgbClr val="1D9E75"/>
                </a:solidFill>
                <a:latin typeface="Trebuchet MS"/>
                <a:ea typeface="Trebuchet MS"/>
                <a:cs typeface="Trebuchet MS"/>
              </a:defRPr>
            </a:lvl9pPr>
          </a:lstStyle>
          <a:p xmlns:a="http://schemas.openxmlformats.org/drawingml/2006/main">
            <a:pPr algn="l">
              <a:defRPr sz="1950" b="1">
                <a:solidFill>
                  <a:srgbClr val="1D9E75"/>
                </a:solidFill>
                <a:latin typeface="Trebuchet MS"/>
                <a:ea typeface="Trebuchet MS"/>
                <a:cs typeface="Trebuchet MS"/>
              </a:defRPr>
            </a:pPr>
            <a:r>
              <a:rPr sz="1950" b="1">
                <a:solidFill>
                  <a:srgbClr val="1D9E75"/>
                </a:solidFill>
                <a:latin typeface="Trebuchet MS"/>
                <a:ea typeface="Trebuchet MS"/>
                <a:cs typeface="Trebuchet MS"/>
              </a:rPr>
              <a:t>Çəki ilə satış</a:t>
            </a:r>
          </a:p>
        </p:txBody>
      </p:sp>
      <p:sp>
        <p:nvSpPr>
          <p:cNvPr id="126" name="Median miqdar 0,54 kq&#10;Median sətir gəliri 2,20 AZN">
            <a:extLst xmlns:a="http://schemas.openxmlformats.org/drawingml/2006/main">
              <a:ext uri="{FF2B5EF4-FFF2-40B4-BE49-F238E27FC236}">
                <a16:creationId xmlns:a16="http://schemas.microsoft.com/office/drawing/2014/main" id="{DF6DFAE4-3DF1-417E-A48D-CFCEFFC1B4C4}"/>
              </a:ext>
            </a:extLst>
          </p:cNvPr>
          <p:cNvSpPr>
            <a:spLocks xmlns:a="http://schemas.openxmlformats.org/drawingml/2006/main" noGrp="1"/>
          </p:cNvSpPr>
          <p:nvPr/>
        </p:nvSpPr>
        <p:spPr>
          <a:xfrm xmlns:a="http://schemas.openxmlformats.org/drawingml/2006/main">
            <a:off x="8382000" y="251460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Median miqdar 0,54 kq</a:t>
            </a:r>
          </a:p>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Median sətir gəliri 2,20 AZN</a:t>
            </a:r>
          </a:p>
        </p:txBody>
      </p:sp>
      <p:sp>
        <p:nvSpPr>
          <p:cNvPr id="127" name="Ədədlə satış">
            <a:extLst xmlns:a="http://schemas.openxmlformats.org/drawingml/2006/main">
              <a:ext uri="{FF2B5EF4-FFF2-40B4-BE49-F238E27FC236}">
                <a16:creationId xmlns:a16="http://schemas.microsoft.com/office/drawing/2014/main" id="{116CCF68-4C72-46E3-99CA-607BC27532E1}"/>
              </a:ext>
            </a:extLst>
          </p:cNvPr>
          <p:cNvSpPr>
            <a:spLocks xmlns:a="http://schemas.openxmlformats.org/drawingml/2006/main" noGrp="1"/>
          </p:cNvSpPr>
          <p:nvPr/>
        </p:nvSpPr>
        <p:spPr>
          <a:xfrm xmlns:a="http://schemas.openxmlformats.org/drawingml/2006/main">
            <a:off x="8382000" y="40481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85FA5"/>
                </a:solidFill>
                <a:latin typeface="Trebuchet MS"/>
                <a:ea typeface="Trebuchet MS"/>
                <a:cs typeface="Trebuchet MS"/>
              </a:defRPr>
            </a:defPPr>
            <a:lvl1pPr algn="l">
              <a:defRPr sz="1950" b="1">
                <a:solidFill>
                  <a:srgbClr val="185FA5"/>
                </a:solidFill>
                <a:latin typeface="Trebuchet MS"/>
                <a:ea typeface="Trebuchet MS"/>
                <a:cs typeface="Trebuchet MS"/>
              </a:defRPr>
            </a:lvl1pPr>
            <a:lvl2pPr algn="l">
              <a:defRPr sz="1950" b="1">
                <a:solidFill>
                  <a:srgbClr val="185FA5"/>
                </a:solidFill>
                <a:latin typeface="Trebuchet MS"/>
                <a:ea typeface="Trebuchet MS"/>
                <a:cs typeface="Trebuchet MS"/>
              </a:defRPr>
            </a:lvl2pPr>
            <a:lvl3pPr algn="l">
              <a:defRPr sz="1950" b="1">
                <a:solidFill>
                  <a:srgbClr val="185FA5"/>
                </a:solidFill>
                <a:latin typeface="Trebuchet MS"/>
                <a:ea typeface="Trebuchet MS"/>
                <a:cs typeface="Trebuchet MS"/>
              </a:defRPr>
            </a:lvl3pPr>
            <a:lvl4pPr algn="l">
              <a:defRPr sz="1950" b="1">
                <a:solidFill>
                  <a:srgbClr val="185FA5"/>
                </a:solidFill>
                <a:latin typeface="Trebuchet MS"/>
                <a:ea typeface="Trebuchet MS"/>
                <a:cs typeface="Trebuchet MS"/>
              </a:defRPr>
            </a:lvl4pPr>
            <a:lvl5pPr algn="l">
              <a:defRPr sz="1950" b="1">
                <a:solidFill>
                  <a:srgbClr val="185FA5"/>
                </a:solidFill>
                <a:latin typeface="Trebuchet MS"/>
                <a:ea typeface="Trebuchet MS"/>
                <a:cs typeface="Trebuchet MS"/>
              </a:defRPr>
            </a:lvl5pPr>
            <a:lvl6pPr algn="l">
              <a:defRPr sz="1950" b="1">
                <a:solidFill>
                  <a:srgbClr val="185FA5"/>
                </a:solidFill>
                <a:latin typeface="Trebuchet MS"/>
                <a:ea typeface="Trebuchet MS"/>
                <a:cs typeface="Trebuchet MS"/>
              </a:defRPr>
            </a:lvl6pPr>
            <a:lvl7pPr algn="l">
              <a:defRPr sz="1950" b="1">
                <a:solidFill>
                  <a:srgbClr val="185FA5"/>
                </a:solidFill>
                <a:latin typeface="Trebuchet MS"/>
                <a:ea typeface="Trebuchet MS"/>
                <a:cs typeface="Trebuchet MS"/>
              </a:defRPr>
            </a:lvl7pPr>
            <a:lvl8pPr algn="l">
              <a:defRPr sz="1950" b="1">
                <a:solidFill>
                  <a:srgbClr val="185FA5"/>
                </a:solidFill>
                <a:latin typeface="Trebuchet MS"/>
                <a:ea typeface="Trebuchet MS"/>
                <a:cs typeface="Trebuchet MS"/>
              </a:defRPr>
            </a:lvl8pPr>
            <a:lvl9pPr algn="l">
              <a:defRPr sz="1950" b="1">
                <a:solidFill>
                  <a:srgbClr val="185FA5"/>
                </a:solidFill>
                <a:latin typeface="Trebuchet MS"/>
                <a:ea typeface="Trebuchet MS"/>
                <a:cs typeface="Trebuchet MS"/>
              </a:defRPr>
            </a:lvl9pPr>
          </a:lstStyle>
          <a:p xmlns:a="http://schemas.openxmlformats.org/drawingml/2006/main">
            <a:pPr algn="l">
              <a:defRPr sz="1950" b="1">
                <a:solidFill>
                  <a:srgbClr val="185FA5"/>
                </a:solidFill>
                <a:latin typeface="Trebuchet MS"/>
                <a:ea typeface="Trebuchet MS"/>
                <a:cs typeface="Trebuchet MS"/>
              </a:defRPr>
            </a:pPr>
            <a:r>
              <a:rPr sz="1950" b="1">
                <a:solidFill>
                  <a:srgbClr val="185FA5"/>
                </a:solidFill>
                <a:latin typeface="Trebuchet MS"/>
                <a:ea typeface="Trebuchet MS"/>
                <a:cs typeface="Trebuchet MS"/>
              </a:rPr>
              <a:t>Ədədlə satış</a:t>
            </a:r>
          </a:p>
        </p:txBody>
      </p:sp>
      <p:sp>
        <p:nvSpPr>
          <p:cNvPr id="128" name="Median sətir gəliri 1,69 AZN&#10;Gəlirdə payı 85,6%">
            <a:extLst xmlns:a="http://schemas.openxmlformats.org/drawingml/2006/main">
              <a:ext uri="{FF2B5EF4-FFF2-40B4-BE49-F238E27FC236}">
                <a16:creationId xmlns:a16="http://schemas.microsoft.com/office/drawing/2014/main" id="{FB4D8774-2DA0-48DD-A919-C8AD9B34B5F8}"/>
              </a:ext>
            </a:extLst>
          </p:cNvPr>
          <p:cNvSpPr>
            <a:spLocks xmlns:a="http://schemas.openxmlformats.org/drawingml/2006/main" noGrp="1"/>
          </p:cNvSpPr>
          <p:nvPr/>
        </p:nvSpPr>
        <p:spPr>
          <a:xfrm xmlns:a="http://schemas.openxmlformats.org/drawingml/2006/main">
            <a:off x="8382000" y="451485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Median sətir gəliri 1,69 AZN</a:t>
            </a:r>
          </a:p>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Gəlirdə payı 85,6%</a:t>
            </a:r>
          </a:p>
        </p:txBody>
      </p:sp>
    </p:spTree>
    <p:extLst>
      <p:ext uri="{BB962C8B-B14F-4D97-AF65-F5344CB8AC3E}">
        <p14:creationId xmlns:p14="http://schemas.microsoft.com/office/powerpoint/2010/main" val="8900906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 name="Google Shape;128;p9">
            <a:extLst xmlns:a="http://schemas.openxmlformats.org/drawingml/2006/main">
              <a:ext uri="{FF2B5EF4-FFF2-40B4-BE49-F238E27FC236}">
                <a16:creationId xmlns:a16="http://schemas.microsoft.com/office/drawing/2014/main" id="{50988088-CDDB-49D9-81F4-5FEE72A6B087}"/>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0392B"/>
              </a:buClr>
              <a:buSzPts val="1250"/>
              <a:buFont typeface="Trebuchet MS"/>
              <a:buNone/>
            </a:pPr>
            <a:r>
              <a:rPr sz="1250" b="1">
                <a:solidFill>
                  <a:srgbClr val="C0392B"/>
                </a:solidFill>
                <a:latin typeface="Trebuchet MS"/>
                <a:ea typeface="Trebuchet MS"/>
                <a:cs typeface="Trebuchet MS"/>
              </a:rPr>
              <a:t>2  ANOMALİYALAR</a:t>
            </a:r>
            <a:endParaRPr sz="1250">
              <a:solidFill>
                <a:schemeClr val="dk1"/>
              </a:solidFill>
              <a:latin typeface="Calibri"/>
              <a:ea typeface="Calibri"/>
              <a:cs typeface="Calibri"/>
            </a:endParaRPr>
          </a:p>
        </p:txBody>
      </p:sp>
      <p:sp>
        <p:nvSpPr>
          <p:cNvPr id="129" name="Google Shape;129;p9">
            <a:extLst xmlns:a="http://schemas.openxmlformats.org/drawingml/2006/main">
              <a:ext uri="{FF2B5EF4-FFF2-40B4-BE49-F238E27FC236}">
                <a16:creationId xmlns:a16="http://schemas.microsoft.com/office/drawing/2014/main" id="{01A7D2B5-016E-4377-8879-B39B35F76FEE}"/>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93B"/>
              </a:buClr>
              <a:buSzPts val="2900"/>
              <a:buFont typeface="Trebuchet MS"/>
              <a:buNone/>
            </a:pPr>
            <a:r>
              <a:rPr sz="2900" b="1">
                <a:solidFill>
                  <a:srgbClr val="1E293B"/>
                </a:solidFill>
                <a:latin typeface="Trebuchet MS"/>
                <a:ea typeface="Trebuchet MS"/>
                <a:cs typeface="Trebuchet MS"/>
              </a:rPr>
              <a:t>Məlumat keyfiyyətinin əsas problemləri</a:t>
            </a:r>
            <a:endParaRPr sz="2900">
              <a:solidFill>
                <a:schemeClr val="dk1"/>
              </a:solidFill>
              <a:latin typeface="Calibri"/>
              <a:ea typeface="Calibri"/>
              <a:cs typeface="Calibri"/>
            </a:endParaRPr>
          </a:p>
        </p:txBody>
      </p:sp>
      <p:sp>
        <p:nvSpPr>
          <p:cNvPr id="130" name="Google Shape;130;p9">
            <a:extLst xmlns:a="http://schemas.openxmlformats.org/drawingml/2006/main">
              <a:ext uri="{FF2B5EF4-FFF2-40B4-BE49-F238E27FC236}">
                <a16:creationId xmlns:a16="http://schemas.microsoft.com/office/drawing/2014/main" id="{27CE5B42-896D-47A0-9EE4-A572F618BB7B}"/>
              </a:ext>
            </a:extLst>
          </p:cNvPr>
          <p:cNvSpPr>
            <a:spLocks xmlns:a="http://schemas.openxmlformats.org/drawingml/2006/main" noGrp="1"/>
          </p:cNvSpPr>
          <p:nvPr/>
        </p:nvSpPr>
        <p:spPr>
          <a:xfrm xmlns:a="http://schemas.openxmlformats.org/drawingml/2006/main">
            <a:off x="566928" y="1828800"/>
            <a:ext cx="2103120" cy="155448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1" name="Google Shape;131;p9">
            <a:extLst xmlns:a="http://schemas.openxmlformats.org/drawingml/2006/main">
              <a:ext uri="{FF2B5EF4-FFF2-40B4-BE49-F238E27FC236}">
                <a16:creationId xmlns:a16="http://schemas.microsoft.com/office/drawing/2014/main" id="{E5092427-4EC8-4473-8BEA-B8308284294C}"/>
              </a:ext>
            </a:extLst>
          </p:cNvPr>
          <p:cNvSpPr>
            <a:spLocks xmlns:a="http://schemas.openxmlformats.org/drawingml/2006/main" noGrp="1"/>
          </p:cNvSpPr>
          <p:nvPr/>
        </p:nvSpPr>
        <p:spPr>
          <a:xfrm xmlns:a="http://schemas.openxmlformats.org/drawingml/2006/main">
            <a:off x="566928" y="1975104"/>
            <a:ext cx="2103120" cy="8083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C0392B"/>
              </a:buClr>
              <a:buSzPts val="3200"/>
              <a:buFont typeface="Trebuchet MS"/>
              <a:buNone/>
            </a:pPr>
            <a:r>
              <a:rPr sz="3200" b="1">
                <a:solidFill>
                  <a:srgbClr val="C0392B"/>
                </a:solidFill>
                <a:latin typeface="Trebuchet MS"/>
                <a:ea typeface="Trebuchet MS"/>
                <a:cs typeface="Trebuchet MS"/>
              </a:rPr>
              <a:t>1</a:t>
            </a:r>
            <a:endParaRPr sz="3200">
              <a:solidFill>
                <a:schemeClr val="dk1"/>
              </a:solidFill>
              <a:latin typeface="Calibri"/>
              <a:ea typeface="Calibri"/>
              <a:cs typeface="Calibri"/>
            </a:endParaRPr>
          </a:p>
        </p:txBody>
      </p:sp>
      <p:sp>
        <p:nvSpPr>
          <p:cNvPr id="132" name="Google Shape;132;p9">
            <a:extLst xmlns:a="http://schemas.openxmlformats.org/drawingml/2006/main">
              <a:ext uri="{FF2B5EF4-FFF2-40B4-BE49-F238E27FC236}">
                <a16:creationId xmlns:a16="http://schemas.microsoft.com/office/drawing/2014/main" id="{C01E20DC-9421-49F7-962D-D74C6072509D}"/>
              </a:ext>
            </a:extLst>
          </p:cNvPr>
          <p:cNvSpPr>
            <a:spLocks xmlns:a="http://schemas.openxmlformats.org/drawingml/2006/main" noGrp="1"/>
          </p:cNvSpPr>
          <p:nvPr/>
        </p:nvSpPr>
        <p:spPr>
          <a:xfrm xmlns:a="http://schemas.openxmlformats.org/drawingml/2006/main">
            <a:off x="658368" y="2792578"/>
            <a:ext cx="1920240" cy="4974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64748B"/>
              </a:buClr>
              <a:buSzPts val="1250"/>
              <a:buFont typeface="Calibri"/>
              <a:buNone/>
            </a:pPr>
            <a:r>
              <a:rPr sz="1250">
                <a:solidFill>
                  <a:srgbClr val="64748B"/>
                </a:solidFill>
                <a:latin typeface="Calibri"/>
                <a:ea typeface="Calibri"/>
                <a:cs typeface="Calibri"/>
              </a:rPr>
              <a:t>Yüksək həcmli gün</a:t>
            </a:r>
            <a:endParaRPr sz="1250">
              <a:solidFill>
                <a:schemeClr val="dk1"/>
              </a:solidFill>
              <a:latin typeface="Calibri"/>
              <a:ea typeface="Calibri"/>
              <a:cs typeface="Calibri"/>
            </a:endParaRPr>
          </a:p>
        </p:txBody>
      </p:sp>
      <p:sp>
        <p:nvSpPr>
          <p:cNvPr id="133" name="Google Shape;133;p9">
            <a:extLst xmlns:a="http://schemas.openxmlformats.org/drawingml/2006/main">
              <a:ext uri="{FF2B5EF4-FFF2-40B4-BE49-F238E27FC236}">
                <a16:creationId xmlns:a16="http://schemas.microsoft.com/office/drawing/2014/main" id="{ADE005F6-1016-4052-B47F-7D2E8681F295}"/>
              </a:ext>
            </a:extLst>
          </p:cNvPr>
          <p:cNvSpPr>
            <a:spLocks xmlns:a="http://schemas.openxmlformats.org/drawingml/2006/main" noGrp="1"/>
          </p:cNvSpPr>
          <p:nvPr/>
        </p:nvSpPr>
        <p:spPr>
          <a:xfrm xmlns:a="http://schemas.openxmlformats.org/drawingml/2006/main">
            <a:off x="2798064" y="1828800"/>
            <a:ext cx="2103120" cy="155448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4" name="Google Shape;134;p9">
            <a:extLst xmlns:a="http://schemas.openxmlformats.org/drawingml/2006/main">
              <a:ext uri="{FF2B5EF4-FFF2-40B4-BE49-F238E27FC236}">
                <a16:creationId xmlns:a16="http://schemas.microsoft.com/office/drawing/2014/main" id="{277C61ED-46E7-4502-B37B-02F8B5C35039}"/>
              </a:ext>
            </a:extLst>
          </p:cNvPr>
          <p:cNvSpPr>
            <a:spLocks xmlns:a="http://schemas.openxmlformats.org/drawingml/2006/main" noGrp="1"/>
          </p:cNvSpPr>
          <p:nvPr/>
        </p:nvSpPr>
        <p:spPr>
          <a:xfrm xmlns:a="http://schemas.openxmlformats.org/drawingml/2006/main">
            <a:off x="2798064" y="1975104"/>
            <a:ext cx="2103120" cy="8083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EF9F27"/>
              </a:buClr>
              <a:buSzPts val="3200"/>
              <a:buFont typeface="Trebuchet MS"/>
              <a:buNone/>
            </a:pPr>
            <a:r>
              <a:rPr sz="3200" b="1">
                <a:solidFill>
                  <a:srgbClr val="EF9F27"/>
                </a:solidFill>
                <a:latin typeface="Trebuchet MS"/>
                <a:ea typeface="Trebuchet MS"/>
                <a:cs typeface="Trebuchet MS"/>
              </a:rPr>
              <a:t>15</a:t>
            </a:r>
            <a:endParaRPr sz="3200">
              <a:solidFill>
                <a:schemeClr val="dk1"/>
              </a:solidFill>
              <a:latin typeface="Calibri"/>
              <a:ea typeface="Calibri"/>
              <a:cs typeface="Calibri"/>
            </a:endParaRPr>
          </a:p>
        </p:txBody>
      </p:sp>
      <p:sp>
        <p:nvSpPr>
          <p:cNvPr id="135" name="Google Shape;135;p9">
            <a:extLst xmlns:a="http://schemas.openxmlformats.org/drawingml/2006/main">
              <a:ext uri="{FF2B5EF4-FFF2-40B4-BE49-F238E27FC236}">
                <a16:creationId xmlns:a16="http://schemas.microsoft.com/office/drawing/2014/main" id="{446ED186-5E97-461B-B3B8-165BF0A0D849}"/>
              </a:ext>
            </a:extLst>
          </p:cNvPr>
          <p:cNvSpPr>
            <a:spLocks xmlns:a="http://schemas.openxmlformats.org/drawingml/2006/main" noGrp="1"/>
          </p:cNvSpPr>
          <p:nvPr/>
        </p:nvSpPr>
        <p:spPr>
          <a:xfrm xmlns:a="http://schemas.openxmlformats.org/drawingml/2006/main">
            <a:off x="2889504" y="2792578"/>
            <a:ext cx="1920240" cy="4974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64748B"/>
              </a:buClr>
              <a:buSzPts val="1250"/>
              <a:buFont typeface="Calibri"/>
              <a:buNone/>
            </a:pPr>
            <a:r>
              <a:rPr sz="1250">
                <a:solidFill>
                  <a:srgbClr val="64748B"/>
                </a:solidFill>
                <a:latin typeface="Calibri"/>
                <a:ea typeface="Calibri"/>
                <a:cs typeface="Calibri"/>
              </a:rPr>
              <a:t>Natamam gün</a:t>
            </a:r>
            <a:endParaRPr sz="1250">
              <a:solidFill>
                <a:schemeClr val="dk1"/>
              </a:solidFill>
              <a:latin typeface="Calibri"/>
              <a:ea typeface="Calibri"/>
              <a:cs typeface="Calibri"/>
            </a:endParaRPr>
          </a:p>
        </p:txBody>
      </p:sp>
      <p:sp>
        <p:nvSpPr>
          <p:cNvPr id="136" name="Google Shape;136;p9">
            <a:extLst xmlns:a="http://schemas.openxmlformats.org/drawingml/2006/main">
              <a:ext uri="{FF2B5EF4-FFF2-40B4-BE49-F238E27FC236}">
                <a16:creationId xmlns:a16="http://schemas.microsoft.com/office/drawing/2014/main" id="{EA157D54-9EB2-4111-AAAD-ADDA3CB5449A}"/>
              </a:ext>
            </a:extLst>
          </p:cNvPr>
          <p:cNvSpPr>
            <a:spLocks xmlns:a="http://schemas.openxmlformats.org/drawingml/2006/main" noGrp="1"/>
          </p:cNvSpPr>
          <p:nvPr/>
        </p:nvSpPr>
        <p:spPr>
          <a:xfrm xmlns:a="http://schemas.openxmlformats.org/drawingml/2006/main">
            <a:off x="5029200" y="1828800"/>
            <a:ext cx="2103120" cy="155448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7" name="Google Shape;137;p9">
            <a:extLst xmlns:a="http://schemas.openxmlformats.org/drawingml/2006/main">
              <a:ext uri="{FF2B5EF4-FFF2-40B4-BE49-F238E27FC236}">
                <a16:creationId xmlns:a16="http://schemas.microsoft.com/office/drawing/2014/main" id="{2AA309E3-BE0A-4B37-8915-138344241914}"/>
              </a:ext>
            </a:extLst>
          </p:cNvPr>
          <p:cNvSpPr>
            <a:spLocks xmlns:a="http://schemas.openxmlformats.org/drawingml/2006/main" noGrp="1"/>
          </p:cNvSpPr>
          <p:nvPr/>
        </p:nvSpPr>
        <p:spPr>
          <a:xfrm xmlns:a="http://schemas.openxmlformats.org/drawingml/2006/main">
            <a:off x="5029200" y="1975104"/>
            <a:ext cx="2103120" cy="8083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EF9F27"/>
              </a:buClr>
              <a:buSzPts val="3200"/>
              <a:buFont typeface="Trebuchet MS"/>
              <a:buNone/>
            </a:pPr>
            <a:r>
              <a:rPr sz="3200" b="1">
                <a:solidFill>
                  <a:srgbClr val="EF9F27"/>
                </a:solidFill>
                <a:latin typeface="Trebuchet MS"/>
                <a:ea typeface="Trebuchet MS"/>
                <a:cs typeface="Trebuchet MS"/>
              </a:rPr>
              <a:t>3</a:t>
            </a:r>
            <a:endParaRPr sz="3200">
              <a:solidFill>
                <a:schemeClr val="dk1"/>
              </a:solidFill>
              <a:latin typeface="Calibri"/>
              <a:ea typeface="Calibri"/>
              <a:cs typeface="Calibri"/>
            </a:endParaRPr>
          </a:p>
        </p:txBody>
      </p:sp>
      <p:sp>
        <p:nvSpPr>
          <p:cNvPr id="138" name="Google Shape;138;p9">
            <a:extLst xmlns:a="http://schemas.openxmlformats.org/drawingml/2006/main">
              <a:ext uri="{FF2B5EF4-FFF2-40B4-BE49-F238E27FC236}">
                <a16:creationId xmlns:a16="http://schemas.microsoft.com/office/drawing/2014/main" id="{79207AAA-110B-4299-BD9D-81BC84565CDC}"/>
              </a:ext>
            </a:extLst>
          </p:cNvPr>
          <p:cNvSpPr>
            <a:spLocks xmlns:a="http://schemas.openxmlformats.org/drawingml/2006/main" noGrp="1"/>
          </p:cNvSpPr>
          <p:nvPr/>
        </p:nvSpPr>
        <p:spPr>
          <a:xfrm xmlns:a="http://schemas.openxmlformats.org/drawingml/2006/main">
            <a:off x="5120640" y="2792578"/>
            <a:ext cx="1920240" cy="4974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64748B"/>
              </a:buClr>
              <a:buSzPts val="1250"/>
              <a:buFont typeface="Calibri"/>
              <a:buNone/>
            </a:pPr>
            <a:r>
              <a:rPr sz="1250">
                <a:solidFill>
                  <a:srgbClr val="64748B"/>
                </a:solidFill>
                <a:latin typeface="Calibri"/>
                <a:ea typeface="Calibri"/>
                <a:cs typeface="Calibri"/>
              </a:rPr>
              <a:t>Məlumatı olmayan gün</a:t>
            </a:r>
            <a:endParaRPr sz="1250">
              <a:solidFill>
                <a:schemeClr val="dk1"/>
              </a:solidFill>
              <a:latin typeface="Calibri"/>
              <a:ea typeface="Calibri"/>
              <a:cs typeface="Calibri"/>
            </a:endParaRPr>
          </a:p>
        </p:txBody>
      </p:sp>
      <p:sp>
        <p:nvSpPr>
          <p:cNvPr id="139" name="Google Shape;139;p9">
            <a:extLst xmlns:a="http://schemas.openxmlformats.org/drawingml/2006/main">
              <a:ext uri="{FF2B5EF4-FFF2-40B4-BE49-F238E27FC236}">
                <a16:creationId xmlns:a16="http://schemas.microsoft.com/office/drawing/2014/main" id="{6352038A-5C61-4203-9F47-00CC36949D44}"/>
              </a:ext>
            </a:extLst>
          </p:cNvPr>
          <p:cNvSpPr>
            <a:spLocks xmlns:a="http://schemas.openxmlformats.org/drawingml/2006/main" noGrp="1"/>
          </p:cNvSpPr>
          <p:nvPr/>
        </p:nvSpPr>
        <p:spPr>
          <a:xfrm xmlns:a="http://schemas.openxmlformats.org/drawingml/2006/main">
            <a:off x="7260336" y="1828800"/>
            <a:ext cx="2103120" cy="155448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0" name="Google Shape;140;p9">
            <a:extLst xmlns:a="http://schemas.openxmlformats.org/drawingml/2006/main">
              <a:ext uri="{FF2B5EF4-FFF2-40B4-BE49-F238E27FC236}">
                <a16:creationId xmlns:a16="http://schemas.microsoft.com/office/drawing/2014/main" id="{7B991683-2CE7-4D0E-A14D-4F01687E219F}"/>
              </a:ext>
            </a:extLst>
          </p:cNvPr>
          <p:cNvSpPr>
            <a:spLocks xmlns:a="http://schemas.openxmlformats.org/drawingml/2006/main" noGrp="1"/>
          </p:cNvSpPr>
          <p:nvPr/>
        </p:nvSpPr>
        <p:spPr>
          <a:xfrm xmlns:a="http://schemas.openxmlformats.org/drawingml/2006/main">
            <a:off x="7260336" y="1975104"/>
            <a:ext cx="2103120" cy="8083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C0392B"/>
              </a:buClr>
              <a:buSzPts val="3200"/>
              <a:buFont typeface="Trebuchet MS"/>
              <a:buNone/>
            </a:pPr>
            <a:r>
              <a:rPr sz="3200" b="1">
                <a:solidFill>
                  <a:srgbClr val="C0392B"/>
                </a:solidFill>
                <a:latin typeface="Trebuchet MS"/>
                <a:ea typeface="Trebuchet MS"/>
                <a:cs typeface="Trebuchet MS"/>
              </a:rPr>
              <a:t>1 364</a:t>
            </a:r>
            <a:endParaRPr sz="3200">
              <a:solidFill>
                <a:schemeClr val="dk1"/>
              </a:solidFill>
              <a:latin typeface="Calibri"/>
              <a:ea typeface="Calibri"/>
              <a:cs typeface="Calibri"/>
            </a:endParaRPr>
          </a:p>
        </p:txBody>
      </p:sp>
      <p:sp>
        <p:nvSpPr>
          <p:cNvPr id="141" name="Google Shape;141;p9">
            <a:extLst xmlns:a="http://schemas.openxmlformats.org/drawingml/2006/main">
              <a:ext uri="{FF2B5EF4-FFF2-40B4-BE49-F238E27FC236}">
                <a16:creationId xmlns:a16="http://schemas.microsoft.com/office/drawing/2014/main" id="{630CB5C2-85DC-4CF3-BEBE-326547EFCFFA}"/>
              </a:ext>
            </a:extLst>
          </p:cNvPr>
          <p:cNvSpPr>
            <a:spLocks xmlns:a="http://schemas.openxmlformats.org/drawingml/2006/main" noGrp="1"/>
          </p:cNvSpPr>
          <p:nvPr/>
        </p:nvSpPr>
        <p:spPr>
          <a:xfrm xmlns:a="http://schemas.openxmlformats.org/drawingml/2006/main">
            <a:off x="7351776" y="2792578"/>
            <a:ext cx="1920240" cy="4974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64748B"/>
              </a:buClr>
              <a:buSzPts val="1250"/>
              <a:buFont typeface="Calibri"/>
              <a:buNone/>
            </a:pPr>
            <a:r>
              <a:rPr sz="1250">
                <a:solidFill>
                  <a:srgbClr val="64748B"/>
                </a:solidFill>
                <a:latin typeface="Calibri"/>
                <a:ea typeface="Calibri"/>
                <a:cs typeface="Calibri"/>
              </a:rPr>
              <a:t>“?” işarəli POS adı</a:t>
            </a:r>
            <a:endParaRPr sz="1250">
              <a:solidFill>
                <a:schemeClr val="dk1"/>
              </a:solidFill>
              <a:latin typeface="Calibri"/>
              <a:ea typeface="Calibri"/>
              <a:cs typeface="Calibri"/>
            </a:endParaRPr>
          </a:p>
        </p:txBody>
      </p:sp>
      <p:sp>
        <p:nvSpPr>
          <p:cNvPr id="142" name="Google Shape;142;p9">
            <a:extLst xmlns:a="http://schemas.openxmlformats.org/drawingml/2006/main">
              <a:ext uri="{FF2B5EF4-FFF2-40B4-BE49-F238E27FC236}">
                <a16:creationId xmlns:a16="http://schemas.microsoft.com/office/drawing/2014/main" id="{0B9A9024-576A-42E3-991F-4FE54CDC0E6C}"/>
              </a:ext>
            </a:extLst>
          </p:cNvPr>
          <p:cNvSpPr>
            <a:spLocks xmlns:a="http://schemas.openxmlformats.org/drawingml/2006/main" noGrp="1"/>
          </p:cNvSpPr>
          <p:nvPr/>
        </p:nvSpPr>
        <p:spPr>
          <a:xfrm xmlns:a="http://schemas.openxmlformats.org/drawingml/2006/main">
            <a:off x="9491472" y="1828800"/>
            <a:ext cx="2103120" cy="155448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3" name="Google Shape;143;p9">
            <a:extLst xmlns:a="http://schemas.openxmlformats.org/drawingml/2006/main">
              <a:ext uri="{FF2B5EF4-FFF2-40B4-BE49-F238E27FC236}">
                <a16:creationId xmlns:a16="http://schemas.microsoft.com/office/drawing/2014/main" id="{CB0FB483-96FE-41C4-A30E-19AEAC77BE3B}"/>
              </a:ext>
            </a:extLst>
          </p:cNvPr>
          <p:cNvSpPr>
            <a:spLocks xmlns:a="http://schemas.openxmlformats.org/drawingml/2006/main" noGrp="1"/>
          </p:cNvSpPr>
          <p:nvPr/>
        </p:nvSpPr>
        <p:spPr>
          <a:xfrm xmlns:a="http://schemas.openxmlformats.org/drawingml/2006/main">
            <a:off x="9491472" y="1975104"/>
            <a:ext cx="2103120" cy="8083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C0392B"/>
              </a:buClr>
              <a:buSzPts val="3200"/>
              <a:buFont typeface="Trebuchet MS"/>
              <a:buNone/>
            </a:pPr>
            <a:r>
              <a:rPr sz="3200" b="1">
                <a:solidFill>
                  <a:srgbClr val="C0392B"/>
                </a:solidFill>
                <a:latin typeface="Trebuchet MS"/>
                <a:ea typeface="Trebuchet MS"/>
                <a:cs typeface="Trebuchet MS"/>
              </a:rPr>
              <a:t>4 288</a:t>
            </a:r>
            <a:endParaRPr sz="3200">
              <a:solidFill>
                <a:schemeClr val="dk1"/>
              </a:solidFill>
              <a:latin typeface="Calibri"/>
              <a:ea typeface="Calibri"/>
              <a:cs typeface="Calibri"/>
            </a:endParaRPr>
          </a:p>
        </p:txBody>
      </p:sp>
      <p:sp>
        <p:nvSpPr>
          <p:cNvPr id="144" name="Google Shape;144;p9">
            <a:extLst xmlns:a="http://schemas.openxmlformats.org/drawingml/2006/main">
              <a:ext uri="{FF2B5EF4-FFF2-40B4-BE49-F238E27FC236}">
                <a16:creationId xmlns:a16="http://schemas.microsoft.com/office/drawing/2014/main" id="{3BBC87C5-77BA-492D-B6EF-B879C8E504D8}"/>
              </a:ext>
            </a:extLst>
          </p:cNvPr>
          <p:cNvSpPr>
            <a:spLocks xmlns:a="http://schemas.openxmlformats.org/drawingml/2006/main" noGrp="1"/>
          </p:cNvSpPr>
          <p:nvPr/>
        </p:nvSpPr>
        <p:spPr>
          <a:xfrm xmlns:a="http://schemas.openxmlformats.org/drawingml/2006/main">
            <a:off x="9582912" y="2792578"/>
            <a:ext cx="1920240" cy="4974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64748B"/>
              </a:buClr>
              <a:buSzPts val="1250"/>
              <a:buFont typeface="Calibri"/>
              <a:buNone/>
            </a:pPr>
            <a:r>
              <a:rPr sz="1250">
                <a:solidFill>
                  <a:srgbClr val="64748B"/>
                </a:solidFill>
                <a:latin typeface="Calibri"/>
                <a:ea typeface="Calibri"/>
                <a:cs typeface="Calibri"/>
              </a:rPr>
              <a:t>Kodlaşdırması pozulmuş məhsul adı</a:t>
            </a:r>
            <a:endParaRPr sz="1250">
              <a:solidFill>
                <a:schemeClr val="dk1"/>
              </a:solidFill>
              <a:latin typeface="Calibri"/>
              <a:ea typeface="Calibri"/>
              <a:cs typeface="Calibri"/>
            </a:endParaRPr>
          </a:p>
        </p:txBody>
      </p:sp>
      <p:sp>
        <p:nvSpPr>
          <p:cNvPr id="145" name="Google Shape;145;p9">
            <a:extLst xmlns:a="http://schemas.openxmlformats.org/drawingml/2006/main">
              <a:ext uri="{FF2B5EF4-FFF2-40B4-BE49-F238E27FC236}">
                <a16:creationId xmlns:a16="http://schemas.microsoft.com/office/drawing/2014/main" id="{6BD2187A-E15F-49E3-B01A-206D860D29A3}"/>
              </a:ext>
            </a:extLst>
          </p:cNvPr>
          <p:cNvSpPr>
            <a:spLocks xmlns:a="http://schemas.openxmlformats.org/drawingml/2006/main" noGrp="1"/>
          </p:cNvSpPr>
          <p:nvPr/>
        </p:nvSpPr>
        <p:spPr>
          <a:xfrm xmlns:a="http://schemas.openxmlformats.org/drawingml/2006/main">
            <a:off x="566928" y="3794760"/>
            <a:ext cx="109728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93B"/>
              </a:buClr>
              <a:buSzPts val="1600"/>
              <a:buFont typeface="Trebuchet MS"/>
              <a:buNone/>
            </a:pPr>
            <a:r>
              <a:rPr sz="1600" b="1">
                <a:solidFill>
                  <a:srgbClr val="1E293B"/>
                </a:solidFill>
                <a:latin typeface="Trebuchet MS"/>
                <a:ea typeface="Trebuchet MS"/>
                <a:cs typeface="Trebuchet MS"/>
              </a:rPr>
              <a:t>Günlük həcmə əsaslanan ilkin yoxlama</a:t>
            </a:r>
            <a:endParaRPr sz="1600">
              <a:solidFill>
                <a:schemeClr val="dk1"/>
              </a:solidFill>
              <a:latin typeface="Calibri"/>
              <a:ea typeface="Calibri"/>
              <a:cs typeface="Calibri"/>
            </a:endParaRPr>
          </a:p>
        </p:txBody>
      </p:sp>
      <p:sp>
        <p:nvSpPr>
          <p:cNvPr id="146" name="Google Shape;146;p9">
            <a:extLst xmlns:a="http://schemas.openxmlformats.org/drawingml/2006/main">
              <a:ext uri="{FF2B5EF4-FFF2-40B4-BE49-F238E27FC236}">
                <a16:creationId xmlns:a16="http://schemas.microsoft.com/office/drawing/2014/main" id="{614DA589-8FB0-4A2F-A165-BD14449E6A9C}"/>
              </a:ext>
            </a:extLst>
          </p:cNvPr>
          <p:cNvSpPr>
            <a:spLocks xmlns:a="http://schemas.openxmlformats.org/drawingml/2006/main" noGrp="1"/>
          </p:cNvSpPr>
          <p:nvPr/>
        </p:nvSpPr>
        <p:spPr>
          <a:xfrm xmlns:a="http://schemas.openxmlformats.org/drawingml/2006/main">
            <a:off x="566928" y="4206240"/>
            <a:ext cx="1106424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4748B"/>
              </a:buClr>
              <a:buSzPts val="1500"/>
              <a:buFont typeface="Calibri"/>
              <a:buNone/>
            </a:pPr>
            <a:r>
              <a:rPr sz="1500">
                <a:solidFill>
                  <a:srgbClr val="64748B"/>
                </a:solidFill>
                <a:latin typeface="Calibri"/>
                <a:ea typeface="Calibri"/>
                <a:cs typeface="Calibri"/>
              </a:rPr>
              <a:t>Müşahidə olunan günlərdə sətir sayı medianın 2 mislindən çoxdursa yüksək həcmli, yarısından azdırsa natamam sayılır. 43 təqvim gününün 24-ü “Normal” statusu alır.</a:t>
            </a:r>
            <a:endParaRPr sz="1500">
              <a:solidFill>
                <a:schemeClr val="dk1"/>
              </a:solidFill>
              <a:latin typeface="Calibri"/>
              <a:ea typeface="Calibri"/>
              <a:cs typeface="Calibri"/>
            </a:endParaRPr>
          </a:p>
        </p:txBody>
      </p:sp>
    </p:spTree>
    <p:extLst>
      <p:ext uri="{BB962C8B-B14F-4D97-AF65-F5344CB8AC3E}">
        <p14:creationId xmlns:p14="http://schemas.microsoft.com/office/powerpoint/2010/main" val="3315851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2" name="Google Shape;152;p10">
            <a:extLst xmlns:a="http://schemas.openxmlformats.org/drawingml/2006/main">
              <a:ext uri="{FF2B5EF4-FFF2-40B4-BE49-F238E27FC236}">
                <a16:creationId xmlns:a16="http://schemas.microsoft.com/office/drawing/2014/main" id="{AF5BA1A7-33F4-4D93-94C2-FB832FAB3A4A}"/>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C0392B"/>
                </a:solidFill>
                <a:latin typeface="Trebuchet MS"/>
                <a:ea typeface="Trebuchet MS"/>
                <a:cs typeface="Trebuchet MS"/>
              </a:defRPr>
            </a:defPPr>
            <a:lvl1pPr>
              <a:defRPr sz="1250" b="1">
                <a:solidFill>
                  <a:srgbClr val="C0392B"/>
                </a:solidFill>
                <a:latin typeface="Trebuchet MS"/>
                <a:ea typeface="Trebuchet MS"/>
                <a:cs typeface="Trebuchet MS"/>
              </a:defRPr>
            </a:lvl1pPr>
            <a:lvl2pPr>
              <a:defRPr sz="1250" b="1">
                <a:solidFill>
                  <a:srgbClr val="C0392B"/>
                </a:solidFill>
                <a:latin typeface="Trebuchet MS"/>
                <a:ea typeface="Trebuchet MS"/>
                <a:cs typeface="Trebuchet MS"/>
              </a:defRPr>
            </a:lvl2pPr>
            <a:lvl3pPr>
              <a:defRPr sz="1250" b="1">
                <a:solidFill>
                  <a:srgbClr val="C0392B"/>
                </a:solidFill>
                <a:latin typeface="Trebuchet MS"/>
                <a:ea typeface="Trebuchet MS"/>
                <a:cs typeface="Trebuchet MS"/>
              </a:defRPr>
            </a:lvl3pPr>
            <a:lvl4pPr>
              <a:defRPr sz="1250" b="1">
                <a:solidFill>
                  <a:srgbClr val="C0392B"/>
                </a:solidFill>
                <a:latin typeface="Trebuchet MS"/>
                <a:ea typeface="Trebuchet MS"/>
                <a:cs typeface="Trebuchet MS"/>
              </a:defRPr>
            </a:lvl4pPr>
            <a:lvl5pPr>
              <a:defRPr sz="1250" b="1">
                <a:solidFill>
                  <a:srgbClr val="C0392B"/>
                </a:solidFill>
                <a:latin typeface="Trebuchet MS"/>
                <a:ea typeface="Trebuchet MS"/>
                <a:cs typeface="Trebuchet MS"/>
              </a:defRPr>
            </a:lvl5pPr>
            <a:lvl6pPr>
              <a:defRPr sz="1250" b="1">
                <a:solidFill>
                  <a:srgbClr val="C0392B"/>
                </a:solidFill>
                <a:latin typeface="Trebuchet MS"/>
                <a:ea typeface="Trebuchet MS"/>
                <a:cs typeface="Trebuchet MS"/>
              </a:defRPr>
            </a:lvl6pPr>
            <a:lvl7pPr>
              <a:defRPr sz="1250" b="1">
                <a:solidFill>
                  <a:srgbClr val="C0392B"/>
                </a:solidFill>
                <a:latin typeface="Trebuchet MS"/>
                <a:ea typeface="Trebuchet MS"/>
                <a:cs typeface="Trebuchet MS"/>
              </a:defRPr>
            </a:lvl7pPr>
            <a:lvl8pPr>
              <a:defRPr sz="1250" b="1">
                <a:solidFill>
                  <a:srgbClr val="C0392B"/>
                </a:solidFill>
                <a:latin typeface="Trebuchet MS"/>
                <a:ea typeface="Trebuchet MS"/>
                <a:cs typeface="Trebuchet MS"/>
              </a:defRPr>
            </a:lvl8pPr>
            <a:lvl9pPr>
              <a:defRPr sz="1250" b="1">
                <a:solidFill>
                  <a:srgbClr val="C0392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C0392B"/>
              </a:buClr>
              <a:buSzPts val="1250"/>
              <a:buFont typeface="Trebuchet MS"/>
              <a:buNone/>
              <a:defRPr sz="1250" b="1">
                <a:solidFill>
                  <a:srgbClr val="C0392B"/>
                </a:solidFill>
                <a:latin typeface="Trebuchet MS"/>
                <a:ea typeface="Trebuchet MS"/>
                <a:cs typeface="Trebuchet MS"/>
              </a:defRPr>
            </a:pPr>
            <a:r>
              <a:rPr sz="1250" b="1">
                <a:solidFill>
                  <a:srgbClr val="C0392B"/>
                </a:solidFill>
                <a:latin typeface="Trebuchet MS"/>
                <a:ea typeface="Trebuchet MS"/>
                <a:cs typeface="Trebuchet MS"/>
              </a:rPr>
              <a:t>2  ANOMALİYALAR</a:t>
            </a:r>
            <a:endParaRPr sz="1250">
              <a:solidFill>
                <a:schemeClr val="dk1"/>
              </a:solidFill>
              <a:latin typeface="Calibri"/>
              <a:ea typeface="Calibri"/>
              <a:cs typeface="Calibri"/>
            </a:endParaRPr>
          </a:p>
        </p:txBody>
      </p:sp>
      <p:sp>
        <p:nvSpPr>
          <p:cNvPr id="153" name="Google Shape;153;p10">
            <a:extLst xmlns:a="http://schemas.openxmlformats.org/drawingml/2006/main">
              <a:ext uri="{FF2B5EF4-FFF2-40B4-BE49-F238E27FC236}">
                <a16:creationId xmlns:a16="http://schemas.microsoft.com/office/drawing/2014/main" id="{16037D28-B5D1-496A-BACF-CE2796F788C4}"/>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19 aprel piki həcm artımı ilə izah olunur</a:t>
            </a:r>
            <a:endParaRPr sz="2900">
              <a:solidFill>
                <a:schemeClr val="dk1"/>
              </a:solidFill>
              <a:latin typeface="Calibri"/>
              <a:ea typeface="Calibri"/>
              <a:cs typeface="Calibri"/>
            </a:endParaRPr>
          </a:p>
        </p:txBody>
      </p:sp>
      <p:sp>
        <p:nvSpPr>
          <p:cNvPr id="154" name="Günlük satış gəliri, mln AZN. 19 aprel–31 may 2024">
            <a:extLst xmlns:a="http://schemas.openxmlformats.org/drawingml/2006/main">
              <a:ext uri="{FF2B5EF4-FFF2-40B4-BE49-F238E27FC236}">
                <a16:creationId xmlns:a16="http://schemas.microsoft.com/office/drawing/2014/main" id="{E1010494-B892-4463-9B8D-D19DD6E7A907}"/>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Günlük satış gəliri, mln AZN. 19 aprel–31 may 2024</a:t>
            </a:r>
          </a:p>
        </p:txBody>
      </p:sp>
      <p:graphicFrame>
        <p:nvGraphicFramePr>
          <p:cNvPr id="155" name="Chart">
            <a:extLst xmlns:a="http://schemas.openxmlformats.org/drawingml/2006/main">
              <a:ext uri="{FF2B5EF4-FFF2-40B4-BE49-F238E27FC236}">
                <a16:creationId xmlns:a16="http://schemas.microsoft.com/office/drawing/2014/main" id="{05461E7B-C693-44DC-8D8C-3EB3C72F1F90}"/>
              </a:ext>
            </a:extLst>
          </p:cNvPr>
          <p:cNvGraphicFramePr/>
          <p:nvPr/>
        </p:nvGraphicFramePr>
        <p:xfrm>
          <a:off xmlns:a="http://schemas.openxmlformats.org/drawingml/2006/main" x="590550" y="1952625"/>
          <a:ext xmlns:a="http://schemas.openxmlformats.org/drawingml/2006/main" cx="7334250" cy="3810000"/>
        </p:xfrm>
        <a:graphic xmlns:a="http://schemas.openxmlformats.org/drawingml/2006/main">
          <a:graphicData uri="http://schemas.openxmlformats.org/drawingml/2006/chart">
            <c:chart xmlns:r="http://schemas.openxmlformats.org/officeDocument/2006/relationships" xmlns:c="http://schemas.openxmlformats.org/drawingml/2006/chart" r:id="R23748a8126ef4d1c"/>
          </a:graphicData>
        </a:graphic>
      </p:graphicFrame>
      <p:sp>
        <p:nvSpPr>
          <p:cNvPr id="156" name="19.04">
            <a:extLst xmlns:a="http://schemas.openxmlformats.org/drawingml/2006/main">
              <a:ext uri="{FF2B5EF4-FFF2-40B4-BE49-F238E27FC236}">
                <a16:creationId xmlns:a16="http://schemas.microsoft.com/office/drawing/2014/main" id="{4E975EFE-9654-49A1-97AC-40462C9B024E}"/>
              </a:ext>
            </a:extLst>
          </p:cNvPr>
          <p:cNvSpPr>
            <a:spLocks xmlns:a="http://schemas.openxmlformats.org/drawingml/2006/main" noGrp="1"/>
          </p:cNvSpPr>
          <p:nvPr/>
        </p:nvSpPr>
        <p:spPr>
          <a:xfrm xmlns:a="http://schemas.openxmlformats.org/drawingml/2006/main">
            <a:off x="742950" y="57054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19.04</a:t>
            </a:r>
          </a:p>
        </p:txBody>
      </p:sp>
      <p:sp>
        <p:nvSpPr>
          <p:cNvPr id="157" name="30.04">
            <a:extLst xmlns:a="http://schemas.openxmlformats.org/drawingml/2006/main">
              <a:ext uri="{FF2B5EF4-FFF2-40B4-BE49-F238E27FC236}">
                <a16:creationId xmlns:a16="http://schemas.microsoft.com/office/drawing/2014/main" id="{E7973897-BED9-4D9A-BF0B-56206A6B5A6B}"/>
              </a:ext>
            </a:extLst>
          </p:cNvPr>
          <p:cNvSpPr>
            <a:spLocks xmlns:a="http://schemas.openxmlformats.org/drawingml/2006/main" noGrp="1"/>
          </p:cNvSpPr>
          <p:nvPr/>
        </p:nvSpPr>
        <p:spPr>
          <a:xfrm xmlns:a="http://schemas.openxmlformats.org/drawingml/2006/main">
            <a:off x="2419350" y="57054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30.04</a:t>
            </a:r>
          </a:p>
        </p:txBody>
      </p:sp>
      <p:sp>
        <p:nvSpPr>
          <p:cNvPr id="158" name="11.05">
            <a:extLst xmlns:a="http://schemas.openxmlformats.org/drawingml/2006/main">
              <a:ext uri="{FF2B5EF4-FFF2-40B4-BE49-F238E27FC236}">
                <a16:creationId xmlns:a16="http://schemas.microsoft.com/office/drawing/2014/main" id="{8CF1510E-1605-4843-BB17-6301B802101D}"/>
              </a:ext>
            </a:extLst>
          </p:cNvPr>
          <p:cNvSpPr>
            <a:spLocks xmlns:a="http://schemas.openxmlformats.org/drawingml/2006/main" noGrp="1"/>
          </p:cNvSpPr>
          <p:nvPr/>
        </p:nvSpPr>
        <p:spPr>
          <a:xfrm xmlns:a="http://schemas.openxmlformats.org/drawingml/2006/main">
            <a:off x="4162425" y="57054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11.05</a:t>
            </a:r>
          </a:p>
        </p:txBody>
      </p:sp>
      <p:sp>
        <p:nvSpPr>
          <p:cNvPr id="159" name="25.05">
            <a:extLst xmlns:a="http://schemas.openxmlformats.org/drawingml/2006/main">
              <a:ext uri="{FF2B5EF4-FFF2-40B4-BE49-F238E27FC236}">
                <a16:creationId xmlns:a16="http://schemas.microsoft.com/office/drawing/2014/main" id="{4A981DA6-8F29-424F-AD1E-03715D260B54}"/>
              </a:ext>
            </a:extLst>
          </p:cNvPr>
          <p:cNvSpPr>
            <a:spLocks xmlns:a="http://schemas.openxmlformats.org/drawingml/2006/main" noGrp="1"/>
          </p:cNvSpPr>
          <p:nvPr/>
        </p:nvSpPr>
        <p:spPr>
          <a:xfrm xmlns:a="http://schemas.openxmlformats.org/drawingml/2006/main">
            <a:off x="6381750" y="57054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25.05</a:t>
            </a:r>
          </a:p>
        </p:txBody>
      </p:sp>
      <p:sp>
        <p:nvSpPr>
          <p:cNvPr id="160" name="31.05">
            <a:extLst xmlns:a="http://schemas.openxmlformats.org/drawingml/2006/main">
              <a:ext uri="{FF2B5EF4-FFF2-40B4-BE49-F238E27FC236}">
                <a16:creationId xmlns:a16="http://schemas.microsoft.com/office/drawing/2014/main" id="{C5C18C07-7EAE-4315-9F82-E69E33A490F6}"/>
              </a:ext>
            </a:extLst>
          </p:cNvPr>
          <p:cNvSpPr>
            <a:spLocks xmlns:a="http://schemas.openxmlformats.org/drawingml/2006/main" noGrp="1"/>
          </p:cNvSpPr>
          <p:nvPr/>
        </p:nvSpPr>
        <p:spPr>
          <a:xfrm xmlns:a="http://schemas.openxmlformats.org/drawingml/2006/main">
            <a:off x="7315200" y="570547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31.05</a:t>
            </a:r>
          </a:p>
        </p:txBody>
      </p:sp>
      <p:sp>
        <p:nvSpPr>
          <p:cNvPr id="161" name="12,00 mln">
            <a:extLst xmlns:a="http://schemas.openxmlformats.org/drawingml/2006/main">
              <a:ext uri="{FF2B5EF4-FFF2-40B4-BE49-F238E27FC236}">
                <a16:creationId xmlns:a16="http://schemas.microsoft.com/office/drawing/2014/main" id="{BCDF8536-E218-4F7D-8C94-2EAA20722A2D}"/>
              </a:ext>
            </a:extLst>
          </p:cNvPr>
          <p:cNvSpPr>
            <a:spLocks xmlns:a="http://schemas.openxmlformats.org/drawingml/2006/main" noGrp="1"/>
          </p:cNvSpPr>
          <p:nvPr/>
        </p:nvSpPr>
        <p:spPr>
          <a:xfrm xmlns:a="http://schemas.openxmlformats.org/drawingml/2006/main">
            <a:off x="8334375" y="20002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0392B"/>
                </a:solidFill>
                <a:latin typeface="Trebuchet MS"/>
                <a:ea typeface="Trebuchet MS"/>
                <a:cs typeface="Trebuchet MS"/>
              </a:defRPr>
            </a:defPPr>
            <a:lvl1pPr algn="l">
              <a:defRPr sz="3600" b="1">
                <a:solidFill>
                  <a:srgbClr val="C0392B"/>
                </a:solidFill>
                <a:latin typeface="Trebuchet MS"/>
                <a:ea typeface="Trebuchet MS"/>
                <a:cs typeface="Trebuchet MS"/>
              </a:defRPr>
            </a:lvl1pPr>
            <a:lvl2pPr algn="l">
              <a:defRPr sz="3600" b="1">
                <a:solidFill>
                  <a:srgbClr val="C0392B"/>
                </a:solidFill>
                <a:latin typeface="Trebuchet MS"/>
                <a:ea typeface="Trebuchet MS"/>
                <a:cs typeface="Trebuchet MS"/>
              </a:defRPr>
            </a:lvl2pPr>
            <a:lvl3pPr algn="l">
              <a:defRPr sz="3600" b="1">
                <a:solidFill>
                  <a:srgbClr val="C0392B"/>
                </a:solidFill>
                <a:latin typeface="Trebuchet MS"/>
                <a:ea typeface="Trebuchet MS"/>
                <a:cs typeface="Trebuchet MS"/>
              </a:defRPr>
            </a:lvl3pPr>
            <a:lvl4pPr algn="l">
              <a:defRPr sz="3600" b="1">
                <a:solidFill>
                  <a:srgbClr val="C0392B"/>
                </a:solidFill>
                <a:latin typeface="Trebuchet MS"/>
                <a:ea typeface="Trebuchet MS"/>
                <a:cs typeface="Trebuchet MS"/>
              </a:defRPr>
            </a:lvl4pPr>
            <a:lvl5pPr algn="l">
              <a:defRPr sz="3600" b="1">
                <a:solidFill>
                  <a:srgbClr val="C0392B"/>
                </a:solidFill>
                <a:latin typeface="Trebuchet MS"/>
                <a:ea typeface="Trebuchet MS"/>
                <a:cs typeface="Trebuchet MS"/>
              </a:defRPr>
            </a:lvl5pPr>
            <a:lvl6pPr algn="l">
              <a:defRPr sz="3600" b="1">
                <a:solidFill>
                  <a:srgbClr val="C0392B"/>
                </a:solidFill>
                <a:latin typeface="Trebuchet MS"/>
                <a:ea typeface="Trebuchet MS"/>
                <a:cs typeface="Trebuchet MS"/>
              </a:defRPr>
            </a:lvl6pPr>
            <a:lvl7pPr algn="l">
              <a:defRPr sz="3600" b="1">
                <a:solidFill>
                  <a:srgbClr val="C0392B"/>
                </a:solidFill>
                <a:latin typeface="Trebuchet MS"/>
                <a:ea typeface="Trebuchet MS"/>
                <a:cs typeface="Trebuchet MS"/>
              </a:defRPr>
            </a:lvl7pPr>
            <a:lvl8pPr algn="l">
              <a:defRPr sz="3600" b="1">
                <a:solidFill>
                  <a:srgbClr val="C0392B"/>
                </a:solidFill>
                <a:latin typeface="Trebuchet MS"/>
                <a:ea typeface="Trebuchet MS"/>
                <a:cs typeface="Trebuchet MS"/>
              </a:defRPr>
            </a:lvl8pPr>
            <a:lvl9pPr algn="l">
              <a:defRPr sz="3600" b="1">
                <a:solidFill>
                  <a:srgbClr val="C0392B"/>
                </a:solidFill>
                <a:latin typeface="Trebuchet MS"/>
                <a:ea typeface="Trebuchet MS"/>
                <a:cs typeface="Trebuchet MS"/>
              </a:defRPr>
            </a:lvl9pPr>
          </a:lstStyle>
          <a:p xmlns:a="http://schemas.openxmlformats.org/drawingml/2006/main">
            <a:pPr algn="l">
              <a:defRPr sz="3600" b="1">
                <a:solidFill>
                  <a:srgbClr val="C0392B"/>
                </a:solidFill>
                <a:latin typeface="Trebuchet MS"/>
                <a:ea typeface="Trebuchet MS"/>
                <a:cs typeface="Trebuchet MS"/>
              </a:defRPr>
            </a:pPr>
            <a:r>
              <a:rPr sz="3600" b="1">
                <a:solidFill>
                  <a:srgbClr val="C0392B"/>
                </a:solidFill>
                <a:latin typeface="Trebuchet MS"/>
                <a:ea typeface="Trebuchet MS"/>
                <a:cs typeface="Trebuchet MS"/>
              </a:rPr>
              <a:t>12,00 mln</a:t>
            </a:r>
          </a:p>
        </p:txBody>
      </p:sp>
      <p:sp>
        <p:nvSpPr>
          <p:cNvPr id="162" name="19 apreldə satış gəliri. Normal günlərin ortası 1,62 ml">
            <a:extLst xmlns:a="http://schemas.openxmlformats.org/drawingml/2006/main">
              <a:ext uri="{FF2B5EF4-FFF2-40B4-BE49-F238E27FC236}">
                <a16:creationId xmlns:a16="http://schemas.microsoft.com/office/drawing/2014/main" id="{F5459C0D-6D21-4ACF-939D-6AF919D103D4}"/>
              </a:ext>
            </a:extLst>
          </p:cNvPr>
          <p:cNvSpPr>
            <a:spLocks xmlns:a="http://schemas.openxmlformats.org/drawingml/2006/main" noGrp="1"/>
          </p:cNvSpPr>
          <p:nvPr/>
        </p:nvSpPr>
        <p:spPr>
          <a:xfrm xmlns:a="http://schemas.openxmlformats.org/drawingml/2006/main">
            <a:off x="8334375" y="2724150"/>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19 apreldə satış gəliri. Normal günlərin ortası 1,62 mln AZN-dir.</a:t>
            </a:r>
          </a:p>
        </p:txBody>
      </p:sp>
      <p:sp>
        <p:nvSpPr>
          <p:cNvPr id="163" name="7,7 dəfə çox sətir">
            <a:extLst xmlns:a="http://schemas.openxmlformats.org/drawingml/2006/main">
              <a:ext uri="{FF2B5EF4-FFF2-40B4-BE49-F238E27FC236}">
                <a16:creationId xmlns:a16="http://schemas.microsoft.com/office/drawing/2014/main" id="{04ACEC87-A4CF-46B5-A9BD-54A50F21D1D6}"/>
              </a:ext>
            </a:extLst>
          </p:cNvPr>
          <p:cNvSpPr>
            <a:spLocks xmlns:a="http://schemas.openxmlformats.org/drawingml/2006/main" noGrp="1"/>
          </p:cNvSpPr>
          <p:nvPr/>
        </p:nvSpPr>
        <p:spPr>
          <a:xfrm xmlns:a="http://schemas.openxmlformats.org/drawingml/2006/main">
            <a:off x="8334375" y="39909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C0392B"/>
                </a:solidFill>
                <a:latin typeface="Trebuchet MS"/>
                <a:ea typeface="Trebuchet MS"/>
                <a:cs typeface="Trebuchet MS"/>
              </a:defRPr>
            </a:defPPr>
            <a:lvl1pPr algn="l">
              <a:defRPr sz="1950" b="1">
                <a:solidFill>
                  <a:srgbClr val="C0392B"/>
                </a:solidFill>
                <a:latin typeface="Trebuchet MS"/>
                <a:ea typeface="Trebuchet MS"/>
                <a:cs typeface="Trebuchet MS"/>
              </a:defRPr>
            </a:lvl1pPr>
            <a:lvl2pPr algn="l">
              <a:defRPr sz="1950" b="1">
                <a:solidFill>
                  <a:srgbClr val="C0392B"/>
                </a:solidFill>
                <a:latin typeface="Trebuchet MS"/>
                <a:ea typeface="Trebuchet MS"/>
                <a:cs typeface="Trebuchet MS"/>
              </a:defRPr>
            </a:lvl2pPr>
            <a:lvl3pPr algn="l">
              <a:defRPr sz="1950" b="1">
                <a:solidFill>
                  <a:srgbClr val="C0392B"/>
                </a:solidFill>
                <a:latin typeface="Trebuchet MS"/>
                <a:ea typeface="Trebuchet MS"/>
                <a:cs typeface="Trebuchet MS"/>
              </a:defRPr>
            </a:lvl3pPr>
            <a:lvl4pPr algn="l">
              <a:defRPr sz="1950" b="1">
                <a:solidFill>
                  <a:srgbClr val="C0392B"/>
                </a:solidFill>
                <a:latin typeface="Trebuchet MS"/>
                <a:ea typeface="Trebuchet MS"/>
                <a:cs typeface="Trebuchet MS"/>
              </a:defRPr>
            </a:lvl4pPr>
            <a:lvl5pPr algn="l">
              <a:defRPr sz="1950" b="1">
                <a:solidFill>
                  <a:srgbClr val="C0392B"/>
                </a:solidFill>
                <a:latin typeface="Trebuchet MS"/>
                <a:ea typeface="Trebuchet MS"/>
                <a:cs typeface="Trebuchet MS"/>
              </a:defRPr>
            </a:lvl5pPr>
            <a:lvl6pPr algn="l">
              <a:defRPr sz="1950" b="1">
                <a:solidFill>
                  <a:srgbClr val="C0392B"/>
                </a:solidFill>
                <a:latin typeface="Trebuchet MS"/>
                <a:ea typeface="Trebuchet MS"/>
                <a:cs typeface="Trebuchet MS"/>
              </a:defRPr>
            </a:lvl6pPr>
            <a:lvl7pPr algn="l">
              <a:defRPr sz="1950" b="1">
                <a:solidFill>
                  <a:srgbClr val="C0392B"/>
                </a:solidFill>
                <a:latin typeface="Trebuchet MS"/>
                <a:ea typeface="Trebuchet MS"/>
                <a:cs typeface="Trebuchet MS"/>
              </a:defRPr>
            </a:lvl7pPr>
            <a:lvl8pPr algn="l">
              <a:defRPr sz="1950" b="1">
                <a:solidFill>
                  <a:srgbClr val="C0392B"/>
                </a:solidFill>
                <a:latin typeface="Trebuchet MS"/>
                <a:ea typeface="Trebuchet MS"/>
                <a:cs typeface="Trebuchet MS"/>
              </a:defRPr>
            </a:lvl8pPr>
            <a:lvl9pPr algn="l">
              <a:defRPr sz="1950" b="1">
                <a:solidFill>
                  <a:srgbClr val="C0392B"/>
                </a:solidFill>
                <a:latin typeface="Trebuchet MS"/>
                <a:ea typeface="Trebuchet MS"/>
                <a:cs typeface="Trebuchet MS"/>
              </a:defRPr>
            </a:lvl9pPr>
          </a:lstStyle>
          <a:p xmlns:a="http://schemas.openxmlformats.org/drawingml/2006/main">
            <a:pPr algn="l">
              <a:defRPr sz="1950" b="1">
                <a:solidFill>
                  <a:srgbClr val="C0392B"/>
                </a:solidFill>
                <a:latin typeface="Trebuchet MS"/>
                <a:ea typeface="Trebuchet MS"/>
                <a:cs typeface="Trebuchet MS"/>
              </a:defRPr>
            </a:pPr>
            <a:r>
              <a:rPr sz="1950" b="1">
                <a:solidFill>
                  <a:srgbClr val="C0392B"/>
                </a:solidFill>
                <a:latin typeface="Trebuchet MS"/>
                <a:ea typeface="Trebuchet MS"/>
                <a:cs typeface="Trebuchet MS"/>
              </a:rPr>
              <a:t>7,7 dəfə çox sətir</a:t>
            </a:r>
          </a:p>
        </p:txBody>
      </p:sp>
      <p:sp>
        <p:nvSpPr>
          <p:cNvPr id="164" name="Sətir üzrə gəlir 5,32 AZN-dir. Normal günlərdə orta 5,5">
            <a:extLst xmlns:a="http://schemas.openxmlformats.org/drawingml/2006/main">
              <a:ext uri="{FF2B5EF4-FFF2-40B4-BE49-F238E27FC236}">
                <a16:creationId xmlns:a16="http://schemas.microsoft.com/office/drawing/2014/main" id="{19F331B2-2C5E-41FE-AAB0-22845F876595}"/>
              </a:ext>
            </a:extLst>
          </p:cNvPr>
          <p:cNvSpPr>
            <a:spLocks xmlns:a="http://schemas.openxmlformats.org/drawingml/2006/main" noGrp="1"/>
          </p:cNvSpPr>
          <p:nvPr/>
        </p:nvSpPr>
        <p:spPr>
          <a:xfrm xmlns:a="http://schemas.openxmlformats.org/drawingml/2006/main">
            <a:off x="8334375" y="445770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Sətir üzrə gəlir 5,32 AZN-dir. Normal günlərdə orta 5,57 AZN-dir.</a:t>
            </a:r>
          </a:p>
        </p:txBody>
      </p:sp>
      <p:sp>
        <p:nvSpPr>
          <p:cNvPr id="165" name="ŞƏRH: Bir neçə günün məlumatının yığılması ehtimalı var">
            <a:extLst xmlns:a="http://schemas.openxmlformats.org/drawingml/2006/main">
              <a:ext uri="{FF2B5EF4-FFF2-40B4-BE49-F238E27FC236}">
                <a16:creationId xmlns:a16="http://schemas.microsoft.com/office/drawing/2014/main" id="{EA41EC9E-617B-4197-8B72-2EEF0F929145}"/>
              </a:ext>
            </a:extLst>
          </p:cNvPr>
          <p:cNvSpPr>
            <a:spLocks xmlns:a="http://schemas.openxmlformats.org/drawingml/2006/main" noGrp="1"/>
          </p:cNvSpPr>
          <p:nvPr/>
        </p:nvSpPr>
        <p:spPr>
          <a:xfrm xmlns:a="http://schemas.openxmlformats.org/drawingml/2006/main">
            <a:off x="571500" y="6181725"/>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0392B"/>
                </a:solidFill>
                <a:latin typeface="Calibri"/>
                <a:ea typeface="Calibri"/>
                <a:cs typeface="Calibri"/>
              </a:defRPr>
            </a:defPPr>
            <a:lvl1pPr algn="l">
              <a:defRPr sz="1500" b="0">
                <a:solidFill>
                  <a:srgbClr val="C0392B"/>
                </a:solidFill>
                <a:latin typeface="Calibri"/>
                <a:ea typeface="Calibri"/>
                <a:cs typeface="Calibri"/>
              </a:defRPr>
            </a:lvl1pPr>
            <a:lvl2pPr algn="l">
              <a:defRPr sz="1500" b="0">
                <a:solidFill>
                  <a:srgbClr val="C0392B"/>
                </a:solidFill>
                <a:latin typeface="Calibri"/>
                <a:ea typeface="Calibri"/>
                <a:cs typeface="Calibri"/>
              </a:defRPr>
            </a:lvl2pPr>
            <a:lvl3pPr algn="l">
              <a:defRPr sz="1500" b="0">
                <a:solidFill>
                  <a:srgbClr val="C0392B"/>
                </a:solidFill>
                <a:latin typeface="Calibri"/>
                <a:ea typeface="Calibri"/>
                <a:cs typeface="Calibri"/>
              </a:defRPr>
            </a:lvl3pPr>
            <a:lvl4pPr algn="l">
              <a:defRPr sz="1500" b="0">
                <a:solidFill>
                  <a:srgbClr val="C0392B"/>
                </a:solidFill>
                <a:latin typeface="Calibri"/>
                <a:ea typeface="Calibri"/>
                <a:cs typeface="Calibri"/>
              </a:defRPr>
            </a:lvl4pPr>
            <a:lvl5pPr algn="l">
              <a:defRPr sz="1500" b="0">
                <a:solidFill>
                  <a:srgbClr val="C0392B"/>
                </a:solidFill>
                <a:latin typeface="Calibri"/>
                <a:ea typeface="Calibri"/>
                <a:cs typeface="Calibri"/>
              </a:defRPr>
            </a:lvl5pPr>
            <a:lvl6pPr algn="l">
              <a:defRPr sz="1500" b="0">
                <a:solidFill>
                  <a:srgbClr val="C0392B"/>
                </a:solidFill>
                <a:latin typeface="Calibri"/>
                <a:ea typeface="Calibri"/>
                <a:cs typeface="Calibri"/>
              </a:defRPr>
            </a:lvl6pPr>
            <a:lvl7pPr algn="l">
              <a:defRPr sz="1500" b="0">
                <a:solidFill>
                  <a:srgbClr val="C0392B"/>
                </a:solidFill>
                <a:latin typeface="Calibri"/>
                <a:ea typeface="Calibri"/>
                <a:cs typeface="Calibri"/>
              </a:defRPr>
            </a:lvl7pPr>
            <a:lvl8pPr algn="l">
              <a:defRPr sz="1500" b="0">
                <a:solidFill>
                  <a:srgbClr val="C0392B"/>
                </a:solidFill>
                <a:latin typeface="Calibri"/>
                <a:ea typeface="Calibri"/>
                <a:cs typeface="Calibri"/>
              </a:defRPr>
            </a:lvl8pPr>
            <a:lvl9pPr algn="l">
              <a:defRPr sz="1500" b="0">
                <a:solidFill>
                  <a:srgbClr val="C0392B"/>
                </a:solidFill>
                <a:latin typeface="Calibri"/>
                <a:ea typeface="Calibri"/>
                <a:cs typeface="Calibri"/>
              </a:defRPr>
            </a:lvl9pPr>
          </a:lstStyle>
          <a:p xmlns:a="http://schemas.openxmlformats.org/drawingml/2006/main">
            <a:pPr algn="l">
              <a:defRPr sz="1500" b="0">
                <a:solidFill>
                  <a:srgbClr val="C0392B"/>
                </a:solidFill>
                <a:latin typeface="Calibri"/>
                <a:ea typeface="Calibri"/>
                <a:cs typeface="Calibri"/>
              </a:defRPr>
            </a:pPr>
            <a:r>
              <a:rPr sz="1500" b="0">
                <a:solidFill>
                  <a:srgbClr val="C0392B"/>
                </a:solidFill>
                <a:latin typeface="Calibri"/>
                <a:ea typeface="Calibri"/>
                <a:cs typeface="Calibri"/>
              </a:rPr>
              <a:t>ŞƏRH: Bir neçə günün məlumatının yığılması ehtimalı var. Yükləmə jurnalları ilə yoxlanmalıdır.</a:t>
            </a:r>
          </a:p>
        </p:txBody>
      </p:sp>
    </p:spTree>
    <p:extLst>
      <p:ext uri="{BB962C8B-B14F-4D97-AF65-F5344CB8AC3E}">
        <p14:creationId xmlns:p14="http://schemas.microsoft.com/office/powerpoint/2010/main" val="9380077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 name="Google Shape;166;p11">
            <a:extLst xmlns:a="http://schemas.openxmlformats.org/drawingml/2006/main">
              <a:ext uri="{FF2B5EF4-FFF2-40B4-BE49-F238E27FC236}">
                <a16:creationId xmlns:a16="http://schemas.microsoft.com/office/drawing/2014/main" id="{0D00FE87-5DC3-4BC5-8479-E2B8387D6428}"/>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C0392B"/>
                </a:solidFill>
                <a:latin typeface="Trebuchet MS"/>
                <a:ea typeface="Trebuchet MS"/>
                <a:cs typeface="Trebuchet MS"/>
              </a:defRPr>
            </a:defPPr>
            <a:lvl1pPr>
              <a:defRPr sz="1250" b="1">
                <a:solidFill>
                  <a:srgbClr val="C0392B"/>
                </a:solidFill>
                <a:latin typeface="Trebuchet MS"/>
                <a:ea typeface="Trebuchet MS"/>
                <a:cs typeface="Trebuchet MS"/>
              </a:defRPr>
            </a:lvl1pPr>
            <a:lvl2pPr>
              <a:defRPr sz="1250" b="1">
                <a:solidFill>
                  <a:srgbClr val="C0392B"/>
                </a:solidFill>
                <a:latin typeface="Trebuchet MS"/>
                <a:ea typeface="Trebuchet MS"/>
                <a:cs typeface="Trebuchet MS"/>
              </a:defRPr>
            </a:lvl2pPr>
            <a:lvl3pPr>
              <a:defRPr sz="1250" b="1">
                <a:solidFill>
                  <a:srgbClr val="C0392B"/>
                </a:solidFill>
                <a:latin typeface="Trebuchet MS"/>
                <a:ea typeface="Trebuchet MS"/>
                <a:cs typeface="Trebuchet MS"/>
              </a:defRPr>
            </a:lvl3pPr>
            <a:lvl4pPr>
              <a:defRPr sz="1250" b="1">
                <a:solidFill>
                  <a:srgbClr val="C0392B"/>
                </a:solidFill>
                <a:latin typeface="Trebuchet MS"/>
                <a:ea typeface="Trebuchet MS"/>
                <a:cs typeface="Trebuchet MS"/>
              </a:defRPr>
            </a:lvl4pPr>
            <a:lvl5pPr>
              <a:defRPr sz="1250" b="1">
                <a:solidFill>
                  <a:srgbClr val="C0392B"/>
                </a:solidFill>
                <a:latin typeface="Trebuchet MS"/>
                <a:ea typeface="Trebuchet MS"/>
                <a:cs typeface="Trebuchet MS"/>
              </a:defRPr>
            </a:lvl5pPr>
            <a:lvl6pPr>
              <a:defRPr sz="1250" b="1">
                <a:solidFill>
                  <a:srgbClr val="C0392B"/>
                </a:solidFill>
                <a:latin typeface="Trebuchet MS"/>
                <a:ea typeface="Trebuchet MS"/>
                <a:cs typeface="Trebuchet MS"/>
              </a:defRPr>
            </a:lvl6pPr>
            <a:lvl7pPr>
              <a:defRPr sz="1250" b="1">
                <a:solidFill>
                  <a:srgbClr val="C0392B"/>
                </a:solidFill>
                <a:latin typeface="Trebuchet MS"/>
                <a:ea typeface="Trebuchet MS"/>
                <a:cs typeface="Trebuchet MS"/>
              </a:defRPr>
            </a:lvl7pPr>
            <a:lvl8pPr>
              <a:defRPr sz="1250" b="1">
                <a:solidFill>
                  <a:srgbClr val="C0392B"/>
                </a:solidFill>
                <a:latin typeface="Trebuchet MS"/>
                <a:ea typeface="Trebuchet MS"/>
                <a:cs typeface="Trebuchet MS"/>
              </a:defRPr>
            </a:lvl8pPr>
            <a:lvl9pPr>
              <a:defRPr sz="1250" b="1">
                <a:solidFill>
                  <a:srgbClr val="C0392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C0392B"/>
              </a:buClr>
              <a:buSzPts val="1250"/>
              <a:buFont typeface="Trebuchet MS"/>
              <a:buNone/>
              <a:defRPr sz="1250" b="1">
                <a:solidFill>
                  <a:srgbClr val="C0392B"/>
                </a:solidFill>
                <a:latin typeface="Trebuchet MS"/>
                <a:ea typeface="Trebuchet MS"/>
                <a:cs typeface="Trebuchet MS"/>
              </a:defRPr>
            </a:pPr>
            <a:r>
              <a:rPr sz="1250" b="1">
                <a:solidFill>
                  <a:srgbClr val="C0392B"/>
                </a:solidFill>
                <a:latin typeface="Trebuchet MS"/>
                <a:ea typeface="Trebuchet MS"/>
                <a:cs typeface="Trebuchet MS"/>
              </a:rPr>
              <a:t>2  ANOMALİYALAR</a:t>
            </a:r>
            <a:endParaRPr sz="1250">
              <a:solidFill>
                <a:schemeClr val="dk1"/>
              </a:solidFill>
              <a:latin typeface="Calibri"/>
              <a:ea typeface="Calibri"/>
              <a:cs typeface="Calibri"/>
            </a:endParaRPr>
          </a:p>
        </p:txBody>
      </p:sp>
      <p:sp>
        <p:nvSpPr>
          <p:cNvPr id="167" name="Google Shape;167;p11">
            <a:extLst xmlns:a="http://schemas.openxmlformats.org/drawingml/2006/main">
              <a:ext uri="{FF2B5EF4-FFF2-40B4-BE49-F238E27FC236}">
                <a16:creationId xmlns:a16="http://schemas.microsoft.com/office/drawing/2014/main" id="{11692671-90E1-4E4F-887E-7FA8D21902D1}"/>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Təqvim günlərinin yalnız 24-ü modelə uyğundur</a:t>
            </a:r>
            <a:endParaRPr sz="2900">
              <a:solidFill>
                <a:schemeClr val="dk1"/>
              </a:solidFill>
              <a:latin typeface="Calibri"/>
              <a:ea typeface="Calibri"/>
              <a:cs typeface="Calibri"/>
            </a:endParaRPr>
          </a:p>
        </p:txBody>
      </p:sp>
      <p:sp>
        <p:nvSpPr>
          <p:cNvPr id="170" name="Google Shape;170;p11">
            <a:extLst xmlns:a="http://schemas.openxmlformats.org/drawingml/2006/main">
              <a:ext uri="{FF2B5EF4-FFF2-40B4-BE49-F238E27FC236}">
                <a16:creationId xmlns:a16="http://schemas.microsoft.com/office/drawing/2014/main" id="{24D2F687-CED3-4473-8634-86DD61F7FC84}"/>
              </a:ext>
            </a:extLst>
          </p:cNvPr>
          <p:cNvSpPr>
            <a:spLocks xmlns:a="http://schemas.openxmlformats.org/drawingml/2006/main" noGrp="1"/>
          </p:cNvSpPr>
          <p:nvPr/>
        </p:nvSpPr>
        <p:spPr>
          <a:xfrm xmlns:a="http://schemas.openxmlformats.org/drawingml/2006/main">
            <a:off x="566928" y="6053328"/>
            <a:ext cx="11055096" cy="566928"/>
          </a:xfrm>
          <a:prstGeom xmlns:a="http://schemas.openxmlformats.org/drawingml/2006/main" prst="rect">
            <a:avLst/>
          </a:prstGeom>
          <a:solidFill xmlns:a="http://schemas.openxmlformats.org/drawingml/2006/main">
            <a:srgbClr val="F4F7F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71" name="Google Shape;171;p11">
            <a:extLst xmlns:a="http://schemas.openxmlformats.org/drawingml/2006/main">
              <a:ext uri="{FF2B5EF4-FFF2-40B4-BE49-F238E27FC236}">
                <a16:creationId xmlns:a16="http://schemas.microsoft.com/office/drawing/2014/main" id="{9FD2FD14-438E-4931-8BCD-F08F2ADA0509}"/>
              </a:ext>
            </a:extLst>
          </p:cNvPr>
          <p:cNvSpPr>
            <a:spLocks xmlns:a="http://schemas.openxmlformats.org/drawingml/2006/main" noGrp="1"/>
          </p:cNvSpPr>
          <p:nvPr/>
        </p:nvSpPr>
        <p:spPr>
          <a:xfrm xmlns:a="http://schemas.openxmlformats.org/drawingml/2006/main">
            <a:off x="868680" y="6053328"/>
            <a:ext cx="106070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142875" rIns="0" bIns="0" anchor="ctr">
            <a:noAutofit/>
          </a:bodyPr>
          <a:lstStyle xmlns:a="http://schemas.openxmlformats.org/drawingml/2006/main">
            <a:defPPr>
              <a:defRPr sz="1448">
                <a:solidFill>
                  <a:srgbClr val="C0392B"/>
                </a:solidFill>
                <a:latin typeface="Calibri"/>
                <a:ea typeface="Calibri"/>
                <a:cs typeface="Calibri"/>
              </a:defRPr>
            </a:defPPr>
            <a:lvl1pPr>
              <a:defRPr sz="1448">
                <a:solidFill>
                  <a:srgbClr val="C0392B"/>
                </a:solidFill>
                <a:latin typeface="Calibri"/>
                <a:ea typeface="Calibri"/>
                <a:cs typeface="Calibri"/>
              </a:defRPr>
            </a:lvl1pPr>
            <a:lvl2pPr>
              <a:defRPr sz="1448">
                <a:solidFill>
                  <a:srgbClr val="C0392B"/>
                </a:solidFill>
                <a:latin typeface="Calibri"/>
                <a:ea typeface="Calibri"/>
                <a:cs typeface="Calibri"/>
              </a:defRPr>
            </a:lvl2pPr>
            <a:lvl3pPr>
              <a:defRPr sz="1448">
                <a:solidFill>
                  <a:srgbClr val="C0392B"/>
                </a:solidFill>
                <a:latin typeface="Calibri"/>
                <a:ea typeface="Calibri"/>
                <a:cs typeface="Calibri"/>
              </a:defRPr>
            </a:lvl3pPr>
            <a:lvl4pPr>
              <a:defRPr sz="1448">
                <a:solidFill>
                  <a:srgbClr val="C0392B"/>
                </a:solidFill>
                <a:latin typeface="Calibri"/>
                <a:ea typeface="Calibri"/>
                <a:cs typeface="Calibri"/>
              </a:defRPr>
            </a:lvl4pPr>
            <a:lvl5pPr>
              <a:defRPr sz="1448">
                <a:solidFill>
                  <a:srgbClr val="C0392B"/>
                </a:solidFill>
                <a:latin typeface="Calibri"/>
                <a:ea typeface="Calibri"/>
                <a:cs typeface="Calibri"/>
              </a:defRPr>
            </a:lvl5pPr>
            <a:lvl6pPr>
              <a:defRPr sz="1448">
                <a:solidFill>
                  <a:srgbClr val="C0392B"/>
                </a:solidFill>
                <a:latin typeface="Calibri"/>
                <a:ea typeface="Calibri"/>
                <a:cs typeface="Calibri"/>
              </a:defRPr>
            </a:lvl6pPr>
            <a:lvl7pPr>
              <a:defRPr sz="1448">
                <a:solidFill>
                  <a:srgbClr val="C0392B"/>
                </a:solidFill>
                <a:latin typeface="Calibri"/>
                <a:ea typeface="Calibri"/>
                <a:cs typeface="Calibri"/>
              </a:defRPr>
            </a:lvl7pPr>
            <a:lvl8pPr>
              <a:defRPr sz="1448">
                <a:solidFill>
                  <a:srgbClr val="C0392B"/>
                </a:solidFill>
                <a:latin typeface="Calibri"/>
                <a:ea typeface="Calibri"/>
                <a:cs typeface="Calibri"/>
              </a:defRPr>
            </a:lvl8pPr>
            <a:lvl9pPr>
              <a:defRPr sz="1448">
                <a:solidFill>
                  <a:srgbClr val="C0392B"/>
                </a:solidFill>
                <a:latin typeface="Calibri"/>
                <a:ea typeface="Calibri"/>
                <a:cs typeface="Calibri"/>
              </a:defRPr>
            </a:lvl9pPr>
          </a:lstStyle>
          <a:p xmlns:a="http://schemas.openxmlformats.org/drawingml/2006/main">
            <a:pPr marL="0" marR="0" lvl="0" indent="0" algn="l">
              <a:spcBef>
                <a:spcPts val="0"/>
              </a:spcBef>
              <a:spcAft>
                <a:spcPts val="0"/>
              </a:spcAft>
              <a:buClr>
                <a:srgbClr val="C0392B"/>
              </a:buClr>
              <a:buSzPts val="1350"/>
              <a:buFont typeface="Calibri"/>
              <a:buNone/>
              <a:defRPr sz="1448">
                <a:solidFill>
                  <a:srgbClr val="C0392B"/>
                </a:solidFill>
                <a:latin typeface="Calibri"/>
                <a:ea typeface="Calibri"/>
                <a:cs typeface="Calibri"/>
              </a:defRPr>
            </a:pPr>
            <a:r>
              <a:rPr sz="1448" b="1">
                <a:solidFill>
                  <a:srgbClr val="C0392B"/>
                </a:solidFill>
                <a:latin typeface="Calibri"/>
                <a:ea typeface="Calibri"/>
                <a:cs typeface="Calibri"/>
              </a:rPr>
              <a:t>NƏTİCƏ: Aşağı həcm avtomatik olaraq zəif satış kimi şərh edilməməlidir.</a:t>
            </a:r>
            <a:endParaRPr sz="1350">
              <a:solidFill>
                <a:schemeClr val="dk1"/>
              </a:solidFill>
              <a:latin typeface="Calibri"/>
              <a:ea typeface="Calibri"/>
              <a:cs typeface="Calibri"/>
            </a:endParaRPr>
          </a:p>
        </p:txBody>
      </p:sp>
      <p:sp>
        <p:nvSpPr>
          <p:cNvPr id="172" name="Məlumat olan günlərdə sətir sayı, min. Pik gün bu qrafi">
            <a:extLst xmlns:a="http://schemas.openxmlformats.org/drawingml/2006/main">
              <a:ext uri="{FF2B5EF4-FFF2-40B4-BE49-F238E27FC236}">
                <a16:creationId xmlns:a16="http://schemas.microsoft.com/office/drawing/2014/main" id="{38A0D51B-E95F-465F-9158-5BE865B9AC5B}"/>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Məlumat olan günlərdə sətir sayı, min. Pik gün bu qrafikə daxil deyil</a:t>
            </a:r>
          </a:p>
        </p:txBody>
      </p:sp>
      <p:graphicFrame>
        <p:nvGraphicFramePr>
          <p:cNvPr id="173" name="Chart">
            <a:extLst xmlns:a="http://schemas.openxmlformats.org/drawingml/2006/main">
              <a:ext uri="{FF2B5EF4-FFF2-40B4-BE49-F238E27FC236}">
                <a16:creationId xmlns:a16="http://schemas.microsoft.com/office/drawing/2014/main" id="{C7A15897-1257-4A0A-8DE0-4FBAD5D77A3E}"/>
              </a:ext>
            </a:extLst>
          </p:cNvPr>
          <p:cNvGraphicFramePr/>
          <p:nvPr/>
        </p:nvGraphicFramePr>
        <p:xfrm>
          <a:off xmlns:a="http://schemas.openxmlformats.org/drawingml/2006/main" x="571500" y="2009775"/>
          <a:ext xmlns:a="http://schemas.openxmlformats.org/drawingml/2006/main" cx="7524750" cy="3600450"/>
        </p:xfrm>
        <a:graphic xmlns:a="http://schemas.openxmlformats.org/drawingml/2006/main">
          <a:graphicData uri="http://schemas.openxmlformats.org/drawingml/2006/chart">
            <c:chart xmlns:r="http://schemas.openxmlformats.org/officeDocument/2006/relationships" xmlns:c="http://schemas.openxmlformats.org/drawingml/2006/chart" r:id="Rd1c3e16af0894565"/>
          </a:graphicData>
        </a:graphic>
      </p:graphicFrame>
      <p:sp>
        <p:nvSpPr>
          <p:cNvPr id="174" name="20.04">
            <a:extLst xmlns:a="http://schemas.openxmlformats.org/drawingml/2006/main">
              <a:ext uri="{FF2B5EF4-FFF2-40B4-BE49-F238E27FC236}">
                <a16:creationId xmlns:a16="http://schemas.microsoft.com/office/drawing/2014/main" id="{B8CCE38A-10BE-4064-B54C-4CDBC61B6FFC}"/>
              </a:ext>
            </a:extLst>
          </p:cNvPr>
          <p:cNvSpPr>
            <a:spLocks xmlns:a="http://schemas.openxmlformats.org/drawingml/2006/main" noGrp="1"/>
          </p:cNvSpPr>
          <p:nvPr/>
        </p:nvSpPr>
        <p:spPr>
          <a:xfrm xmlns:a="http://schemas.openxmlformats.org/drawingml/2006/main">
            <a:off x="781050" y="557212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20.04</a:t>
            </a:r>
          </a:p>
        </p:txBody>
      </p:sp>
      <p:sp>
        <p:nvSpPr>
          <p:cNvPr id="175" name="30.04">
            <a:extLst xmlns:a="http://schemas.openxmlformats.org/drawingml/2006/main">
              <a:ext uri="{FF2B5EF4-FFF2-40B4-BE49-F238E27FC236}">
                <a16:creationId xmlns:a16="http://schemas.microsoft.com/office/drawing/2014/main" id="{61D72300-02F3-4F03-845A-6749EA929471}"/>
              </a:ext>
            </a:extLst>
          </p:cNvPr>
          <p:cNvSpPr>
            <a:spLocks xmlns:a="http://schemas.openxmlformats.org/drawingml/2006/main" noGrp="1"/>
          </p:cNvSpPr>
          <p:nvPr/>
        </p:nvSpPr>
        <p:spPr>
          <a:xfrm xmlns:a="http://schemas.openxmlformats.org/drawingml/2006/main">
            <a:off x="2514600" y="557212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30.04</a:t>
            </a:r>
          </a:p>
        </p:txBody>
      </p:sp>
      <p:sp>
        <p:nvSpPr>
          <p:cNvPr id="176" name="11.05">
            <a:extLst xmlns:a="http://schemas.openxmlformats.org/drawingml/2006/main">
              <a:ext uri="{FF2B5EF4-FFF2-40B4-BE49-F238E27FC236}">
                <a16:creationId xmlns:a16="http://schemas.microsoft.com/office/drawing/2014/main" id="{E7D2DE11-45C1-4847-AC14-055C3893EE6A}"/>
              </a:ext>
            </a:extLst>
          </p:cNvPr>
          <p:cNvSpPr>
            <a:spLocks xmlns:a="http://schemas.openxmlformats.org/drawingml/2006/main" noGrp="1"/>
          </p:cNvSpPr>
          <p:nvPr/>
        </p:nvSpPr>
        <p:spPr>
          <a:xfrm xmlns:a="http://schemas.openxmlformats.org/drawingml/2006/main">
            <a:off x="4419600" y="557212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11.05</a:t>
            </a:r>
          </a:p>
        </p:txBody>
      </p:sp>
      <p:sp>
        <p:nvSpPr>
          <p:cNvPr id="177" name="25.05">
            <a:extLst xmlns:a="http://schemas.openxmlformats.org/drawingml/2006/main">
              <a:ext uri="{FF2B5EF4-FFF2-40B4-BE49-F238E27FC236}">
                <a16:creationId xmlns:a16="http://schemas.microsoft.com/office/drawing/2014/main" id="{BC82EA78-A434-47BE-9DC7-A4A5F9AD54BE}"/>
              </a:ext>
            </a:extLst>
          </p:cNvPr>
          <p:cNvSpPr>
            <a:spLocks xmlns:a="http://schemas.openxmlformats.org/drawingml/2006/main" noGrp="1"/>
          </p:cNvSpPr>
          <p:nvPr/>
        </p:nvSpPr>
        <p:spPr>
          <a:xfrm xmlns:a="http://schemas.openxmlformats.org/drawingml/2006/main">
            <a:off x="6886575" y="557212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25.05</a:t>
            </a:r>
          </a:p>
        </p:txBody>
      </p:sp>
      <p:sp>
        <p:nvSpPr>
          <p:cNvPr id="178" name="31.05">
            <a:extLst xmlns:a="http://schemas.openxmlformats.org/drawingml/2006/main">
              <a:ext uri="{FF2B5EF4-FFF2-40B4-BE49-F238E27FC236}">
                <a16:creationId xmlns:a16="http://schemas.microsoft.com/office/drawing/2014/main" id="{97D4D782-B7FE-48C8-B053-4385F7ABB4DC}"/>
              </a:ext>
            </a:extLst>
          </p:cNvPr>
          <p:cNvSpPr>
            <a:spLocks xmlns:a="http://schemas.openxmlformats.org/drawingml/2006/main" noGrp="1"/>
          </p:cNvSpPr>
          <p:nvPr/>
        </p:nvSpPr>
        <p:spPr>
          <a:xfrm xmlns:a="http://schemas.openxmlformats.org/drawingml/2006/main">
            <a:off x="7467600" y="5572125"/>
            <a:ext cx="762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64748B"/>
                </a:solidFill>
                <a:latin typeface="Calibri"/>
                <a:ea typeface="Calibri"/>
                <a:cs typeface="Calibri"/>
              </a:defRPr>
            </a:defPPr>
            <a:lvl1pPr algn="ctr">
              <a:defRPr sz="1275" b="0">
                <a:solidFill>
                  <a:srgbClr val="64748B"/>
                </a:solidFill>
                <a:latin typeface="Calibri"/>
                <a:ea typeface="Calibri"/>
                <a:cs typeface="Calibri"/>
              </a:defRPr>
            </a:lvl1pPr>
            <a:lvl2pPr algn="ctr">
              <a:defRPr sz="1275" b="0">
                <a:solidFill>
                  <a:srgbClr val="64748B"/>
                </a:solidFill>
                <a:latin typeface="Calibri"/>
                <a:ea typeface="Calibri"/>
                <a:cs typeface="Calibri"/>
              </a:defRPr>
            </a:lvl2pPr>
            <a:lvl3pPr algn="ctr">
              <a:defRPr sz="1275" b="0">
                <a:solidFill>
                  <a:srgbClr val="64748B"/>
                </a:solidFill>
                <a:latin typeface="Calibri"/>
                <a:ea typeface="Calibri"/>
                <a:cs typeface="Calibri"/>
              </a:defRPr>
            </a:lvl3pPr>
            <a:lvl4pPr algn="ctr">
              <a:defRPr sz="1275" b="0">
                <a:solidFill>
                  <a:srgbClr val="64748B"/>
                </a:solidFill>
                <a:latin typeface="Calibri"/>
                <a:ea typeface="Calibri"/>
                <a:cs typeface="Calibri"/>
              </a:defRPr>
            </a:lvl4pPr>
            <a:lvl5pPr algn="ctr">
              <a:defRPr sz="1275" b="0">
                <a:solidFill>
                  <a:srgbClr val="64748B"/>
                </a:solidFill>
                <a:latin typeface="Calibri"/>
                <a:ea typeface="Calibri"/>
                <a:cs typeface="Calibri"/>
              </a:defRPr>
            </a:lvl5pPr>
            <a:lvl6pPr algn="ctr">
              <a:defRPr sz="1275" b="0">
                <a:solidFill>
                  <a:srgbClr val="64748B"/>
                </a:solidFill>
                <a:latin typeface="Calibri"/>
                <a:ea typeface="Calibri"/>
                <a:cs typeface="Calibri"/>
              </a:defRPr>
            </a:lvl6pPr>
            <a:lvl7pPr algn="ctr">
              <a:defRPr sz="1275" b="0">
                <a:solidFill>
                  <a:srgbClr val="64748B"/>
                </a:solidFill>
                <a:latin typeface="Calibri"/>
                <a:ea typeface="Calibri"/>
                <a:cs typeface="Calibri"/>
              </a:defRPr>
            </a:lvl7pPr>
            <a:lvl8pPr algn="ctr">
              <a:defRPr sz="1275" b="0">
                <a:solidFill>
                  <a:srgbClr val="64748B"/>
                </a:solidFill>
                <a:latin typeface="Calibri"/>
                <a:ea typeface="Calibri"/>
                <a:cs typeface="Calibri"/>
              </a:defRPr>
            </a:lvl8pPr>
            <a:lvl9pPr algn="ctr">
              <a:defRPr sz="1275" b="0">
                <a:solidFill>
                  <a:srgbClr val="64748B"/>
                </a:solidFill>
                <a:latin typeface="Calibri"/>
                <a:ea typeface="Calibri"/>
                <a:cs typeface="Calibri"/>
              </a:defRPr>
            </a:lvl9pPr>
          </a:lstStyle>
          <a:p xmlns:a="http://schemas.openxmlformats.org/drawingml/2006/main">
            <a:pPr algn="ctr">
              <a:defRPr sz="1275" b="0">
                <a:solidFill>
                  <a:srgbClr val="64748B"/>
                </a:solidFill>
                <a:latin typeface="Calibri"/>
                <a:ea typeface="Calibri"/>
                <a:cs typeface="Calibri"/>
              </a:defRPr>
            </a:pPr>
            <a:r>
              <a:rPr sz="1275" b="0">
                <a:solidFill>
                  <a:srgbClr val="64748B"/>
                </a:solidFill>
                <a:latin typeface="Calibri"/>
                <a:ea typeface="Calibri"/>
                <a:cs typeface="Calibri"/>
              </a:rPr>
              <a:t>31.05</a:t>
            </a:r>
          </a:p>
        </p:txBody>
      </p:sp>
      <p:sp>
        <p:nvSpPr>
          <p:cNvPr id="179" name="30 aprel–10 may">
            <a:extLst xmlns:a="http://schemas.openxmlformats.org/drawingml/2006/main">
              <a:ext uri="{FF2B5EF4-FFF2-40B4-BE49-F238E27FC236}">
                <a16:creationId xmlns:a16="http://schemas.microsoft.com/office/drawing/2014/main" id="{438D883C-1AF5-4CF6-8085-63F377723466}"/>
              </a:ext>
            </a:extLst>
          </p:cNvPr>
          <p:cNvSpPr>
            <a:spLocks xmlns:a="http://schemas.openxmlformats.org/drawingml/2006/main" noGrp="1"/>
          </p:cNvSpPr>
          <p:nvPr/>
        </p:nvSpPr>
        <p:spPr>
          <a:xfrm xmlns:a="http://schemas.openxmlformats.org/drawingml/2006/main">
            <a:off x="8477250" y="20097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C0392B"/>
                </a:solidFill>
                <a:latin typeface="Trebuchet MS"/>
                <a:ea typeface="Trebuchet MS"/>
                <a:cs typeface="Trebuchet MS"/>
              </a:defRPr>
            </a:defPPr>
            <a:lvl1pPr algn="l">
              <a:defRPr sz="1950" b="1">
                <a:solidFill>
                  <a:srgbClr val="C0392B"/>
                </a:solidFill>
                <a:latin typeface="Trebuchet MS"/>
                <a:ea typeface="Trebuchet MS"/>
                <a:cs typeface="Trebuchet MS"/>
              </a:defRPr>
            </a:lvl1pPr>
            <a:lvl2pPr algn="l">
              <a:defRPr sz="1950" b="1">
                <a:solidFill>
                  <a:srgbClr val="C0392B"/>
                </a:solidFill>
                <a:latin typeface="Trebuchet MS"/>
                <a:ea typeface="Trebuchet MS"/>
                <a:cs typeface="Trebuchet MS"/>
              </a:defRPr>
            </a:lvl2pPr>
            <a:lvl3pPr algn="l">
              <a:defRPr sz="1950" b="1">
                <a:solidFill>
                  <a:srgbClr val="C0392B"/>
                </a:solidFill>
                <a:latin typeface="Trebuchet MS"/>
                <a:ea typeface="Trebuchet MS"/>
                <a:cs typeface="Trebuchet MS"/>
              </a:defRPr>
            </a:lvl3pPr>
            <a:lvl4pPr algn="l">
              <a:defRPr sz="1950" b="1">
                <a:solidFill>
                  <a:srgbClr val="C0392B"/>
                </a:solidFill>
                <a:latin typeface="Trebuchet MS"/>
                <a:ea typeface="Trebuchet MS"/>
                <a:cs typeface="Trebuchet MS"/>
              </a:defRPr>
            </a:lvl4pPr>
            <a:lvl5pPr algn="l">
              <a:defRPr sz="1950" b="1">
                <a:solidFill>
                  <a:srgbClr val="C0392B"/>
                </a:solidFill>
                <a:latin typeface="Trebuchet MS"/>
                <a:ea typeface="Trebuchet MS"/>
                <a:cs typeface="Trebuchet MS"/>
              </a:defRPr>
            </a:lvl5pPr>
            <a:lvl6pPr algn="l">
              <a:defRPr sz="1950" b="1">
                <a:solidFill>
                  <a:srgbClr val="C0392B"/>
                </a:solidFill>
                <a:latin typeface="Trebuchet MS"/>
                <a:ea typeface="Trebuchet MS"/>
                <a:cs typeface="Trebuchet MS"/>
              </a:defRPr>
            </a:lvl6pPr>
            <a:lvl7pPr algn="l">
              <a:defRPr sz="1950" b="1">
                <a:solidFill>
                  <a:srgbClr val="C0392B"/>
                </a:solidFill>
                <a:latin typeface="Trebuchet MS"/>
                <a:ea typeface="Trebuchet MS"/>
                <a:cs typeface="Trebuchet MS"/>
              </a:defRPr>
            </a:lvl7pPr>
            <a:lvl8pPr algn="l">
              <a:defRPr sz="1950" b="1">
                <a:solidFill>
                  <a:srgbClr val="C0392B"/>
                </a:solidFill>
                <a:latin typeface="Trebuchet MS"/>
                <a:ea typeface="Trebuchet MS"/>
                <a:cs typeface="Trebuchet MS"/>
              </a:defRPr>
            </a:lvl8pPr>
            <a:lvl9pPr algn="l">
              <a:defRPr sz="1950" b="1">
                <a:solidFill>
                  <a:srgbClr val="C0392B"/>
                </a:solidFill>
                <a:latin typeface="Trebuchet MS"/>
                <a:ea typeface="Trebuchet MS"/>
                <a:cs typeface="Trebuchet MS"/>
              </a:defRPr>
            </a:lvl9pPr>
          </a:lstStyle>
          <a:p xmlns:a="http://schemas.openxmlformats.org/drawingml/2006/main">
            <a:pPr algn="l">
              <a:defRPr sz="1950" b="1">
                <a:solidFill>
                  <a:srgbClr val="C0392B"/>
                </a:solidFill>
                <a:latin typeface="Trebuchet MS"/>
                <a:ea typeface="Trebuchet MS"/>
                <a:cs typeface="Trebuchet MS"/>
              </a:defRPr>
            </a:pPr>
            <a:r>
              <a:rPr sz="1950" b="1">
                <a:solidFill>
                  <a:srgbClr val="C0392B"/>
                </a:solidFill>
                <a:latin typeface="Trebuchet MS"/>
                <a:ea typeface="Trebuchet MS"/>
                <a:cs typeface="Trebuchet MS"/>
              </a:rPr>
              <a:t>30 aprel–10 may</a:t>
            </a:r>
          </a:p>
        </p:txBody>
      </p:sp>
      <p:sp>
        <p:nvSpPr>
          <p:cNvPr id="180" name="Sətir sayı həddən aşağıdır. Natamamlıq 10 mayda da dava">
            <a:extLst xmlns:a="http://schemas.openxmlformats.org/drawingml/2006/main">
              <a:ext uri="{FF2B5EF4-FFF2-40B4-BE49-F238E27FC236}">
                <a16:creationId xmlns:a16="http://schemas.microsoft.com/office/drawing/2014/main" id="{1B2E70B1-3D3B-4BAA-AA4C-F4C14CC50398}"/>
              </a:ext>
            </a:extLst>
          </p:cNvPr>
          <p:cNvSpPr>
            <a:spLocks xmlns:a="http://schemas.openxmlformats.org/drawingml/2006/main" noGrp="1"/>
          </p:cNvSpPr>
          <p:nvPr/>
        </p:nvSpPr>
        <p:spPr>
          <a:xfrm xmlns:a="http://schemas.openxmlformats.org/drawingml/2006/main">
            <a:off x="8477250" y="2476500"/>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Sətir sayı həddən aşağıdır. Natamamlıq 10 mayda da davam edir.</a:t>
            </a:r>
          </a:p>
        </p:txBody>
      </p:sp>
      <p:sp>
        <p:nvSpPr>
          <p:cNvPr id="181" name="25–31 may">
            <a:extLst xmlns:a="http://schemas.openxmlformats.org/drawingml/2006/main">
              <a:ext uri="{FF2B5EF4-FFF2-40B4-BE49-F238E27FC236}">
                <a16:creationId xmlns:a16="http://schemas.microsoft.com/office/drawing/2014/main" id="{FEAD818A-55F5-41B2-A951-D6A17CD36162}"/>
              </a:ext>
            </a:extLst>
          </p:cNvPr>
          <p:cNvSpPr>
            <a:spLocks xmlns:a="http://schemas.openxmlformats.org/drawingml/2006/main" noGrp="1"/>
          </p:cNvSpPr>
          <p:nvPr/>
        </p:nvSpPr>
        <p:spPr>
          <a:xfrm xmlns:a="http://schemas.openxmlformats.org/drawingml/2006/main">
            <a:off x="8477250" y="39433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C0392B"/>
                </a:solidFill>
                <a:latin typeface="Trebuchet MS"/>
                <a:ea typeface="Trebuchet MS"/>
                <a:cs typeface="Trebuchet MS"/>
              </a:defRPr>
            </a:defPPr>
            <a:lvl1pPr algn="l">
              <a:defRPr sz="1950" b="1">
                <a:solidFill>
                  <a:srgbClr val="C0392B"/>
                </a:solidFill>
                <a:latin typeface="Trebuchet MS"/>
                <a:ea typeface="Trebuchet MS"/>
                <a:cs typeface="Trebuchet MS"/>
              </a:defRPr>
            </a:lvl1pPr>
            <a:lvl2pPr algn="l">
              <a:defRPr sz="1950" b="1">
                <a:solidFill>
                  <a:srgbClr val="C0392B"/>
                </a:solidFill>
                <a:latin typeface="Trebuchet MS"/>
                <a:ea typeface="Trebuchet MS"/>
                <a:cs typeface="Trebuchet MS"/>
              </a:defRPr>
            </a:lvl2pPr>
            <a:lvl3pPr algn="l">
              <a:defRPr sz="1950" b="1">
                <a:solidFill>
                  <a:srgbClr val="C0392B"/>
                </a:solidFill>
                <a:latin typeface="Trebuchet MS"/>
                <a:ea typeface="Trebuchet MS"/>
                <a:cs typeface="Trebuchet MS"/>
              </a:defRPr>
            </a:lvl3pPr>
            <a:lvl4pPr algn="l">
              <a:defRPr sz="1950" b="1">
                <a:solidFill>
                  <a:srgbClr val="C0392B"/>
                </a:solidFill>
                <a:latin typeface="Trebuchet MS"/>
                <a:ea typeface="Trebuchet MS"/>
                <a:cs typeface="Trebuchet MS"/>
              </a:defRPr>
            </a:lvl4pPr>
            <a:lvl5pPr algn="l">
              <a:defRPr sz="1950" b="1">
                <a:solidFill>
                  <a:srgbClr val="C0392B"/>
                </a:solidFill>
                <a:latin typeface="Trebuchet MS"/>
                <a:ea typeface="Trebuchet MS"/>
                <a:cs typeface="Trebuchet MS"/>
              </a:defRPr>
            </a:lvl5pPr>
            <a:lvl6pPr algn="l">
              <a:defRPr sz="1950" b="1">
                <a:solidFill>
                  <a:srgbClr val="C0392B"/>
                </a:solidFill>
                <a:latin typeface="Trebuchet MS"/>
                <a:ea typeface="Trebuchet MS"/>
                <a:cs typeface="Trebuchet MS"/>
              </a:defRPr>
            </a:lvl6pPr>
            <a:lvl7pPr algn="l">
              <a:defRPr sz="1950" b="1">
                <a:solidFill>
                  <a:srgbClr val="C0392B"/>
                </a:solidFill>
                <a:latin typeface="Trebuchet MS"/>
                <a:ea typeface="Trebuchet MS"/>
                <a:cs typeface="Trebuchet MS"/>
              </a:defRPr>
            </a:lvl7pPr>
            <a:lvl8pPr algn="l">
              <a:defRPr sz="1950" b="1">
                <a:solidFill>
                  <a:srgbClr val="C0392B"/>
                </a:solidFill>
                <a:latin typeface="Trebuchet MS"/>
                <a:ea typeface="Trebuchet MS"/>
                <a:cs typeface="Trebuchet MS"/>
              </a:defRPr>
            </a:lvl8pPr>
            <a:lvl9pPr algn="l">
              <a:defRPr sz="1950" b="1">
                <a:solidFill>
                  <a:srgbClr val="C0392B"/>
                </a:solidFill>
                <a:latin typeface="Trebuchet MS"/>
                <a:ea typeface="Trebuchet MS"/>
                <a:cs typeface="Trebuchet MS"/>
              </a:defRPr>
            </a:lvl9pPr>
          </a:lstStyle>
          <a:p xmlns:a="http://schemas.openxmlformats.org/drawingml/2006/main">
            <a:pPr algn="l">
              <a:defRPr sz="1950" b="1">
                <a:solidFill>
                  <a:srgbClr val="C0392B"/>
                </a:solidFill>
                <a:latin typeface="Trebuchet MS"/>
                <a:ea typeface="Trebuchet MS"/>
                <a:cs typeface="Trebuchet MS"/>
              </a:defRPr>
            </a:pPr>
            <a:r>
              <a:rPr sz="1950" b="1">
                <a:solidFill>
                  <a:srgbClr val="C0392B"/>
                </a:solidFill>
                <a:latin typeface="Trebuchet MS"/>
                <a:ea typeface="Trebuchet MS"/>
                <a:cs typeface="Trebuchet MS"/>
              </a:rPr>
              <a:t>25–31 may</a:t>
            </a:r>
          </a:p>
        </p:txBody>
      </p:sp>
      <p:sp>
        <p:nvSpPr>
          <p:cNvPr id="182" name="25–27 və 31 may natamamdır. 28–30 mayda məlumat yoxdur.">
            <a:extLst xmlns:a="http://schemas.openxmlformats.org/drawingml/2006/main">
              <a:ext uri="{FF2B5EF4-FFF2-40B4-BE49-F238E27FC236}">
                <a16:creationId xmlns:a16="http://schemas.microsoft.com/office/drawing/2014/main" id="{5B0F2CCB-4736-4149-979A-BA4AE953308D}"/>
              </a:ext>
            </a:extLst>
          </p:cNvPr>
          <p:cNvSpPr>
            <a:spLocks xmlns:a="http://schemas.openxmlformats.org/drawingml/2006/main" noGrp="1"/>
          </p:cNvSpPr>
          <p:nvPr/>
        </p:nvSpPr>
        <p:spPr>
          <a:xfrm xmlns:a="http://schemas.openxmlformats.org/drawingml/2006/main">
            <a:off x="8477250" y="441007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25–27 və 31 may natamamdır. 28–30 mayda məlumat yoxdur.</a:t>
            </a:r>
          </a:p>
        </p:txBody>
      </p:sp>
    </p:spTree>
    <p:extLst>
      <p:ext uri="{BB962C8B-B14F-4D97-AF65-F5344CB8AC3E}">
        <p14:creationId xmlns:p14="http://schemas.microsoft.com/office/powerpoint/2010/main" val="15652975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7" name="Google Shape;177;p12">
            <a:extLst xmlns:a="http://schemas.openxmlformats.org/drawingml/2006/main">
              <a:ext uri="{FF2B5EF4-FFF2-40B4-BE49-F238E27FC236}">
                <a16:creationId xmlns:a16="http://schemas.microsoft.com/office/drawing/2014/main" id="{7735463C-EC31-4936-8AE8-0B52619DA706}"/>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C0392B"/>
                </a:solidFill>
                <a:latin typeface="Trebuchet MS"/>
                <a:ea typeface="Trebuchet MS"/>
                <a:cs typeface="Trebuchet MS"/>
              </a:defRPr>
            </a:defPPr>
            <a:lvl1pPr>
              <a:defRPr sz="1250" b="1">
                <a:solidFill>
                  <a:srgbClr val="C0392B"/>
                </a:solidFill>
                <a:latin typeface="Trebuchet MS"/>
                <a:ea typeface="Trebuchet MS"/>
                <a:cs typeface="Trebuchet MS"/>
              </a:defRPr>
            </a:lvl1pPr>
            <a:lvl2pPr>
              <a:defRPr sz="1250" b="1">
                <a:solidFill>
                  <a:srgbClr val="C0392B"/>
                </a:solidFill>
                <a:latin typeface="Trebuchet MS"/>
                <a:ea typeface="Trebuchet MS"/>
                <a:cs typeface="Trebuchet MS"/>
              </a:defRPr>
            </a:lvl2pPr>
            <a:lvl3pPr>
              <a:defRPr sz="1250" b="1">
                <a:solidFill>
                  <a:srgbClr val="C0392B"/>
                </a:solidFill>
                <a:latin typeface="Trebuchet MS"/>
                <a:ea typeface="Trebuchet MS"/>
                <a:cs typeface="Trebuchet MS"/>
              </a:defRPr>
            </a:lvl3pPr>
            <a:lvl4pPr>
              <a:defRPr sz="1250" b="1">
                <a:solidFill>
                  <a:srgbClr val="C0392B"/>
                </a:solidFill>
                <a:latin typeface="Trebuchet MS"/>
                <a:ea typeface="Trebuchet MS"/>
                <a:cs typeface="Trebuchet MS"/>
              </a:defRPr>
            </a:lvl4pPr>
            <a:lvl5pPr>
              <a:defRPr sz="1250" b="1">
                <a:solidFill>
                  <a:srgbClr val="C0392B"/>
                </a:solidFill>
                <a:latin typeface="Trebuchet MS"/>
                <a:ea typeface="Trebuchet MS"/>
                <a:cs typeface="Trebuchet MS"/>
              </a:defRPr>
            </a:lvl5pPr>
            <a:lvl6pPr>
              <a:defRPr sz="1250" b="1">
                <a:solidFill>
                  <a:srgbClr val="C0392B"/>
                </a:solidFill>
                <a:latin typeface="Trebuchet MS"/>
                <a:ea typeface="Trebuchet MS"/>
                <a:cs typeface="Trebuchet MS"/>
              </a:defRPr>
            </a:lvl6pPr>
            <a:lvl7pPr>
              <a:defRPr sz="1250" b="1">
                <a:solidFill>
                  <a:srgbClr val="C0392B"/>
                </a:solidFill>
                <a:latin typeface="Trebuchet MS"/>
                <a:ea typeface="Trebuchet MS"/>
                <a:cs typeface="Trebuchet MS"/>
              </a:defRPr>
            </a:lvl7pPr>
            <a:lvl8pPr>
              <a:defRPr sz="1250" b="1">
                <a:solidFill>
                  <a:srgbClr val="C0392B"/>
                </a:solidFill>
                <a:latin typeface="Trebuchet MS"/>
                <a:ea typeface="Trebuchet MS"/>
                <a:cs typeface="Trebuchet MS"/>
              </a:defRPr>
            </a:lvl8pPr>
            <a:lvl9pPr>
              <a:defRPr sz="1250" b="1">
                <a:solidFill>
                  <a:srgbClr val="C0392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D9E75"/>
              </a:buClr>
              <a:buSzPts val="1250"/>
              <a:buFont typeface="Trebuchet MS"/>
              <a:buNone/>
              <a:defRPr sz="1250" b="1">
                <a:solidFill>
                  <a:srgbClr val="C0392B"/>
                </a:solidFill>
                <a:latin typeface="Trebuchet MS"/>
                <a:ea typeface="Trebuchet MS"/>
                <a:cs typeface="Trebuchet MS"/>
              </a:defRPr>
            </a:pPr>
            <a:r>
              <a:rPr sz="1250" b="1">
                <a:solidFill>
                  <a:srgbClr val="C0392B"/>
                </a:solidFill>
                <a:latin typeface="Trebuchet MS"/>
                <a:ea typeface="Trebuchet MS"/>
                <a:cs typeface="Trebuchet MS"/>
              </a:rPr>
              <a:t>2  ANOMALİYALAR</a:t>
            </a:r>
            <a:endParaRPr sz="1250">
              <a:solidFill>
                <a:schemeClr val="dk1"/>
              </a:solidFill>
              <a:latin typeface="Calibri"/>
              <a:ea typeface="Calibri"/>
              <a:cs typeface="Calibri"/>
            </a:endParaRPr>
          </a:p>
        </p:txBody>
      </p:sp>
      <p:sp>
        <p:nvSpPr>
          <p:cNvPr id="178" name="Google Shape;178;p12">
            <a:extLst xmlns:a="http://schemas.openxmlformats.org/drawingml/2006/main">
              <a:ext uri="{FF2B5EF4-FFF2-40B4-BE49-F238E27FC236}">
                <a16:creationId xmlns:a16="http://schemas.microsoft.com/office/drawing/2014/main" id="{B6FD17C3-C867-4C38-B2E8-F0C93D640143}"/>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Ümumi POS adları reytinqi təhrif edir</a:t>
            </a:r>
            <a:endParaRPr sz="2900">
              <a:solidFill>
                <a:schemeClr val="dk1"/>
              </a:solidFill>
              <a:latin typeface="Calibri"/>
              <a:ea typeface="Calibri"/>
              <a:cs typeface="Calibri"/>
            </a:endParaRPr>
          </a:p>
        </p:txBody>
      </p:sp>
      <p:sp>
        <p:nvSpPr>
          <p:cNvPr id="179" name="İlk 6 POS adı üzrə satış gəliri, mln AZN">
            <a:extLst xmlns:a="http://schemas.openxmlformats.org/drawingml/2006/main">
              <a:ext uri="{FF2B5EF4-FFF2-40B4-BE49-F238E27FC236}">
                <a16:creationId xmlns:a16="http://schemas.microsoft.com/office/drawing/2014/main" id="{192225DF-BAEA-4E0F-B93D-B0AC62C69C95}"/>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İlk 6 POS adı üzrə satış gəliri, mln AZN</a:t>
            </a:r>
          </a:p>
        </p:txBody>
      </p:sp>
      <p:graphicFrame>
        <p:nvGraphicFramePr>
          <p:cNvPr id="180" name="Chart">
            <a:extLst xmlns:a="http://schemas.openxmlformats.org/drawingml/2006/main">
              <a:ext uri="{FF2B5EF4-FFF2-40B4-BE49-F238E27FC236}">
                <a16:creationId xmlns:a16="http://schemas.microsoft.com/office/drawing/2014/main" id="{B553CAD5-A494-46F8-81F2-229EFCAB8AAC}"/>
              </a:ext>
            </a:extLst>
          </p:cNvPr>
          <p:cNvGraphicFramePr/>
          <p:nvPr/>
        </p:nvGraphicFramePr>
        <p:xfrm>
          <a:off xmlns:a="http://schemas.openxmlformats.org/drawingml/2006/main" x="571500" y="1971675"/>
          <a:ext xmlns:a="http://schemas.openxmlformats.org/drawingml/2006/main" cx="7429500" cy="3905250"/>
        </p:xfrm>
        <a:graphic xmlns:a="http://schemas.openxmlformats.org/drawingml/2006/main">
          <a:graphicData uri="http://schemas.openxmlformats.org/drawingml/2006/chart">
            <c:chart xmlns:r="http://schemas.openxmlformats.org/officeDocument/2006/relationships" xmlns:c="http://schemas.openxmlformats.org/drawingml/2006/chart" r:id="R469ffea9f1364d09"/>
          </a:graphicData>
        </a:graphic>
      </p:graphicFrame>
      <p:sp>
        <p:nvSpPr>
          <p:cNvPr id="181" name="31,7%">
            <a:extLst xmlns:a="http://schemas.openxmlformats.org/drawingml/2006/main">
              <a:ext uri="{FF2B5EF4-FFF2-40B4-BE49-F238E27FC236}">
                <a16:creationId xmlns:a16="http://schemas.microsoft.com/office/drawing/2014/main" id="{C4104DF1-C9B4-41B6-880C-DBF37B294D6F}"/>
              </a:ext>
            </a:extLst>
          </p:cNvPr>
          <p:cNvSpPr>
            <a:spLocks xmlns:a="http://schemas.openxmlformats.org/drawingml/2006/main" noGrp="1"/>
          </p:cNvSpPr>
          <p:nvPr/>
        </p:nvSpPr>
        <p:spPr>
          <a:xfrm xmlns:a="http://schemas.openxmlformats.org/drawingml/2006/main">
            <a:off x="8477250" y="1981200"/>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0392B"/>
                </a:solidFill>
                <a:latin typeface="Trebuchet MS"/>
                <a:ea typeface="Trebuchet MS"/>
                <a:cs typeface="Trebuchet MS"/>
              </a:defRPr>
            </a:defPPr>
            <a:lvl1pPr algn="l">
              <a:defRPr sz="3600" b="1">
                <a:solidFill>
                  <a:srgbClr val="C0392B"/>
                </a:solidFill>
                <a:latin typeface="Trebuchet MS"/>
                <a:ea typeface="Trebuchet MS"/>
                <a:cs typeface="Trebuchet MS"/>
              </a:defRPr>
            </a:lvl1pPr>
            <a:lvl2pPr algn="l">
              <a:defRPr sz="3600" b="1">
                <a:solidFill>
                  <a:srgbClr val="C0392B"/>
                </a:solidFill>
                <a:latin typeface="Trebuchet MS"/>
                <a:ea typeface="Trebuchet MS"/>
                <a:cs typeface="Trebuchet MS"/>
              </a:defRPr>
            </a:lvl2pPr>
            <a:lvl3pPr algn="l">
              <a:defRPr sz="3600" b="1">
                <a:solidFill>
                  <a:srgbClr val="C0392B"/>
                </a:solidFill>
                <a:latin typeface="Trebuchet MS"/>
                <a:ea typeface="Trebuchet MS"/>
                <a:cs typeface="Trebuchet MS"/>
              </a:defRPr>
            </a:lvl3pPr>
            <a:lvl4pPr algn="l">
              <a:defRPr sz="3600" b="1">
                <a:solidFill>
                  <a:srgbClr val="C0392B"/>
                </a:solidFill>
                <a:latin typeface="Trebuchet MS"/>
                <a:ea typeface="Trebuchet MS"/>
                <a:cs typeface="Trebuchet MS"/>
              </a:defRPr>
            </a:lvl4pPr>
            <a:lvl5pPr algn="l">
              <a:defRPr sz="3600" b="1">
                <a:solidFill>
                  <a:srgbClr val="C0392B"/>
                </a:solidFill>
                <a:latin typeface="Trebuchet MS"/>
                <a:ea typeface="Trebuchet MS"/>
                <a:cs typeface="Trebuchet MS"/>
              </a:defRPr>
            </a:lvl5pPr>
            <a:lvl6pPr algn="l">
              <a:defRPr sz="3600" b="1">
                <a:solidFill>
                  <a:srgbClr val="C0392B"/>
                </a:solidFill>
                <a:latin typeface="Trebuchet MS"/>
                <a:ea typeface="Trebuchet MS"/>
                <a:cs typeface="Trebuchet MS"/>
              </a:defRPr>
            </a:lvl6pPr>
            <a:lvl7pPr algn="l">
              <a:defRPr sz="3600" b="1">
                <a:solidFill>
                  <a:srgbClr val="C0392B"/>
                </a:solidFill>
                <a:latin typeface="Trebuchet MS"/>
                <a:ea typeface="Trebuchet MS"/>
                <a:cs typeface="Trebuchet MS"/>
              </a:defRPr>
            </a:lvl7pPr>
            <a:lvl8pPr algn="l">
              <a:defRPr sz="3600" b="1">
                <a:solidFill>
                  <a:srgbClr val="C0392B"/>
                </a:solidFill>
                <a:latin typeface="Trebuchet MS"/>
                <a:ea typeface="Trebuchet MS"/>
                <a:cs typeface="Trebuchet MS"/>
              </a:defRPr>
            </a:lvl8pPr>
            <a:lvl9pPr algn="l">
              <a:defRPr sz="3600" b="1">
                <a:solidFill>
                  <a:srgbClr val="C0392B"/>
                </a:solidFill>
                <a:latin typeface="Trebuchet MS"/>
                <a:ea typeface="Trebuchet MS"/>
                <a:cs typeface="Trebuchet MS"/>
              </a:defRPr>
            </a:lvl9pPr>
          </a:lstStyle>
          <a:p xmlns:a="http://schemas.openxmlformats.org/drawingml/2006/main">
            <a:pPr algn="l">
              <a:defRPr sz="3600" b="1">
                <a:solidFill>
                  <a:srgbClr val="C0392B"/>
                </a:solidFill>
                <a:latin typeface="Trebuchet MS"/>
                <a:ea typeface="Trebuchet MS"/>
                <a:cs typeface="Trebuchet MS"/>
              </a:defRPr>
            </a:pPr>
            <a:r>
              <a:rPr sz="3600" b="1">
                <a:solidFill>
                  <a:srgbClr val="C0392B"/>
                </a:solidFill>
                <a:latin typeface="Trebuchet MS"/>
                <a:ea typeface="Trebuchet MS"/>
                <a:cs typeface="Trebuchet MS"/>
              </a:rPr>
              <a:t>31,7%</a:t>
            </a:r>
          </a:p>
        </p:txBody>
      </p:sp>
      <p:sp>
        <p:nvSpPr>
          <p:cNvPr id="182" name="Gəlirin ümumi POS adları altında görünən payı">
            <a:extLst xmlns:a="http://schemas.openxmlformats.org/drawingml/2006/main">
              <a:ext uri="{FF2B5EF4-FFF2-40B4-BE49-F238E27FC236}">
                <a16:creationId xmlns:a16="http://schemas.microsoft.com/office/drawing/2014/main" id="{FB8A8388-F5D1-4195-8BB7-8129B1C4B786}"/>
              </a:ext>
            </a:extLst>
          </p:cNvPr>
          <p:cNvSpPr>
            <a:spLocks xmlns:a="http://schemas.openxmlformats.org/drawingml/2006/main" noGrp="1"/>
          </p:cNvSpPr>
          <p:nvPr/>
        </p:nvSpPr>
        <p:spPr>
          <a:xfrm xmlns:a="http://schemas.openxmlformats.org/drawingml/2006/main">
            <a:off x="8477250" y="270510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Gəlirin ümumi POS adları altında görünən payı</a:t>
            </a:r>
          </a:p>
        </p:txBody>
      </p:sp>
      <p:sp>
        <p:nvSpPr>
          <p:cNvPr id="183" name="MAGAZA = 6,67 mln">
            <a:extLst xmlns:a="http://schemas.openxmlformats.org/drawingml/2006/main">
              <a:ext uri="{FF2B5EF4-FFF2-40B4-BE49-F238E27FC236}">
                <a16:creationId xmlns:a16="http://schemas.microsoft.com/office/drawing/2014/main" id="{ED0D298D-BB91-4614-A373-F88DAD3FA573}"/>
              </a:ext>
            </a:extLst>
          </p:cNvPr>
          <p:cNvSpPr>
            <a:spLocks xmlns:a="http://schemas.openxmlformats.org/drawingml/2006/main" noGrp="1"/>
          </p:cNvSpPr>
          <p:nvPr/>
        </p:nvSpPr>
        <p:spPr>
          <a:xfrm xmlns:a="http://schemas.openxmlformats.org/drawingml/2006/main">
            <a:off x="8477250" y="40005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C0392B"/>
                </a:solidFill>
                <a:latin typeface="Trebuchet MS"/>
                <a:ea typeface="Trebuchet MS"/>
                <a:cs typeface="Trebuchet MS"/>
              </a:defRPr>
            </a:defPPr>
            <a:lvl1pPr algn="l">
              <a:defRPr sz="1950" b="1">
                <a:solidFill>
                  <a:srgbClr val="C0392B"/>
                </a:solidFill>
                <a:latin typeface="Trebuchet MS"/>
                <a:ea typeface="Trebuchet MS"/>
                <a:cs typeface="Trebuchet MS"/>
              </a:defRPr>
            </a:lvl1pPr>
            <a:lvl2pPr algn="l">
              <a:defRPr sz="1950" b="1">
                <a:solidFill>
                  <a:srgbClr val="C0392B"/>
                </a:solidFill>
                <a:latin typeface="Trebuchet MS"/>
                <a:ea typeface="Trebuchet MS"/>
                <a:cs typeface="Trebuchet MS"/>
              </a:defRPr>
            </a:lvl2pPr>
            <a:lvl3pPr algn="l">
              <a:defRPr sz="1950" b="1">
                <a:solidFill>
                  <a:srgbClr val="C0392B"/>
                </a:solidFill>
                <a:latin typeface="Trebuchet MS"/>
                <a:ea typeface="Trebuchet MS"/>
                <a:cs typeface="Trebuchet MS"/>
              </a:defRPr>
            </a:lvl3pPr>
            <a:lvl4pPr algn="l">
              <a:defRPr sz="1950" b="1">
                <a:solidFill>
                  <a:srgbClr val="C0392B"/>
                </a:solidFill>
                <a:latin typeface="Trebuchet MS"/>
                <a:ea typeface="Trebuchet MS"/>
                <a:cs typeface="Trebuchet MS"/>
              </a:defRPr>
            </a:lvl4pPr>
            <a:lvl5pPr algn="l">
              <a:defRPr sz="1950" b="1">
                <a:solidFill>
                  <a:srgbClr val="C0392B"/>
                </a:solidFill>
                <a:latin typeface="Trebuchet MS"/>
                <a:ea typeface="Trebuchet MS"/>
                <a:cs typeface="Trebuchet MS"/>
              </a:defRPr>
            </a:lvl5pPr>
            <a:lvl6pPr algn="l">
              <a:defRPr sz="1950" b="1">
                <a:solidFill>
                  <a:srgbClr val="C0392B"/>
                </a:solidFill>
                <a:latin typeface="Trebuchet MS"/>
                <a:ea typeface="Trebuchet MS"/>
                <a:cs typeface="Trebuchet MS"/>
              </a:defRPr>
            </a:lvl6pPr>
            <a:lvl7pPr algn="l">
              <a:defRPr sz="1950" b="1">
                <a:solidFill>
                  <a:srgbClr val="C0392B"/>
                </a:solidFill>
                <a:latin typeface="Trebuchet MS"/>
                <a:ea typeface="Trebuchet MS"/>
                <a:cs typeface="Trebuchet MS"/>
              </a:defRPr>
            </a:lvl7pPr>
            <a:lvl8pPr algn="l">
              <a:defRPr sz="1950" b="1">
                <a:solidFill>
                  <a:srgbClr val="C0392B"/>
                </a:solidFill>
                <a:latin typeface="Trebuchet MS"/>
                <a:ea typeface="Trebuchet MS"/>
                <a:cs typeface="Trebuchet MS"/>
              </a:defRPr>
            </a:lvl8pPr>
            <a:lvl9pPr algn="l">
              <a:defRPr sz="1950" b="1">
                <a:solidFill>
                  <a:srgbClr val="C0392B"/>
                </a:solidFill>
                <a:latin typeface="Trebuchet MS"/>
                <a:ea typeface="Trebuchet MS"/>
                <a:cs typeface="Trebuchet MS"/>
              </a:defRPr>
            </a:lvl9pPr>
          </a:lstStyle>
          <a:p xmlns:a="http://schemas.openxmlformats.org/drawingml/2006/main">
            <a:pPr algn="l">
              <a:defRPr sz="1950" b="1">
                <a:solidFill>
                  <a:srgbClr val="C0392B"/>
                </a:solidFill>
                <a:latin typeface="Trebuchet MS"/>
                <a:ea typeface="Trebuchet MS"/>
                <a:cs typeface="Trebuchet MS"/>
              </a:defRPr>
            </a:pPr>
            <a:r>
              <a:rPr sz="1950" b="1">
                <a:solidFill>
                  <a:srgbClr val="C0392B"/>
                </a:solidFill>
                <a:latin typeface="Trebuchet MS"/>
                <a:ea typeface="Trebuchet MS"/>
                <a:cs typeface="Trebuchet MS"/>
              </a:rPr>
              <a:t>MAGAZA = 6,67 mln</a:t>
            </a:r>
          </a:p>
        </p:txBody>
      </p:sp>
      <p:sp>
        <p:nvSpPr>
          <p:cNvPr id="184" name="Bu etiket müxtəlif satış nöqtələrini birləşdirə bilər. ">
            <a:extLst xmlns:a="http://schemas.openxmlformats.org/drawingml/2006/main">
              <a:ext uri="{FF2B5EF4-FFF2-40B4-BE49-F238E27FC236}">
                <a16:creationId xmlns:a16="http://schemas.microsoft.com/office/drawing/2014/main" id="{A5666EA0-BBB7-4967-B380-0ECFA649AEF4}"/>
              </a:ext>
            </a:extLst>
          </p:cNvPr>
          <p:cNvSpPr>
            <a:spLocks xmlns:a="http://schemas.openxmlformats.org/drawingml/2006/main" noGrp="1"/>
          </p:cNvSpPr>
          <p:nvPr/>
        </p:nvSpPr>
        <p:spPr>
          <a:xfrm xmlns:a="http://schemas.openxmlformats.org/drawingml/2006/main">
            <a:off x="8477250" y="4467225"/>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Bu etiket müxtəlif satış nöqtələrini birləşdirə bilər. Qırmızı sütunlar ümumi adları göstərir.</a:t>
            </a:r>
          </a:p>
        </p:txBody>
      </p:sp>
      <p:sp>
        <p:nvSpPr>
          <p:cNvPr id="185" name="Ən azı 10 aktiv günü olan 3 007 POS adı üzrə median gün">
            <a:extLst xmlns:a="http://schemas.openxmlformats.org/drawingml/2006/main">
              <a:ext uri="{FF2B5EF4-FFF2-40B4-BE49-F238E27FC236}">
                <a16:creationId xmlns:a16="http://schemas.microsoft.com/office/drawing/2014/main" id="{067BC416-923D-4672-AEC7-A65F0525E0D7}"/>
              </a:ext>
            </a:extLst>
          </p:cNvPr>
          <p:cNvSpPr>
            <a:spLocks xmlns:a="http://schemas.openxmlformats.org/drawingml/2006/main" noGrp="1"/>
          </p:cNvSpPr>
          <p:nvPr/>
        </p:nvSpPr>
        <p:spPr>
          <a:xfrm xmlns:a="http://schemas.openxmlformats.org/drawingml/2006/main">
            <a:off x="571500" y="62007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4748B"/>
                </a:solidFill>
                <a:latin typeface="Calibri"/>
                <a:ea typeface="Calibri"/>
                <a:cs typeface="Calibri"/>
              </a:defRPr>
            </a:defPPr>
            <a:lvl1pPr algn="l">
              <a:defRPr sz="1500" b="0">
                <a:solidFill>
                  <a:srgbClr val="64748B"/>
                </a:solidFill>
                <a:latin typeface="Calibri"/>
                <a:ea typeface="Calibri"/>
                <a:cs typeface="Calibri"/>
              </a:defRPr>
            </a:lvl1pPr>
            <a:lvl2pPr algn="l">
              <a:defRPr sz="1500" b="0">
                <a:solidFill>
                  <a:srgbClr val="64748B"/>
                </a:solidFill>
                <a:latin typeface="Calibri"/>
                <a:ea typeface="Calibri"/>
                <a:cs typeface="Calibri"/>
              </a:defRPr>
            </a:lvl2pPr>
            <a:lvl3pPr algn="l">
              <a:defRPr sz="1500" b="0">
                <a:solidFill>
                  <a:srgbClr val="64748B"/>
                </a:solidFill>
                <a:latin typeface="Calibri"/>
                <a:ea typeface="Calibri"/>
                <a:cs typeface="Calibri"/>
              </a:defRPr>
            </a:lvl3pPr>
            <a:lvl4pPr algn="l">
              <a:defRPr sz="1500" b="0">
                <a:solidFill>
                  <a:srgbClr val="64748B"/>
                </a:solidFill>
                <a:latin typeface="Calibri"/>
                <a:ea typeface="Calibri"/>
                <a:cs typeface="Calibri"/>
              </a:defRPr>
            </a:lvl4pPr>
            <a:lvl5pPr algn="l">
              <a:defRPr sz="1500" b="0">
                <a:solidFill>
                  <a:srgbClr val="64748B"/>
                </a:solidFill>
                <a:latin typeface="Calibri"/>
                <a:ea typeface="Calibri"/>
                <a:cs typeface="Calibri"/>
              </a:defRPr>
            </a:lvl5pPr>
            <a:lvl6pPr algn="l">
              <a:defRPr sz="1500" b="0">
                <a:solidFill>
                  <a:srgbClr val="64748B"/>
                </a:solidFill>
                <a:latin typeface="Calibri"/>
                <a:ea typeface="Calibri"/>
                <a:cs typeface="Calibri"/>
              </a:defRPr>
            </a:lvl6pPr>
            <a:lvl7pPr algn="l">
              <a:defRPr sz="1500" b="0">
                <a:solidFill>
                  <a:srgbClr val="64748B"/>
                </a:solidFill>
                <a:latin typeface="Calibri"/>
                <a:ea typeface="Calibri"/>
                <a:cs typeface="Calibri"/>
              </a:defRPr>
            </a:lvl7pPr>
            <a:lvl8pPr algn="l">
              <a:defRPr sz="1500" b="0">
                <a:solidFill>
                  <a:srgbClr val="64748B"/>
                </a:solidFill>
                <a:latin typeface="Calibri"/>
                <a:ea typeface="Calibri"/>
                <a:cs typeface="Calibri"/>
              </a:defRPr>
            </a:lvl8pPr>
            <a:lvl9pPr algn="l">
              <a:defRPr sz="1500" b="0">
                <a:solidFill>
                  <a:srgbClr val="64748B"/>
                </a:solidFill>
                <a:latin typeface="Calibri"/>
                <a:ea typeface="Calibri"/>
                <a:cs typeface="Calibri"/>
              </a:defRPr>
            </a:lvl9pPr>
          </a:lstStyle>
          <a:p xmlns:a="http://schemas.openxmlformats.org/drawingml/2006/main">
            <a:pPr algn="l">
              <a:defRPr sz="1500" b="0">
                <a:solidFill>
                  <a:srgbClr val="64748B"/>
                </a:solidFill>
                <a:latin typeface="Calibri"/>
                <a:ea typeface="Calibri"/>
                <a:cs typeface="Calibri"/>
              </a:defRPr>
            </a:pPr>
            <a:r>
              <a:rPr sz="1500" b="0">
                <a:solidFill>
                  <a:srgbClr val="64748B"/>
                </a:solidFill>
                <a:latin typeface="Calibri"/>
                <a:ea typeface="Calibri"/>
                <a:cs typeface="Calibri"/>
              </a:rPr>
              <a:t>Ən azı 10 aktiv günü olan 3 007 POS adı üzrə median günlük gəlir 94,59 AZN-dir.</a:t>
            </a:r>
          </a:p>
        </p:txBody>
      </p:sp>
    </p:spTree>
    <p:extLst>
      <p:ext uri="{BB962C8B-B14F-4D97-AF65-F5344CB8AC3E}">
        <p14:creationId xmlns:p14="http://schemas.microsoft.com/office/powerpoint/2010/main" val="14010250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 name="Google Shape;200;p13">
            <a:extLst xmlns:a="http://schemas.openxmlformats.org/drawingml/2006/main">
              <a:ext uri="{FF2B5EF4-FFF2-40B4-BE49-F238E27FC236}">
                <a16:creationId xmlns:a16="http://schemas.microsoft.com/office/drawing/2014/main" id="{1775E9DF-09FF-48F6-82A4-F7583F677A60}"/>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C0392B"/>
                </a:solidFill>
                <a:latin typeface="Trebuchet MS"/>
                <a:ea typeface="Trebuchet MS"/>
                <a:cs typeface="Trebuchet MS"/>
              </a:defRPr>
            </a:defPPr>
            <a:lvl1pPr>
              <a:defRPr sz="1250" b="1">
                <a:solidFill>
                  <a:srgbClr val="C0392B"/>
                </a:solidFill>
                <a:latin typeface="Trebuchet MS"/>
                <a:ea typeface="Trebuchet MS"/>
                <a:cs typeface="Trebuchet MS"/>
              </a:defRPr>
            </a:lvl1pPr>
            <a:lvl2pPr>
              <a:defRPr sz="1250" b="1">
                <a:solidFill>
                  <a:srgbClr val="C0392B"/>
                </a:solidFill>
                <a:latin typeface="Trebuchet MS"/>
                <a:ea typeface="Trebuchet MS"/>
                <a:cs typeface="Trebuchet MS"/>
              </a:defRPr>
            </a:lvl2pPr>
            <a:lvl3pPr>
              <a:defRPr sz="1250" b="1">
                <a:solidFill>
                  <a:srgbClr val="C0392B"/>
                </a:solidFill>
                <a:latin typeface="Trebuchet MS"/>
                <a:ea typeface="Trebuchet MS"/>
                <a:cs typeface="Trebuchet MS"/>
              </a:defRPr>
            </a:lvl3pPr>
            <a:lvl4pPr>
              <a:defRPr sz="1250" b="1">
                <a:solidFill>
                  <a:srgbClr val="C0392B"/>
                </a:solidFill>
                <a:latin typeface="Trebuchet MS"/>
                <a:ea typeface="Trebuchet MS"/>
                <a:cs typeface="Trebuchet MS"/>
              </a:defRPr>
            </a:lvl4pPr>
            <a:lvl5pPr>
              <a:defRPr sz="1250" b="1">
                <a:solidFill>
                  <a:srgbClr val="C0392B"/>
                </a:solidFill>
                <a:latin typeface="Trebuchet MS"/>
                <a:ea typeface="Trebuchet MS"/>
                <a:cs typeface="Trebuchet MS"/>
              </a:defRPr>
            </a:lvl5pPr>
            <a:lvl6pPr>
              <a:defRPr sz="1250" b="1">
                <a:solidFill>
                  <a:srgbClr val="C0392B"/>
                </a:solidFill>
                <a:latin typeface="Trebuchet MS"/>
                <a:ea typeface="Trebuchet MS"/>
                <a:cs typeface="Trebuchet MS"/>
              </a:defRPr>
            </a:lvl6pPr>
            <a:lvl7pPr>
              <a:defRPr sz="1250" b="1">
                <a:solidFill>
                  <a:srgbClr val="C0392B"/>
                </a:solidFill>
                <a:latin typeface="Trebuchet MS"/>
                <a:ea typeface="Trebuchet MS"/>
                <a:cs typeface="Trebuchet MS"/>
              </a:defRPr>
            </a:lvl7pPr>
            <a:lvl8pPr>
              <a:defRPr sz="1250" b="1">
                <a:solidFill>
                  <a:srgbClr val="C0392B"/>
                </a:solidFill>
                <a:latin typeface="Trebuchet MS"/>
                <a:ea typeface="Trebuchet MS"/>
                <a:cs typeface="Trebuchet MS"/>
              </a:defRPr>
            </a:lvl8pPr>
            <a:lvl9pPr>
              <a:defRPr sz="1250" b="1">
                <a:solidFill>
                  <a:srgbClr val="C0392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D9E75"/>
              </a:buClr>
              <a:buSzPts val="1250"/>
              <a:buFont typeface="Trebuchet MS"/>
              <a:buNone/>
              <a:defRPr sz="1250" b="1">
                <a:solidFill>
                  <a:srgbClr val="C0392B"/>
                </a:solidFill>
                <a:latin typeface="Trebuchet MS"/>
                <a:ea typeface="Trebuchet MS"/>
                <a:cs typeface="Trebuchet MS"/>
              </a:defRPr>
            </a:pPr>
            <a:r>
              <a:rPr sz="1250" b="1">
                <a:solidFill>
                  <a:srgbClr val="C0392B"/>
                </a:solidFill>
                <a:latin typeface="Trebuchet MS"/>
                <a:ea typeface="Trebuchet MS"/>
                <a:cs typeface="Trebuchet MS"/>
              </a:rPr>
              <a:t>2  ANOMALİYALAR</a:t>
            </a:r>
            <a:endParaRPr sz="1250">
              <a:solidFill>
                <a:schemeClr val="dk1"/>
              </a:solidFill>
              <a:latin typeface="Calibri"/>
              <a:ea typeface="Calibri"/>
              <a:cs typeface="Calibri"/>
            </a:endParaRPr>
          </a:p>
        </p:txBody>
      </p:sp>
      <p:sp>
        <p:nvSpPr>
          <p:cNvPr id="201" name="Google Shape;201;p13">
            <a:extLst xmlns:a="http://schemas.openxmlformats.org/drawingml/2006/main">
              <a:ext uri="{FF2B5EF4-FFF2-40B4-BE49-F238E27FC236}">
                <a16:creationId xmlns:a16="http://schemas.microsoft.com/office/drawing/2014/main" id="{33445858-63BA-4045-9752-CBB7803AF8E4}"/>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Məhsul xəritəsi sətirlərin 1,32%-ni əhatə edir</a:t>
            </a:r>
            <a:endParaRPr sz="2900">
              <a:solidFill>
                <a:schemeClr val="dk1"/>
              </a:solidFill>
              <a:latin typeface="Calibri"/>
              <a:ea typeface="Calibri"/>
              <a:cs typeface="Calibri"/>
            </a:endParaRPr>
          </a:p>
        </p:txBody>
      </p:sp>
      <p:sp>
        <p:nvSpPr>
          <p:cNvPr id="202" name="FOOD / NON-FOOD nəticələri yalnız uyğunlaşan nümunəyə a">
            <a:extLst xmlns:a="http://schemas.openxmlformats.org/drawingml/2006/main">
              <a:ext uri="{FF2B5EF4-FFF2-40B4-BE49-F238E27FC236}">
                <a16:creationId xmlns:a16="http://schemas.microsoft.com/office/drawing/2014/main" id="{1457AD07-E3B0-4A16-84BC-877CA902BC9A}"/>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FOOD / NON-FOOD nəticələri yalnız uyğunlaşan nümunəyə aiddir</a:t>
            </a:r>
          </a:p>
        </p:txBody>
      </p:sp>
      <p:sp>
        <p:nvSpPr>
          <p:cNvPr id="203" name="98,68%">
            <a:extLst xmlns:a="http://schemas.openxmlformats.org/drawingml/2006/main">
              <a:ext uri="{FF2B5EF4-FFF2-40B4-BE49-F238E27FC236}">
                <a16:creationId xmlns:a16="http://schemas.microsoft.com/office/drawing/2014/main" id="{2E125997-8153-4E75-9E04-5FFA2096F51A}"/>
              </a:ext>
            </a:extLst>
          </p:cNvPr>
          <p:cNvSpPr>
            <a:spLocks xmlns:a="http://schemas.openxmlformats.org/drawingml/2006/main" noGrp="1"/>
          </p:cNvSpPr>
          <p:nvPr/>
        </p:nvSpPr>
        <p:spPr>
          <a:xfrm xmlns:a="http://schemas.openxmlformats.org/drawingml/2006/main">
            <a:off x="571500" y="199072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0392B"/>
                </a:solidFill>
                <a:latin typeface="Trebuchet MS"/>
                <a:ea typeface="Trebuchet MS"/>
                <a:cs typeface="Trebuchet MS"/>
              </a:defRPr>
            </a:defPPr>
            <a:lvl1pPr algn="l">
              <a:defRPr sz="3600" b="1">
                <a:solidFill>
                  <a:srgbClr val="C0392B"/>
                </a:solidFill>
                <a:latin typeface="Trebuchet MS"/>
                <a:ea typeface="Trebuchet MS"/>
                <a:cs typeface="Trebuchet MS"/>
              </a:defRPr>
            </a:lvl1pPr>
            <a:lvl2pPr algn="l">
              <a:defRPr sz="3600" b="1">
                <a:solidFill>
                  <a:srgbClr val="C0392B"/>
                </a:solidFill>
                <a:latin typeface="Trebuchet MS"/>
                <a:ea typeface="Trebuchet MS"/>
                <a:cs typeface="Trebuchet MS"/>
              </a:defRPr>
            </a:lvl2pPr>
            <a:lvl3pPr algn="l">
              <a:defRPr sz="3600" b="1">
                <a:solidFill>
                  <a:srgbClr val="C0392B"/>
                </a:solidFill>
                <a:latin typeface="Trebuchet MS"/>
                <a:ea typeface="Trebuchet MS"/>
                <a:cs typeface="Trebuchet MS"/>
              </a:defRPr>
            </a:lvl3pPr>
            <a:lvl4pPr algn="l">
              <a:defRPr sz="3600" b="1">
                <a:solidFill>
                  <a:srgbClr val="C0392B"/>
                </a:solidFill>
                <a:latin typeface="Trebuchet MS"/>
                <a:ea typeface="Trebuchet MS"/>
                <a:cs typeface="Trebuchet MS"/>
              </a:defRPr>
            </a:lvl4pPr>
            <a:lvl5pPr algn="l">
              <a:defRPr sz="3600" b="1">
                <a:solidFill>
                  <a:srgbClr val="C0392B"/>
                </a:solidFill>
                <a:latin typeface="Trebuchet MS"/>
                <a:ea typeface="Trebuchet MS"/>
                <a:cs typeface="Trebuchet MS"/>
              </a:defRPr>
            </a:lvl5pPr>
            <a:lvl6pPr algn="l">
              <a:defRPr sz="3600" b="1">
                <a:solidFill>
                  <a:srgbClr val="C0392B"/>
                </a:solidFill>
                <a:latin typeface="Trebuchet MS"/>
                <a:ea typeface="Trebuchet MS"/>
                <a:cs typeface="Trebuchet MS"/>
              </a:defRPr>
            </a:lvl6pPr>
            <a:lvl7pPr algn="l">
              <a:defRPr sz="3600" b="1">
                <a:solidFill>
                  <a:srgbClr val="C0392B"/>
                </a:solidFill>
                <a:latin typeface="Trebuchet MS"/>
                <a:ea typeface="Trebuchet MS"/>
                <a:cs typeface="Trebuchet MS"/>
              </a:defRPr>
            </a:lvl7pPr>
            <a:lvl8pPr algn="l">
              <a:defRPr sz="3600" b="1">
                <a:solidFill>
                  <a:srgbClr val="C0392B"/>
                </a:solidFill>
                <a:latin typeface="Trebuchet MS"/>
                <a:ea typeface="Trebuchet MS"/>
                <a:cs typeface="Trebuchet MS"/>
              </a:defRPr>
            </a:lvl8pPr>
            <a:lvl9pPr algn="l">
              <a:defRPr sz="3600" b="1">
                <a:solidFill>
                  <a:srgbClr val="C0392B"/>
                </a:solidFill>
                <a:latin typeface="Trebuchet MS"/>
                <a:ea typeface="Trebuchet MS"/>
                <a:cs typeface="Trebuchet MS"/>
              </a:defRPr>
            </a:lvl9pPr>
          </a:lstStyle>
          <a:p xmlns:a="http://schemas.openxmlformats.org/drawingml/2006/main">
            <a:pPr algn="l">
              <a:defRPr sz="3600" b="1">
                <a:solidFill>
                  <a:srgbClr val="C0392B"/>
                </a:solidFill>
                <a:latin typeface="Trebuchet MS"/>
                <a:ea typeface="Trebuchet MS"/>
                <a:cs typeface="Trebuchet MS"/>
              </a:defRPr>
            </a:pPr>
            <a:r>
              <a:rPr sz="3600" b="1">
                <a:solidFill>
                  <a:srgbClr val="C0392B"/>
                </a:solidFill>
                <a:latin typeface="Trebuchet MS"/>
                <a:ea typeface="Trebuchet MS"/>
                <a:cs typeface="Trebuchet MS"/>
              </a:rPr>
              <a:t>98,68%</a:t>
            </a:r>
          </a:p>
        </p:txBody>
      </p:sp>
      <p:sp>
        <p:nvSpPr>
          <p:cNvPr id="204" name="Satış sətirlərində məhsul növü məlum deyil">
            <a:extLst xmlns:a="http://schemas.openxmlformats.org/drawingml/2006/main">
              <a:ext uri="{FF2B5EF4-FFF2-40B4-BE49-F238E27FC236}">
                <a16:creationId xmlns:a16="http://schemas.microsoft.com/office/drawing/2014/main" id="{8E6B06DF-741E-4442-978D-9F06F240943D}"/>
              </a:ext>
            </a:extLst>
          </p:cNvPr>
          <p:cNvSpPr>
            <a:spLocks xmlns:a="http://schemas.openxmlformats.org/drawingml/2006/main" noGrp="1"/>
          </p:cNvSpPr>
          <p:nvPr/>
        </p:nvSpPr>
        <p:spPr>
          <a:xfrm xmlns:a="http://schemas.openxmlformats.org/drawingml/2006/main">
            <a:off x="571500" y="2714625"/>
            <a:ext cx="4191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Satış sətirlərində məhsul növü məlum deyil</a:t>
            </a:r>
          </a:p>
        </p:txBody>
      </p:sp>
      <p:graphicFrame>
        <p:nvGraphicFramePr>
          <p:cNvPr id="205" name="">
            <a:extLst xmlns:a="http://schemas.openxmlformats.org/drawingml/2006/main">
              <a:ext uri="{FF2B5EF4-FFF2-40B4-BE49-F238E27FC236}">
                <a16:creationId xmlns:a16="http://schemas.microsoft.com/office/drawing/2014/main" id="{686E9E71-3D07-46DD-8668-14BE4D7CDACB}"/>
              </a:ext>
            </a:extLst>
          </p:cNvPr>
          <p:cNvGraphicFramePr/>
          <p:nvPr/>
        </p:nvGraphicFramePr>
        <p:xfrm>
          <a:off xmlns:a="http://schemas.openxmlformats.org/drawingml/2006/main" x="571500" y="3857625"/>
          <a:ext xmlns:a="http://schemas.openxmlformats.org/drawingml/2006/main" cx="11049000" cy="2076450"/>
        </p:xfrm>
        <a:graphic xmlns:a="http://schemas.openxmlformats.org/drawingml/2006/main">
          <a:graphicData uri="http://schemas.openxmlformats.org/drawingml/2006/table">
            <a:tbl>
              <a:tblPr/>
              <a:tblGrid>
                <a:gridCol w="3238500"/>
                <a:gridCol w="2381250"/>
                <a:gridCol w="2762250"/>
                <a:gridCol w="2667000"/>
              </a:tblGrid>
              <a:tr h="519113">
                <a:tc>
                  <a:txBody>
                    <a:bodyPr lIns="133350" tIns="133350" rIns="133350" bIns="133350"/>
                    <a:lstStyle/>
                    <a:p>
                      <a:pPr algn="l"/>
                      <a:r>
                        <a:rPr sz="1575" b="1">
                          <a:solidFill>
                            <a:srgbClr val="FFFFFF"/>
                          </a:solidFill>
                          <a:latin typeface="Calibri"/>
                          <a:ea typeface="Calibri"/>
                          <a:cs typeface="Calibri"/>
                        </a:rPr>
                        <a:t>Məhsul növü</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Sətir sayı</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Gəlir, min AZN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Median gəlir, AZN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r>
              <a:tr h="519113">
                <a:tc>
                  <a:txBody>
                    <a:bodyPr lIns="133350" tIns="133350" rIns="133350" bIns="133350"/>
                    <a:lstStyle/>
                    <a:p>
                      <a:pPr algn="l"/>
                      <a:r>
                        <a:rPr sz="1650" b="0">
                          <a:solidFill>
                            <a:srgbClr val="1E293B"/>
                          </a:solidFill>
                          <a:latin typeface="Calibri"/>
                          <a:ea typeface="Calibri"/>
                          <a:cs typeface="Calibri"/>
                        </a:rPr>
                        <a:t>FOOD</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130 532</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356,85</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2,10</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r>
              <a:tr h="519113">
                <a:tc>
                  <a:txBody>
                    <a:bodyPr lIns="133350" tIns="133350" rIns="133350" bIns="133350"/>
                    <a:lstStyle/>
                    <a:p>
                      <a:pPr algn="l"/>
                      <a:r>
                        <a:rPr sz="1650" b="0">
                          <a:solidFill>
                            <a:srgbClr val="1E293B"/>
                          </a:solidFill>
                          <a:latin typeface="Calibri"/>
                          <a:ea typeface="Calibri"/>
                          <a:cs typeface="Calibri"/>
                        </a:rPr>
                        <a:t>NON-FOOD</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1 366</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20,02</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2,99</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519113">
                <a:tc>
                  <a:txBody>
                    <a:bodyPr lIns="133350" tIns="133350" rIns="133350" bIns="133350"/>
                    <a:lstStyle/>
                    <a:p>
                      <a:pPr algn="l"/>
                      <a:r>
                        <a:rPr sz="1650" b="0">
                          <a:solidFill>
                            <a:srgbClr val="1E293B"/>
                          </a:solidFill>
                          <a:latin typeface="Calibri"/>
                          <a:ea typeface="Calibri"/>
                          <a:cs typeface="Calibri"/>
                        </a:rPr>
                        <a:t>Bilinmir</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9 861 006</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54 634,60</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1,80</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r>
            </a:tbl>
          </a:graphicData>
        </a:graphic>
      </p:graphicFrame>
      <p:sp>
        <p:nvSpPr>
          <p:cNvPr id="206" name="Mənfəət üzrə məhdudiyyət">
            <a:extLst xmlns:a="http://schemas.openxmlformats.org/drawingml/2006/main">
              <a:ext uri="{FF2B5EF4-FFF2-40B4-BE49-F238E27FC236}">
                <a16:creationId xmlns:a16="http://schemas.microsoft.com/office/drawing/2014/main" id="{08639B0D-F178-4190-BF70-AF72385C8B64}"/>
              </a:ext>
            </a:extLst>
          </p:cNvPr>
          <p:cNvSpPr>
            <a:spLocks xmlns:a="http://schemas.openxmlformats.org/drawingml/2006/main" noGrp="1"/>
          </p:cNvSpPr>
          <p:nvPr/>
        </p:nvSpPr>
        <p:spPr>
          <a:xfrm xmlns:a="http://schemas.openxmlformats.org/drawingml/2006/main">
            <a:off x="5715000" y="19907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C0392B"/>
                </a:solidFill>
                <a:latin typeface="Trebuchet MS"/>
                <a:ea typeface="Trebuchet MS"/>
                <a:cs typeface="Trebuchet MS"/>
              </a:defRPr>
            </a:defPPr>
            <a:lvl1pPr algn="l">
              <a:defRPr sz="1950" b="1">
                <a:solidFill>
                  <a:srgbClr val="C0392B"/>
                </a:solidFill>
                <a:latin typeface="Trebuchet MS"/>
                <a:ea typeface="Trebuchet MS"/>
                <a:cs typeface="Trebuchet MS"/>
              </a:defRPr>
            </a:lvl1pPr>
            <a:lvl2pPr algn="l">
              <a:defRPr sz="1950" b="1">
                <a:solidFill>
                  <a:srgbClr val="C0392B"/>
                </a:solidFill>
                <a:latin typeface="Trebuchet MS"/>
                <a:ea typeface="Trebuchet MS"/>
                <a:cs typeface="Trebuchet MS"/>
              </a:defRPr>
            </a:lvl2pPr>
            <a:lvl3pPr algn="l">
              <a:defRPr sz="1950" b="1">
                <a:solidFill>
                  <a:srgbClr val="C0392B"/>
                </a:solidFill>
                <a:latin typeface="Trebuchet MS"/>
                <a:ea typeface="Trebuchet MS"/>
                <a:cs typeface="Trebuchet MS"/>
              </a:defRPr>
            </a:lvl3pPr>
            <a:lvl4pPr algn="l">
              <a:defRPr sz="1950" b="1">
                <a:solidFill>
                  <a:srgbClr val="C0392B"/>
                </a:solidFill>
                <a:latin typeface="Trebuchet MS"/>
                <a:ea typeface="Trebuchet MS"/>
                <a:cs typeface="Trebuchet MS"/>
              </a:defRPr>
            </a:lvl4pPr>
            <a:lvl5pPr algn="l">
              <a:defRPr sz="1950" b="1">
                <a:solidFill>
                  <a:srgbClr val="C0392B"/>
                </a:solidFill>
                <a:latin typeface="Trebuchet MS"/>
                <a:ea typeface="Trebuchet MS"/>
                <a:cs typeface="Trebuchet MS"/>
              </a:defRPr>
            </a:lvl5pPr>
            <a:lvl6pPr algn="l">
              <a:defRPr sz="1950" b="1">
                <a:solidFill>
                  <a:srgbClr val="C0392B"/>
                </a:solidFill>
                <a:latin typeface="Trebuchet MS"/>
                <a:ea typeface="Trebuchet MS"/>
                <a:cs typeface="Trebuchet MS"/>
              </a:defRPr>
            </a:lvl6pPr>
            <a:lvl7pPr algn="l">
              <a:defRPr sz="1950" b="1">
                <a:solidFill>
                  <a:srgbClr val="C0392B"/>
                </a:solidFill>
                <a:latin typeface="Trebuchet MS"/>
                <a:ea typeface="Trebuchet MS"/>
                <a:cs typeface="Trebuchet MS"/>
              </a:defRPr>
            </a:lvl7pPr>
            <a:lvl8pPr algn="l">
              <a:defRPr sz="1950" b="1">
                <a:solidFill>
                  <a:srgbClr val="C0392B"/>
                </a:solidFill>
                <a:latin typeface="Trebuchet MS"/>
                <a:ea typeface="Trebuchet MS"/>
                <a:cs typeface="Trebuchet MS"/>
              </a:defRPr>
            </a:lvl8pPr>
            <a:lvl9pPr algn="l">
              <a:defRPr sz="1950" b="1">
                <a:solidFill>
                  <a:srgbClr val="C0392B"/>
                </a:solidFill>
                <a:latin typeface="Trebuchet MS"/>
                <a:ea typeface="Trebuchet MS"/>
                <a:cs typeface="Trebuchet MS"/>
              </a:defRPr>
            </a:lvl9pPr>
          </a:lstStyle>
          <a:p xmlns:a="http://schemas.openxmlformats.org/drawingml/2006/main">
            <a:pPr algn="l">
              <a:defRPr sz="1950" b="1">
                <a:solidFill>
                  <a:srgbClr val="C0392B"/>
                </a:solidFill>
                <a:latin typeface="Trebuchet MS"/>
                <a:ea typeface="Trebuchet MS"/>
                <a:cs typeface="Trebuchet MS"/>
              </a:defRPr>
            </a:pPr>
            <a:r>
              <a:rPr sz="1950" b="1">
                <a:solidFill>
                  <a:srgbClr val="C0392B"/>
                </a:solidFill>
                <a:latin typeface="Trebuchet MS"/>
                <a:ea typeface="Trebuchet MS"/>
                <a:cs typeface="Trebuchet MS"/>
              </a:rPr>
              <a:t>Mənfəət üzrə məhdudiyyət</a:t>
            </a:r>
          </a:p>
        </p:txBody>
      </p:sp>
      <p:sp>
        <p:nvSpPr>
          <p:cNvPr id="207" name="Uyğunlaşan gəlirin payı təxminən 0,69%-dir. Ümumi mənfə">
            <a:extLst xmlns:a="http://schemas.openxmlformats.org/drawingml/2006/main">
              <a:ext uri="{FF2B5EF4-FFF2-40B4-BE49-F238E27FC236}">
                <a16:creationId xmlns:a16="http://schemas.microsoft.com/office/drawing/2014/main" id="{64B64B67-701A-4EF5-86B3-545F3A83494D}"/>
              </a:ext>
            </a:extLst>
          </p:cNvPr>
          <p:cNvSpPr>
            <a:spLocks xmlns:a="http://schemas.openxmlformats.org/drawingml/2006/main" noGrp="1"/>
          </p:cNvSpPr>
          <p:nvPr/>
        </p:nvSpPr>
        <p:spPr>
          <a:xfrm xmlns:a="http://schemas.openxmlformats.org/drawingml/2006/main">
            <a:off x="5715000" y="2457450"/>
            <a:ext cx="571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Uyğunlaşan gəlirin payı təxminən 0,69%-dir. Ümumi mənfəət barədə nəticə çıxarmaq üçün əhatə zəifdir.</a:t>
            </a:r>
          </a:p>
        </p:txBody>
      </p:sp>
      <p:sp>
        <p:nvSpPr>
          <p:cNvPr id="208" name="QEYD: Xəritədə |marja| &gt; 1 olan 2 120 sətirin marjası h">
            <a:extLst xmlns:a="http://schemas.openxmlformats.org/drawingml/2006/main">
              <a:ext uri="{FF2B5EF4-FFF2-40B4-BE49-F238E27FC236}">
                <a16:creationId xmlns:a16="http://schemas.microsoft.com/office/drawing/2014/main" id="{D99F5478-A670-4A3A-9780-2DB623257234}"/>
              </a:ext>
            </a:extLst>
          </p:cNvPr>
          <p:cNvSpPr>
            <a:spLocks xmlns:a="http://schemas.openxmlformats.org/drawingml/2006/main" noGrp="1"/>
          </p:cNvSpPr>
          <p:nvPr/>
        </p:nvSpPr>
        <p:spPr>
          <a:xfrm xmlns:a="http://schemas.openxmlformats.org/drawingml/2006/main">
            <a:off x="571500" y="62293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C0392B"/>
                </a:solidFill>
                <a:latin typeface="Calibri"/>
                <a:ea typeface="Calibri"/>
                <a:cs typeface="Calibri"/>
              </a:defRPr>
            </a:defPPr>
            <a:lvl1pPr algn="l">
              <a:defRPr sz="1500" b="0">
                <a:solidFill>
                  <a:srgbClr val="C0392B"/>
                </a:solidFill>
                <a:latin typeface="Calibri"/>
                <a:ea typeface="Calibri"/>
                <a:cs typeface="Calibri"/>
              </a:defRPr>
            </a:lvl1pPr>
            <a:lvl2pPr algn="l">
              <a:defRPr sz="1500" b="0">
                <a:solidFill>
                  <a:srgbClr val="C0392B"/>
                </a:solidFill>
                <a:latin typeface="Calibri"/>
                <a:ea typeface="Calibri"/>
                <a:cs typeface="Calibri"/>
              </a:defRPr>
            </a:lvl2pPr>
            <a:lvl3pPr algn="l">
              <a:defRPr sz="1500" b="0">
                <a:solidFill>
                  <a:srgbClr val="C0392B"/>
                </a:solidFill>
                <a:latin typeface="Calibri"/>
                <a:ea typeface="Calibri"/>
                <a:cs typeface="Calibri"/>
              </a:defRPr>
            </a:lvl3pPr>
            <a:lvl4pPr algn="l">
              <a:defRPr sz="1500" b="0">
                <a:solidFill>
                  <a:srgbClr val="C0392B"/>
                </a:solidFill>
                <a:latin typeface="Calibri"/>
                <a:ea typeface="Calibri"/>
                <a:cs typeface="Calibri"/>
              </a:defRPr>
            </a:lvl4pPr>
            <a:lvl5pPr algn="l">
              <a:defRPr sz="1500" b="0">
                <a:solidFill>
                  <a:srgbClr val="C0392B"/>
                </a:solidFill>
                <a:latin typeface="Calibri"/>
                <a:ea typeface="Calibri"/>
                <a:cs typeface="Calibri"/>
              </a:defRPr>
            </a:lvl5pPr>
            <a:lvl6pPr algn="l">
              <a:defRPr sz="1500" b="0">
                <a:solidFill>
                  <a:srgbClr val="C0392B"/>
                </a:solidFill>
                <a:latin typeface="Calibri"/>
                <a:ea typeface="Calibri"/>
                <a:cs typeface="Calibri"/>
              </a:defRPr>
            </a:lvl6pPr>
            <a:lvl7pPr algn="l">
              <a:defRPr sz="1500" b="0">
                <a:solidFill>
                  <a:srgbClr val="C0392B"/>
                </a:solidFill>
                <a:latin typeface="Calibri"/>
                <a:ea typeface="Calibri"/>
                <a:cs typeface="Calibri"/>
              </a:defRPr>
            </a:lvl7pPr>
            <a:lvl8pPr algn="l">
              <a:defRPr sz="1500" b="0">
                <a:solidFill>
                  <a:srgbClr val="C0392B"/>
                </a:solidFill>
                <a:latin typeface="Calibri"/>
                <a:ea typeface="Calibri"/>
                <a:cs typeface="Calibri"/>
              </a:defRPr>
            </a:lvl8pPr>
            <a:lvl9pPr algn="l">
              <a:defRPr sz="1500" b="0">
                <a:solidFill>
                  <a:srgbClr val="C0392B"/>
                </a:solidFill>
                <a:latin typeface="Calibri"/>
                <a:ea typeface="Calibri"/>
                <a:cs typeface="Calibri"/>
              </a:defRPr>
            </a:lvl9pPr>
          </a:lstStyle>
          <a:p xmlns:a="http://schemas.openxmlformats.org/drawingml/2006/main">
            <a:pPr algn="l">
              <a:defRPr sz="1500" b="0">
                <a:solidFill>
                  <a:srgbClr val="C0392B"/>
                </a:solidFill>
                <a:latin typeface="Calibri"/>
                <a:ea typeface="Calibri"/>
                <a:cs typeface="Calibri"/>
              </a:defRPr>
            </a:pPr>
            <a:r>
              <a:rPr sz="1500" b="0">
                <a:solidFill>
                  <a:srgbClr val="C0392B"/>
                </a:solidFill>
                <a:latin typeface="Calibri"/>
                <a:ea typeface="Calibri"/>
                <a:cs typeface="Calibri"/>
              </a:rPr>
              <a:t>QEYD: Xəritədə |marja| &gt; 1 olan 2 120 sətirin marjası hesablamadan çıxarılıb.</a:t>
            </a:r>
          </a:p>
        </p:txBody>
      </p:sp>
    </p:spTree>
    <p:extLst>
      <p:ext uri="{BB962C8B-B14F-4D97-AF65-F5344CB8AC3E}">
        <p14:creationId xmlns:p14="http://schemas.microsoft.com/office/powerpoint/2010/main" val="17502944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8" name="Google Shape;228;p14">
            <a:extLst xmlns:a="http://schemas.openxmlformats.org/drawingml/2006/main">
              <a:ext uri="{FF2B5EF4-FFF2-40B4-BE49-F238E27FC236}">
                <a16:creationId xmlns:a16="http://schemas.microsoft.com/office/drawing/2014/main" id="{AFD0D3A1-E1A3-4E9C-AD70-5B162E7E6D37}"/>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D9E75"/>
                </a:solidFill>
                <a:latin typeface="Trebuchet MS"/>
                <a:ea typeface="Trebuchet MS"/>
                <a:cs typeface="Trebuchet MS"/>
              </a:defRPr>
            </a:defPPr>
            <a:lvl1pPr>
              <a:defRPr sz="1250" b="1">
                <a:solidFill>
                  <a:srgbClr val="1D9E75"/>
                </a:solidFill>
                <a:latin typeface="Trebuchet MS"/>
                <a:ea typeface="Trebuchet MS"/>
                <a:cs typeface="Trebuchet MS"/>
              </a:defRPr>
            </a:lvl1pPr>
            <a:lvl2pPr>
              <a:defRPr sz="1250" b="1">
                <a:solidFill>
                  <a:srgbClr val="1D9E75"/>
                </a:solidFill>
                <a:latin typeface="Trebuchet MS"/>
                <a:ea typeface="Trebuchet MS"/>
                <a:cs typeface="Trebuchet MS"/>
              </a:defRPr>
            </a:lvl2pPr>
            <a:lvl3pPr>
              <a:defRPr sz="1250" b="1">
                <a:solidFill>
                  <a:srgbClr val="1D9E75"/>
                </a:solidFill>
                <a:latin typeface="Trebuchet MS"/>
                <a:ea typeface="Trebuchet MS"/>
                <a:cs typeface="Trebuchet MS"/>
              </a:defRPr>
            </a:lvl3pPr>
            <a:lvl4pPr>
              <a:defRPr sz="1250" b="1">
                <a:solidFill>
                  <a:srgbClr val="1D9E75"/>
                </a:solidFill>
                <a:latin typeface="Trebuchet MS"/>
                <a:ea typeface="Trebuchet MS"/>
                <a:cs typeface="Trebuchet MS"/>
              </a:defRPr>
            </a:lvl4pPr>
            <a:lvl5pPr>
              <a:defRPr sz="1250" b="1">
                <a:solidFill>
                  <a:srgbClr val="1D9E75"/>
                </a:solidFill>
                <a:latin typeface="Trebuchet MS"/>
                <a:ea typeface="Trebuchet MS"/>
                <a:cs typeface="Trebuchet MS"/>
              </a:defRPr>
            </a:lvl5pPr>
            <a:lvl6pPr>
              <a:defRPr sz="1250" b="1">
                <a:solidFill>
                  <a:srgbClr val="1D9E75"/>
                </a:solidFill>
                <a:latin typeface="Trebuchet MS"/>
                <a:ea typeface="Trebuchet MS"/>
                <a:cs typeface="Trebuchet MS"/>
              </a:defRPr>
            </a:lvl6pPr>
            <a:lvl7pPr>
              <a:defRPr sz="1250" b="1">
                <a:solidFill>
                  <a:srgbClr val="1D9E75"/>
                </a:solidFill>
                <a:latin typeface="Trebuchet MS"/>
                <a:ea typeface="Trebuchet MS"/>
                <a:cs typeface="Trebuchet MS"/>
              </a:defRPr>
            </a:lvl7pPr>
            <a:lvl8pPr>
              <a:defRPr sz="1250" b="1">
                <a:solidFill>
                  <a:srgbClr val="1D9E75"/>
                </a:solidFill>
                <a:latin typeface="Trebuchet MS"/>
                <a:ea typeface="Trebuchet MS"/>
                <a:cs typeface="Trebuchet MS"/>
              </a:defRPr>
            </a:lvl8pPr>
            <a:lvl9pPr>
              <a:defRPr sz="1250" b="1">
                <a:solidFill>
                  <a:srgbClr val="1D9E7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D9E75"/>
              </a:buClr>
              <a:buSzPts val="1250"/>
              <a:buFont typeface="Trebuchet MS"/>
              <a:buNone/>
              <a:defRPr sz="1250" b="1">
                <a:solidFill>
                  <a:srgbClr val="1D9E75"/>
                </a:solidFill>
                <a:latin typeface="Trebuchet MS"/>
                <a:ea typeface="Trebuchet MS"/>
                <a:cs typeface="Trebuchet MS"/>
              </a:defRPr>
            </a:pPr>
            <a:r>
              <a:rPr sz="1250" b="1">
                <a:solidFill>
                  <a:srgbClr val="1D9E75"/>
                </a:solidFill>
                <a:latin typeface="Trebuchet MS"/>
                <a:ea typeface="Trebuchet MS"/>
                <a:cs typeface="Trebuchet MS"/>
              </a:rPr>
              <a:t>3  PROQNOZ VƏ FƏRZİYYƏLƏR</a:t>
            </a:r>
            <a:endParaRPr sz="1250">
              <a:solidFill>
                <a:schemeClr val="dk1"/>
              </a:solidFill>
              <a:latin typeface="Calibri"/>
              <a:ea typeface="Calibri"/>
              <a:cs typeface="Calibri"/>
            </a:endParaRPr>
          </a:p>
        </p:txBody>
      </p:sp>
      <p:sp>
        <p:nvSpPr>
          <p:cNvPr id="229" name="Google Shape;229;p14">
            <a:extLst xmlns:a="http://schemas.openxmlformats.org/drawingml/2006/main">
              <a:ext uri="{FF2B5EF4-FFF2-40B4-BE49-F238E27FC236}">
                <a16:creationId xmlns:a16="http://schemas.microsoft.com/office/drawing/2014/main" id="{BF7BE12D-4336-44CE-AE8F-563F81F9A869}"/>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Korrelyasiya səbəb əlaqəsini göstərmir</a:t>
            </a:r>
            <a:endParaRPr sz="2900">
              <a:solidFill>
                <a:schemeClr val="dk1"/>
              </a:solidFill>
              <a:latin typeface="Calibri"/>
              <a:ea typeface="Calibri"/>
              <a:cs typeface="Calibri"/>
            </a:endParaRPr>
          </a:p>
        </p:txBody>
      </p:sp>
      <p:sp>
        <p:nvSpPr>
          <p:cNvPr id="230" name="Ən azı 10 aktiv günü olan 3 007 konkret POS adı">
            <a:extLst xmlns:a="http://schemas.openxmlformats.org/drawingml/2006/main">
              <a:ext uri="{FF2B5EF4-FFF2-40B4-BE49-F238E27FC236}">
                <a16:creationId xmlns:a16="http://schemas.microsoft.com/office/drawing/2014/main" id="{7047DC38-A03E-447F-90BF-3D7D71936C31}"/>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Ən azı 10 aktiv günü olan 3 007 konkret POS adı</a:t>
            </a:r>
          </a:p>
        </p:txBody>
      </p:sp>
      <p:graphicFrame>
        <p:nvGraphicFramePr>
          <p:cNvPr id="231" name="">
            <a:extLst xmlns:a="http://schemas.openxmlformats.org/drawingml/2006/main">
              <a:ext uri="{FF2B5EF4-FFF2-40B4-BE49-F238E27FC236}">
                <a16:creationId xmlns:a16="http://schemas.microsoft.com/office/drawing/2014/main" id="{989B3EC6-E11C-4D80-9903-E069EAF8EB29}"/>
              </a:ext>
            </a:extLst>
          </p:cNvPr>
          <p:cNvGraphicFramePr/>
          <p:nvPr/>
        </p:nvGraphicFramePr>
        <p:xfrm>
          <a:off xmlns:a="http://schemas.openxmlformats.org/drawingml/2006/main" x="571500" y="2076450"/>
          <a:ext xmlns:a="http://schemas.openxmlformats.org/drawingml/2006/main" cx="11049000" cy="2457450"/>
        </p:xfrm>
        <a:graphic xmlns:a="http://schemas.openxmlformats.org/drawingml/2006/main">
          <a:graphicData uri="http://schemas.openxmlformats.org/drawingml/2006/table">
            <a:tbl>
              <a:tblPr/>
              <a:tblGrid>
                <a:gridCol w="4762500"/>
                <a:gridCol w="2952750"/>
                <a:gridCol w="3333750"/>
              </a:tblGrid>
              <a:tr h="614363">
                <a:tc>
                  <a:txBody>
                    <a:bodyPr lIns="133350" tIns="133350" rIns="133350" bIns="133350"/>
                    <a:lstStyle/>
                    <a:p>
                      <a:pPr algn="l"/>
                      <a:r>
                        <a:rPr sz="1575" b="1">
                          <a:solidFill>
                            <a:srgbClr val="FFFFFF"/>
                          </a:solidFill>
                          <a:latin typeface="Calibri"/>
                          <a:ea typeface="Calibri"/>
                          <a:cs typeface="Calibri"/>
                        </a:rPr>
                        <a:t>Əlaqə</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Ölçü</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Nəticə</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r>
              <a:tr h="614363">
                <a:tc>
                  <a:txBody>
                    <a:bodyPr lIns="133350" tIns="133350" rIns="133350" bIns="133350"/>
                    <a:lstStyle/>
                    <a:p>
                      <a:pPr algn="l"/>
                      <a:r>
                        <a:rPr sz="1650" b="0">
                          <a:solidFill>
                            <a:srgbClr val="1E293B"/>
                          </a:solidFill>
                          <a:latin typeface="Calibri"/>
                          <a:ea typeface="Calibri"/>
                          <a:cs typeface="Calibri"/>
                        </a:rPr>
                        <a:t>Ümumi gəlir / orta günlük gəlir</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Pearson r = 0,997</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Riyazi asılılıq güclüdür</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r>
              <a:tr h="614363">
                <a:tc>
                  <a:txBody>
                    <a:bodyPr lIns="133350" tIns="133350" rIns="133350" bIns="133350"/>
                    <a:lstStyle/>
                    <a:p>
                      <a:pPr algn="l"/>
                      <a:r>
                        <a:rPr sz="1650" b="0">
                          <a:solidFill>
                            <a:srgbClr val="1E293B"/>
                          </a:solidFill>
                          <a:latin typeface="Calibri"/>
                          <a:ea typeface="Calibri"/>
                          <a:cs typeface="Calibri"/>
                        </a:rPr>
                        <a:t>Ümumi gəlir / aktiv gün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Pearson r = 0,095</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Zəif xətti əlaqə</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r h="614363">
                <a:tc>
                  <a:txBody>
                    <a:bodyPr lIns="133350" tIns="133350" rIns="133350" bIns="133350"/>
                    <a:lstStyle/>
                    <a:p>
                      <a:pPr algn="l"/>
                      <a:r>
                        <a:rPr sz="1650" b="0">
                          <a:solidFill>
                            <a:srgbClr val="1E293B"/>
                          </a:solidFill>
                          <a:latin typeface="Calibri"/>
                          <a:ea typeface="Calibri"/>
                          <a:cs typeface="Calibri"/>
                        </a:rPr>
                        <a:t>Ümumi gəlir / aktiv gün</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Spearman ρ = 0,490</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Orta gücdə monoton əlaqə</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r>
            </a:tbl>
          </a:graphicData>
        </a:graphic>
      </p:graphicFrame>
      <p:sp>
        <p:nvSpPr>
          <p:cNvPr id="232" name="Ümumi gəlir = orta gündəlik gəlir × aktiv gün sayı">
            <a:extLst xmlns:a="http://schemas.openxmlformats.org/drawingml/2006/main">
              <a:ext uri="{FF2B5EF4-FFF2-40B4-BE49-F238E27FC236}">
                <a16:creationId xmlns:a16="http://schemas.microsoft.com/office/drawing/2014/main" id="{77A5A667-6D7F-4D61-B37C-BA5938E507AF}"/>
              </a:ext>
            </a:extLst>
          </p:cNvPr>
          <p:cNvSpPr>
            <a:spLocks xmlns:a="http://schemas.openxmlformats.org/drawingml/2006/main" noGrp="1"/>
          </p:cNvSpPr>
          <p:nvPr/>
        </p:nvSpPr>
        <p:spPr>
          <a:xfrm xmlns:a="http://schemas.openxmlformats.org/drawingml/2006/main">
            <a:off x="666750" y="50006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9E75"/>
                </a:solidFill>
                <a:latin typeface="Trebuchet MS"/>
                <a:ea typeface="Trebuchet MS"/>
                <a:cs typeface="Trebuchet MS"/>
              </a:defRPr>
            </a:defPPr>
            <a:lvl1pPr algn="l">
              <a:defRPr sz="2175" b="1">
                <a:solidFill>
                  <a:srgbClr val="1D9E75"/>
                </a:solidFill>
                <a:latin typeface="Trebuchet MS"/>
                <a:ea typeface="Trebuchet MS"/>
                <a:cs typeface="Trebuchet MS"/>
              </a:defRPr>
            </a:lvl1pPr>
            <a:lvl2pPr algn="l">
              <a:defRPr sz="2175" b="1">
                <a:solidFill>
                  <a:srgbClr val="1D9E75"/>
                </a:solidFill>
                <a:latin typeface="Trebuchet MS"/>
                <a:ea typeface="Trebuchet MS"/>
                <a:cs typeface="Trebuchet MS"/>
              </a:defRPr>
            </a:lvl2pPr>
            <a:lvl3pPr algn="l">
              <a:defRPr sz="2175" b="1">
                <a:solidFill>
                  <a:srgbClr val="1D9E75"/>
                </a:solidFill>
                <a:latin typeface="Trebuchet MS"/>
                <a:ea typeface="Trebuchet MS"/>
                <a:cs typeface="Trebuchet MS"/>
              </a:defRPr>
            </a:lvl3pPr>
            <a:lvl4pPr algn="l">
              <a:defRPr sz="2175" b="1">
                <a:solidFill>
                  <a:srgbClr val="1D9E75"/>
                </a:solidFill>
                <a:latin typeface="Trebuchet MS"/>
                <a:ea typeface="Trebuchet MS"/>
                <a:cs typeface="Trebuchet MS"/>
              </a:defRPr>
            </a:lvl4pPr>
            <a:lvl5pPr algn="l">
              <a:defRPr sz="2175" b="1">
                <a:solidFill>
                  <a:srgbClr val="1D9E75"/>
                </a:solidFill>
                <a:latin typeface="Trebuchet MS"/>
                <a:ea typeface="Trebuchet MS"/>
                <a:cs typeface="Trebuchet MS"/>
              </a:defRPr>
            </a:lvl5pPr>
            <a:lvl6pPr algn="l">
              <a:defRPr sz="2175" b="1">
                <a:solidFill>
                  <a:srgbClr val="1D9E75"/>
                </a:solidFill>
                <a:latin typeface="Trebuchet MS"/>
                <a:ea typeface="Trebuchet MS"/>
                <a:cs typeface="Trebuchet MS"/>
              </a:defRPr>
            </a:lvl6pPr>
            <a:lvl7pPr algn="l">
              <a:defRPr sz="2175" b="1">
                <a:solidFill>
                  <a:srgbClr val="1D9E75"/>
                </a:solidFill>
                <a:latin typeface="Trebuchet MS"/>
                <a:ea typeface="Trebuchet MS"/>
                <a:cs typeface="Trebuchet MS"/>
              </a:defRPr>
            </a:lvl7pPr>
            <a:lvl8pPr algn="l">
              <a:defRPr sz="2175" b="1">
                <a:solidFill>
                  <a:srgbClr val="1D9E75"/>
                </a:solidFill>
                <a:latin typeface="Trebuchet MS"/>
                <a:ea typeface="Trebuchet MS"/>
                <a:cs typeface="Trebuchet MS"/>
              </a:defRPr>
            </a:lvl8pPr>
            <a:lvl9pPr algn="l">
              <a:defRPr sz="2175" b="1">
                <a:solidFill>
                  <a:srgbClr val="1D9E75"/>
                </a:solidFill>
                <a:latin typeface="Trebuchet MS"/>
                <a:ea typeface="Trebuchet MS"/>
                <a:cs typeface="Trebuchet MS"/>
              </a:defRPr>
            </a:lvl9pPr>
          </a:lstStyle>
          <a:p xmlns:a="http://schemas.openxmlformats.org/drawingml/2006/main">
            <a:pPr algn="l">
              <a:defRPr sz="2175" b="1">
                <a:solidFill>
                  <a:srgbClr val="1D9E75"/>
                </a:solidFill>
                <a:latin typeface="Trebuchet MS"/>
                <a:ea typeface="Trebuchet MS"/>
                <a:cs typeface="Trebuchet MS"/>
              </a:defRPr>
            </a:pPr>
            <a:r>
              <a:rPr sz="2175" b="1">
                <a:solidFill>
                  <a:srgbClr val="1D9E75"/>
                </a:solidFill>
                <a:latin typeface="Trebuchet MS"/>
                <a:ea typeface="Trebuchet MS"/>
                <a:cs typeface="Trebuchet MS"/>
              </a:rPr>
              <a:t>Ümumi gəlir = orta gündəlik gəlir × aktiv gün sayı</a:t>
            </a:r>
          </a:p>
        </p:txBody>
      </p:sp>
      <p:sp>
        <p:nvSpPr>
          <p:cNvPr id="233" name="Bu eynilik gəlirlə orta gəlir arasındakı yüksək korrely">
            <a:extLst xmlns:a="http://schemas.openxmlformats.org/drawingml/2006/main">
              <a:ext uri="{FF2B5EF4-FFF2-40B4-BE49-F238E27FC236}">
                <a16:creationId xmlns:a16="http://schemas.microsoft.com/office/drawing/2014/main" id="{FA09C692-22E5-4F0F-A52F-B34EDF598E94}"/>
              </a:ext>
            </a:extLst>
          </p:cNvPr>
          <p:cNvSpPr>
            <a:spLocks xmlns:a="http://schemas.openxmlformats.org/drawingml/2006/main" noGrp="1"/>
          </p:cNvSpPr>
          <p:nvPr/>
        </p:nvSpPr>
        <p:spPr>
          <a:xfrm xmlns:a="http://schemas.openxmlformats.org/drawingml/2006/main">
            <a:off x="666750" y="559117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Bu eynilik gəlirlə orta gəlir arasındakı yüksək korrelyasiyanı izah edir.</a:t>
            </a:r>
          </a:p>
        </p:txBody>
      </p:sp>
    </p:spTree>
    <p:extLst>
      <p:ext uri="{BB962C8B-B14F-4D97-AF65-F5344CB8AC3E}">
        <p14:creationId xmlns:p14="http://schemas.microsoft.com/office/powerpoint/2010/main" val="17293629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1" name="Google Shape;251;p15">
            <a:extLst xmlns:a="http://schemas.openxmlformats.org/drawingml/2006/main">
              <a:ext uri="{FF2B5EF4-FFF2-40B4-BE49-F238E27FC236}">
                <a16:creationId xmlns:a16="http://schemas.microsoft.com/office/drawing/2014/main" id="{E40A8BA2-CD52-48F4-8902-C61D896815AB}"/>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D9E75"/>
                </a:solidFill>
                <a:latin typeface="Trebuchet MS"/>
                <a:ea typeface="Trebuchet MS"/>
                <a:cs typeface="Trebuchet MS"/>
              </a:defRPr>
            </a:defPPr>
            <a:lvl1pPr>
              <a:defRPr sz="1250" b="1">
                <a:solidFill>
                  <a:srgbClr val="1D9E75"/>
                </a:solidFill>
                <a:latin typeface="Trebuchet MS"/>
                <a:ea typeface="Trebuchet MS"/>
                <a:cs typeface="Trebuchet MS"/>
              </a:defRPr>
            </a:lvl1pPr>
            <a:lvl2pPr>
              <a:defRPr sz="1250" b="1">
                <a:solidFill>
                  <a:srgbClr val="1D9E75"/>
                </a:solidFill>
                <a:latin typeface="Trebuchet MS"/>
                <a:ea typeface="Trebuchet MS"/>
                <a:cs typeface="Trebuchet MS"/>
              </a:defRPr>
            </a:lvl2pPr>
            <a:lvl3pPr>
              <a:defRPr sz="1250" b="1">
                <a:solidFill>
                  <a:srgbClr val="1D9E75"/>
                </a:solidFill>
                <a:latin typeface="Trebuchet MS"/>
                <a:ea typeface="Trebuchet MS"/>
                <a:cs typeface="Trebuchet MS"/>
              </a:defRPr>
            </a:lvl3pPr>
            <a:lvl4pPr>
              <a:defRPr sz="1250" b="1">
                <a:solidFill>
                  <a:srgbClr val="1D9E75"/>
                </a:solidFill>
                <a:latin typeface="Trebuchet MS"/>
                <a:ea typeface="Trebuchet MS"/>
                <a:cs typeface="Trebuchet MS"/>
              </a:defRPr>
            </a:lvl4pPr>
            <a:lvl5pPr>
              <a:defRPr sz="1250" b="1">
                <a:solidFill>
                  <a:srgbClr val="1D9E75"/>
                </a:solidFill>
                <a:latin typeface="Trebuchet MS"/>
                <a:ea typeface="Trebuchet MS"/>
                <a:cs typeface="Trebuchet MS"/>
              </a:defRPr>
            </a:lvl5pPr>
            <a:lvl6pPr>
              <a:defRPr sz="1250" b="1">
                <a:solidFill>
                  <a:srgbClr val="1D9E75"/>
                </a:solidFill>
                <a:latin typeface="Trebuchet MS"/>
                <a:ea typeface="Trebuchet MS"/>
                <a:cs typeface="Trebuchet MS"/>
              </a:defRPr>
            </a:lvl6pPr>
            <a:lvl7pPr>
              <a:defRPr sz="1250" b="1">
                <a:solidFill>
                  <a:srgbClr val="1D9E75"/>
                </a:solidFill>
                <a:latin typeface="Trebuchet MS"/>
                <a:ea typeface="Trebuchet MS"/>
                <a:cs typeface="Trebuchet MS"/>
              </a:defRPr>
            </a:lvl7pPr>
            <a:lvl8pPr>
              <a:defRPr sz="1250" b="1">
                <a:solidFill>
                  <a:srgbClr val="1D9E75"/>
                </a:solidFill>
                <a:latin typeface="Trebuchet MS"/>
                <a:ea typeface="Trebuchet MS"/>
                <a:cs typeface="Trebuchet MS"/>
              </a:defRPr>
            </a:lvl8pPr>
            <a:lvl9pPr>
              <a:defRPr sz="1250" b="1">
                <a:solidFill>
                  <a:srgbClr val="1D9E7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D9E75"/>
              </a:buClr>
              <a:buSzPts val="1250"/>
              <a:buFont typeface="Trebuchet MS"/>
              <a:buNone/>
              <a:defRPr sz="1250" b="1">
                <a:solidFill>
                  <a:srgbClr val="1D9E75"/>
                </a:solidFill>
                <a:latin typeface="Trebuchet MS"/>
                <a:ea typeface="Trebuchet MS"/>
                <a:cs typeface="Trebuchet MS"/>
              </a:defRPr>
            </a:pPr>
            <a:r>
              <a:rPr sz="1250" b="1">
                <a:solidFill>
                  <a:srgbClr val="1D9E75"/>
                </a:solidFill>
                <a:latin typeface="Trebuchet MS"/>
                <a:ea typeface="Trebuchet MS"/>
                <a:cs typeface="Trebuchet MS"/>
              </a:rPr>
              <a:t>3  PROQNOZ VƏ FƏRZİYYƏLƏR</a:t>
            </a:r>
            <a:endParaRPr sz="1250">
              <a:solidFill>
                <a:schemeClr val="dk1"/>
              </a:solidFill>
              <a:latin typeface="Calibri"/>
              <a:ea typeface="Calibri"/>
              <a:cs typeface="Calibri"/>
            </a:endParaRPr>
          </a:p>
        </p:txBody>
      </p:sp>
      <p:sp>
        <p:nvSpPr>
          <p:cNvPr id="252" name="Google Shape;252;p15">
            <a:extLst xmlns:a="http://schemas.openxmlformats.org/drawingml/2006/main">
              <a:ext uri="{FF2B5EF4-FFF2-40B4-BE49-F238E27FC236}">
                <a16:creationId xmlns:a16="http://schemas.microsoft.com/office/drawing/2014/main" id="{225BE477-3768-448A-B95B-82F5154B2899}"/>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Həftə sonu fərqi statistik əhəmiyyətli deyil</a:t>
            </a:r>
            <a:endParaRPr sz="2900">
              <a:solidFill>
                <a:schemeClr val="dk1"/>
              </a:solidFill>
              <a:latin typeface="Calibri"/>
              <a:ea typeface="Calibri"/>
              <a:cs typeface="Calibri"/>
            </a:endParaRPr>
          </a:p>
        </p:txBody>
      </p:sp>
      <p:sp>
        <p:nvSpPr>
          <p:cNvPr id="253" name="24 normal gün üzrə gəlir müqayisəsi və sadə xətti reqre">
            <a:extLst xmlns:a="http://schemas.openxmlformats.org/drawingml/2006/main">
              <a:ext uri="{FF2B5EF4-FFF2-40B4-BE49-F238E27FC236}">
                <a16:creationId xmlns:a16="http://schemas.microsoft.com/office/drawing/2014/main" id="{65A1EF86-9544-471E-8B79-B47E835E2CF2}"/>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24 normal gün üzrə gəlir müqayisəsi və sadə xətti reqressiya</a:t>
            </a:r>
          </a:p>
        </p:txBody>
      </p:sp>
      <p:sp>
        <p:nvSpPr>
          <p:cNvPr id="254" name="Fərziyyə testi">
            <a:extLst xmlns:a="http://schemas.openxmlformats.org/drawingml/2006/main">
              <a:ext uri="{FF2B5EF4-FFF2-40B4-BE49-F238E27FC236}">
                <a16:creationId xmlns:a16="http://schemas.microsoft.com/office/drawing/2014/main" id="{D5B56DAE-46D1-4CAC-99BB-817B1C11D09D}"/>
              </a:ext>
            </a:extLst>
          </p:cNvPr>
          <p:cNvSpPr>
            <a:spLocks xmlns:a="http://schemas.openxmlformats.org/drawingml/2006/main" noGrp="1"/>
          </p:cNvSpPr>
          <p:nvPr/>
        </p:nvSpPr>
        <p:spPr>
          <a:xfrm xmlns:a="http://schemas.openxmlformats.org/drawingml/2006/main">
            <a:off x="571500" y="19621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D9E75"/>
                </a:solidFill>
                <a:latin typeface="Trebuchet MS"/>
                <a:ea typeface="Trebuchet MS"/>
                <a:cs typeface="Trebuchet MS"/>
              </a:defRPr>
            </a:defPPr>
            <a:lvl1pPr algn="l">
              <a:defRPr sz="1950" b="1">
                <a:solidFill>
                  <a:srgbClr val="1D9E75"/>
                </a:solidFill>
                <a:latin typeface="Trebuchet MS"/>
                <a:ea typeface="Trebuchet MS"/>
                <a:cs typeface="Trebuchet MS"/>
              </a:defRPr>
            </a:lvl1pPr>
            <a:lvl2pPr algn="l">
              <a:defRPr sz="1950" b="1">
                <a:solidFill>
                  <a:srgbClr val="1D9E75"/>
                </a:solidFill>
                <a:latin typeface="Trebuchet MS"/>
                <a:ea typeface="Trebuchet MS"/>
                <a:cs typeface="Trebuchet MS"/>
              </a:defRPr>
            </a:lvl2pPr>
            <a:lvl3pPr algn="l">
              <a:defRPr sz="1950" b="1">
                <a:solidFill>
                  <a:srgbClr val="1D9E75"/>
                </a:solidFill>
                <a:latin typeface="Trebuchet MS"/>
                <a:ea typeface="Trebuchet MS"/>
                <a:cs typeface="Trebuchet MS"/>
              </a:defRPr>
            </a:lvl3pPr>
            <a:lvl4pPr algn="l">
              <a:defRPr sz="1950" b="1">
                <a:solidFill>
                  <a:srgbClr val="1D9E75"/>
                </a:solidFill>
                <a:latin typeface="Trebuchet MS"/>
                <a:ea typeface="Trebuchet MS"/>
                <a:cs typeface="Trebuchet MS"/>
              </a:defRPr>
            </a:lvl4pPr>
            <a:lvl5pPr algn="l">
              <a:defRPr sz="1950" b="1">
                <a:solidFill>
                  <a:srgbClr val="1D9E75"/>
                </a:solidFill>
                <a:latin typeface="Trebuchet MS"/>
                <a:ea typeface="Trebuchet MS"/>
                <a:cs typeface="Trebuchet MS"/>
              </a:defRPr>
            </a:lvl5pPr>
            <a:lvl6pPr algn="l">
              <a:defRPr sz="1950" b="1">
                <a:solidFill>
                  <a:srgbClr val="1D9E75"/>
                </a:solidFill>
                <a:latin typeface="Trebuchet MS"/>
                <a:ea typeface="Trebuchet MS"/>
                <a:cs typeface="Trebuchet MS"/>
              </a:defRPr>
            </a:lvl6pPr>
            <a:lvl7pPr algn="l">
              <a:defRPr sz="1950" b="1">
                <a:solidFill>
                  <a:srgbClr val="1D9E75"/>
                </a:solidFill>
                <a:latin typeface="Trebuchet MS"/>
                <a:ea typeface="Trebuchet MS"/>
                <a:cs typeface="Trebuchet MS"/>
              </a:defRPr>
            </a:lvl7pPr>
            <a:lvl8pPr algn="l">
              <a:defRPr sz="1950" b="1">
                <a:solidFill>
                  <a:srgbClr val="1D9E75"/>
                </a:solidFill>
                <a:latin typeface="Trebuchet MS"/>
                <a:ea typeface="Trebuchet MS"/>
                <a:cs typeface="Trebuchet MS"/>
              </a:defRPr>
            </a:lvl8pPr>
            <a:lvl9pPr algn="l">
              <a:defRPr sz="1950" b="1">
                <a:solidFill>
                  <a:srgbClr val="1D9E75"/>
                </a:solidFill>
                <a:latin typeface="Trebuchet MS"/>
                <a:ea typeface="Trebuchet MS"/>
                <a:cs typeface="Trebuchet MS"/>
              </a:defRPr>
            </a:lvl9pPr>
          </a:lstStyle>
          <a:p xmlns:a="http://schemas.openxmlformats.org/drawingml/2006/main">
            <a:pPr algn="l">
              <a:defRPr sz="1950" b="1">
                <a:solidFill>
                  <a:srgbClr val="1D9E75"/>
                </a:solidFill>
                <a:latin typeface="Trebuchet MS"/>
                <a:ea typeface="Trebuchet MS"/>
                <a:cs typeface="Trebuchet MS"/>
              </a:defRPr>
            </a:pPr>
            <a:r>
              <a:rPr sz="1950" b="1">
                <a:solidFill>
                  <a:srgbClr val="1D9E75"/>
                </a:solidFill>
                <a:latin typeface="Trebuchet MS"/>
                <a:ea typeface="Trebuchet MS"/>
                <a:cs typeface="Trebuchet MS"/>
              </a:rPr>
              <a:t>Fərziyyə testi</a:t>
            </a:r>
          </a:p>
        </p:txBody>
      </p:sp>
      <p:sp>
        <p:nvSpPr>
          <p:cNvPr id="255" name="H₀: Gün tipləri arasında gəlir bölgüsünün yeri fərqlənm">
            <a:extLst xmlns:a="http://schemas.openxmlformats.org/drawingml/2006/main">
              <a:ext uri="{FF2B5EF4-FFF2-40B4-BE49-F238E27FC236}">
                <a16:creationId xmlns:a16="http://schemas.microsoft.com/office/drawing/2014/main" id="{0D5D575E-4123-4309-A372-40AA6D0BE00F}"/>
              </a:ext>
            </a:extLst>
          </p:cNvPr>
          <p:cNvSpPr>
            <a:spLocks xmlns:a="http://schemas.openxmlformats.org/drawingml/2006/main" noGrp="1"/>
          </p:cNvSpPr>
          <p:nvPr/>
        </p:nvSpPr>
        <p:spPr>
          <a:xfrm xmlns:a="http://schemas.openxmlformats.org/drawingml/2006/main">
            <a:off x="571500" y="2428875"/>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H₀: Gün tipləri arasında gəlir bölgüsünün yeri fərqlənmir.</a:t>
            </a:r>
          </a:p>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H₁: Fərq var.</a:t>
            </a:r>
          </a:p>
        </p:txBody>
      </p:sp>
      <p:sp>
        <p:nvSpPr>
          <p:cNvPr id="256" name="p = 0,878">
            <a:extLst xmlns:a="http://schemas.openxmlformats.org/drawingml/2006/main">
              <a:ext uri="{FF2B5EF4-FFF2-40B4-BE49-F238E27FC236}">
                <a16:creationId xmlns:a16="http://schemas.microsoft.com/office/drawing/2014/main" id="{44638252-B019-483B-A3F6-E3625F714172}"/>
              </a:ext>
            </a:extLst>
          </p:cNvPr>
          <p:cNvSpPr>
            <a:spLocks xmlns:a="http://schemas.openxmlformats.org/drawingml/2006/main" noGrp="1"/>
          </p:cNvSpPr>
          <p:nvPr/>
        </p:nvSpPr>
        <p:spPr>
          <a:xfrm xmlns:a="http://schemas.openxmlformats.org/drawingml/2006/main">
            <a:off x="6524625" y="196215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D9E75"/>
                </a:solidFill>
                <a:latin typeface="Trebuchet MS"/>
                <a:ea typeface="Trebuchet MS"/>
                <a:cs typeface="Trebuchet MS"/>
              </a:defRPr>
            </a:defPPr>
            <a:lvl1pPr algn="l">
              <a:defRPr sz="3600" b="1">
                <a:solidFill>
                  <a:srgbClr val="1D9E75"/>
                </a:solidFill>
                <a:latin typeface="Trebuchet MS"/>
                <a:ea typeface="Trebuchet MS"/>
                <a:cs typeface="Trebuchet MS"/>
              </a:defRPr>
            </a:lvl1pPr>
            <a:lvl2pPr algn="l">
              <a:defRPr sz="3600" b="1">
                <a:solidFill>
                  <a:srgbClr val="1D9E75"/>
                </a:solidFill>
                <a:latin typeface="Trebuchet MS"/>
                <a:ea typeface="Trebuchet MS"/>
                <a:cs typeface="Trebuchet MS"/>
              </a:defRPr>
            </a:lvl2pPr>
            <a:lvl3pPr algn="l">
              <a:defRPr sz="3600" b="1">
                <a:solidFill>
                  <a:srgbClr val="1D9E75"/>
                </a:solidFill>
                <a:latin typeface="Trebuchet MS"/>
                <a:ea typeface="Trebuchet MS"/>
                <a:cs typeface="Trebuchet MS"/>
              </a:defRPr>
            </a:lvl3pPr>
            <a:lvl4pPr algn="l">
              <a:defRPr sz="3600" b="1">
                <a:solidFill>
                  <a:srgbClr val="1D9E75"/>
                </a:solidFill>
                <a:latin typeface="Trebuchet MS"/>
                <a:ea typeface="Trebuchet MS"/>
                <a:cs typeface="Trebuchet MS"/>
              </a:defRPr>
            </a:lvl4pPr>
            <a:lvl5pPr algn="l">
              <a:defRPr sz="3600" b="1">
                <a:solidFill>
                  <a:srgbClr val="1D9E75"/>
                </a:solidFill>
                <a:latin typeface="Trebuchet MS"/>
                <a:ea typeface="Trebuchet MS"/>
                <a:cs typeface="Trebuchet MS"/>
              </a:defRPr>
            </a:lvl5pPr>
            <a:lvl6pPr algn="l">
              <a:defRPr sz="3600" b="1">
                <a:solidFill>
                  <a:srgbClr val="1D9E75"/>
                </a:solidFill>
                <a:latin typeface="Trebuchet MS"/>
                <a:ea typeface="Trebuchet MS"/>
                <a:cs typeface="Trebuchet MS"/>
              </a:defRPr>
            </a:lvl6pPr>
            <a:lvl7pPr algn="l">
              <a:defRPr sz="3600" b="1">
                <a:solidFill>
                  <a:srgbClr val="1D9E75"/>
                </a:solidFill>
                <a:latin typeface="Trebuchet MS"/>
                <a:ea typeface="Trebuchet MS"/>
                <a:cs typeface="Trebuchet MS"/>
              </a:defRPr>
            </a:lvl7pPr>
            <a:lvl8pPr algn="l">
              <a:defRPr sz="3600" b="1">
                <a:solidFill>
                  <a:srgbClr val="1D9E75"/>
                </a:solidFill>
                <a:latin typeface="Trebuchet MS"/>
                <a:ea typeface="Trebuchet MS"/>
                <a:cs typeface="Trebuchet MS"/>
              </a:defRPr>
            </a:lvl8pPr>
            <a:lvl9pPr algn="l">
              <a:defRPr sz="3600" b="1">
                <a:solidFill>
                  <a:srgbClr val="1D9E75"/>
                </a:solidFill>
                <a:latin typeface="Trebuchet MS"/>
                <a:ea typeface="Trebuchet MS"/>
                <a:cs typeface="Trebuchet MS"/>
              </a:defRPr>
            </a:lvl9pPr>
          </a:lstStyle>
          <a:p xmlns:a="http://schemas.openxmlformats.org/drawingml/2006/main">
            <a:pPr algn="l">
              <a:defRPr sz="3600" b="1">
                <a:solidFill>
                  <a:srgbClr val="1D9E75"/>
                </a:solidFill>
                <a:latin typeface="Trebuchet MS"/>
                <a:ea typeface="Trebuchet MS"/>
                <a:cs typeface="Trebuchet MS"/>
              </a:defRPr>
            </a:pPr>
            <a:r>
              <a:rPr sz="3600" b="1">
                <a:solidFill>
                  <a:srgbClr val="1D9E75"/>
                </a:solidFill>
                <a:latin typeface="Trebuchet MS"/>
                <a:ea typeface="Trebuchet MS"/>
                <a:cs typeface="Trebuchet MS"/>
              </a:rPr>
              <a:t>p = 0,878</a:t>
            </a:r>
          </a:p>
        </p:txBody>
      </p:sp>
      <p:sp>
        <p:nvSpPr>
          <p:cNvPr id="257" name="Wilcoxon testi. 5% səviyyəsində H₀ rədd edilmir.">
            <a:extLst xmlns:a="http://schemas.openxmlformats.org/drawingml/2006/main">
              <a:ext uri="{FF2B5EF4-FFF2-40B4-BE49-F238E27FC236}">
                <a16:creationId xmlns:a16="http://schemas.microsoft.com/office/drawing/2014/main" id="{2AA13334-8BD4-4897-BF18-B12D80F9A8D9}"/>
              </a:ext>
            </a:extLst>
          </p:cNvPr>
          <p:cNvSpPr>
            <a:spLocks xmlns:a="http://schemas.openxmlformats.org/drawingml/2006/main" noGrp="1"/>
          </p:cNvSpPr>
          <p:nvPr/>
        </p:nvSpPr>
        <p:spPr>
          <a:xfrm xmlns:a="http://schemas.openxmlformats.org/drawingml/2006/main">
            <a:off x="6524625" y="2686050"/>
            <a:ext cx="4953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Wilcoxon testi. 5% səviyyəsində H₀ rədd edilmir.</a:t>
            </a:r>
          </a:p>
        </p:txBody>
      </p:sp>
      <p:graphicFrame>
        <p:nvGraphicFramePr>
          <p:cNvPr id="258" name="">
            <a:extLst xmlns:a="http://schemas.openxmlformats.org/drawingml/2006/main">
              <a:ext uri="{FF2B5EF4-FFF2-40B4-BE49-F238E27FC236}">
                <a16:creationId xmlns:a16="http://schemas.microsoft.com/office/drawing/2014/main" id="{6F43E752-75B3-4882-B513-986B641C81E3}"/>
              </a:ext>
            </a:extLst>
          </p:cNvPr>
          <p:cNvGraphicFramePr/>
          <p:nvPr/>
        </p:nvGraphicFramePr>
        <p:xfrm>
          <a:off xmlns:a="http://schemas.openxmlformats.org/drawingml/2006/main" x="571500" y="4086225"/>
          <a:ext xmlns:a="http://schemas.openxmlformats.org/drawingml/2006/main" cx="7524750" cy="1752600"/>
        </p:xfrm>
        <a:graphic xmlns:a="http://schemas.openxmlformats.org/drawingml/2006/main">
          <a:graphicData uri="http://schemas.openxmlformats.org/drawingml/2006/table">
            <a:tbl>
              <a:tblPr/>
              <a:tblGrid>
                <a:gridCol w="3524250"/>
                <a:gridCol w="2190750"/>
                <a:gridCol w="1809750"/>
              </a:tblGrid>
              <a:tr h="584200">
                <a:tc>
                  <a:txBody>
                    <a:bodyPr lIns="133350" tIns="133350" rIns="133350" bIns="133350"/>
                    <a:lstStyle/>
                    <a:p>
                      <a:pPr algn="l"/>
                      <a:r>
                        <a:rPr sz="1575" b="1">
                          <a:solidFill>
                            <a:srgbClr val="FFFFFF"/>
                          </a:solidFill>
                          <a:latin typeface="Calibri"/>
                          <a:ea typeface="Calibri"/>
                          <a:cs typeface="Calibri"/>
                        </a:rPr>
                        <a:t>Model komponenti</a:t>
                      </a:r>
                    </a:p>
                  </a:txBody>
                  <a:tcPr marL="91440" marR="91440" marT="45720" marB="4572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Əmsal, AZN</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c>
                  <a:txBody>
                    <a:bodyPr lIns="133350" tIns="133350" rIns="133350" bIns="133350"/>
                    <a:lstStyle/>
                    <a:p>
                      <a:pPr algn="ctr"/>
                      <a:r>
                        <a:rPr sz="1575" b="1">
                          <a:solidFill>
                            <a:srgbClr val="FFFFFF"/>
                          </a:solidFill>
                          <a:latin typeface="Calibri"/>
                          <a:ea typeface="Calibri"/>
                          <a:cs typeface="Calibri"/>
                        </a:rPr>
                        <a:t>p-dəyər</a:t>
                      </a:r>
                    </a:p>
                  </a:txBody>
                  <a:tcPr marL="91440" marR="91440" marT="45720" marB="45720" anchor="ctr">
                    <a:lnR w="19050">
                      <a:solidFill>
                        <a:srgbClr val="FFFFFF"/>
                      </a:solidFill>
                      <a:prstDash val="solid"/>
                    </a:lnR>
                    <a:lnT w="19050">
                      <a:solidFill>
                        <a:srgbClr val="FFFFFF"/>
                      </a:solidFill>
                      <a:prstDash val="solid"/>
                    </a:lnT>
                    <a:lnB w="19050">
                      <a:solidFill>
                        <a:srgbClr val="FFFFFF"/>
                      </a:solidFill>
                      <a:prstDash val="solid"/>
                    </a:lnB>
                    <a:solidFill>
                      <a:srgbClr val="0C2D4D"/>
                    </a:solidFill>
                  </a:tcPr>
                </a:tc>
              </a:tr>
              <a:tr h="584200">
                <a:tc>
                  <a:txBody>
                    <a:bodyPr lIns="133350" tIns="133350" rIns="133350" bIns="133350"/>
                    <a:lstStyle/>
                    <a:p>
                      <a:pPr algn="l"/>
                      <a:r>
                        <a:rPr sz="1650" b="0">
                          <a:solidFill>
                            <a:srgbClr val="1E293B"/>
                          </a:solidFill>
                          <a:latin typeface="Calibri"/>
                          <a:ea typeface="Calibri"/>
                          <a:cs typeface="Calibri"/>
                        </a:rPr>
                        <a:t>Həftə sonu</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−10 864</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c>
                  <a:txBody>
                    <a:bodyPr lIns="133350" tIns="133350" rIns="133350" bIns="133350"/>
                    <a:lstStyle/>
                    <a:p>
                      <a:pPr algn="ctr"/>
                      <a:r>
                        <a:rPr sz="1650" b="0">
                          <a:solidFill>
                            <a:srgbClr val="1E293B"/>
                          </a:solidFill>
                          <a:latin typeface="Calibri"/>
                          <a:ea typeface="Calibri"/>
                          <a:cs typeface="Calibri"/>
                        </a:rPr>
                        <a:t>0,944</a:t>
                      </a:r>
                    </a:p>
                  </a:txBody>
                  <a:tcPr marL="91440" marR="91440" marT="45720" marB="45720" anchor="ctr">
                    <a:lnR w="19050">
                      <a:solidFill>
                        <a:srgbClr val="FFFFFF"/>
                      </a:solidFill>
                      <a:prstDash val="solid"/>
                    </a:lnR>
                    <a:lnB w="19050">
                      <a:solidFill>
                        <a:srgbClr val="FFFFFF"/>
                      </a:solidFill>
                      <a:prstDash val="solid"/>
                    </a:lnB>
                    <a:solidFill>
                      <a:srgbClr val="F4F7FA"/>
                    </a:solidFill>
                  </a:tcPr>
                </a:tc>
              </a:tr>
              <a:tr h="584200">
                <a:tc>
                  <a:txBody>
                    <a:bodyPr lIns="133350" tIns="133350" rIns="133350" bIns="133350"/>
                    <a:lstStyle/>
                    <a:p>
                      <a:pPr algn="l"/>
                      <a:r>
                        <a:rPr sz="1650" b="0">
                          <a:solidFill>
                            <a:srgbClr val="1E293B"/>
                          </a:solidFill>
                          <a:latin typeface="Calibri"/>
                          <a:ea typeface="Calibri"/>
                          <a:cs typeface="Calibri"/>
                        </a:rPr>
                        <a:t>Gündəlik trend</a:t>
                      </a:r>
                    </a:p>
                  </a:txBody>
                  <a:tcPr marL="91440" marR="91440" marT="45720" marB="45720" anchor="ctr">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+4 182</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c>
                  <a:txBody>
                    <a:bodyPr lIns="133350" tIns="133350" rIns="133350" bIns="133350"/>
                    <a:lstStyle/>
                    <a:p>
                      <a:pPr algn="ctr"/>
                      <a:r>
                        <a:rPr sz="1650" b="0">
                          <a:solidFill>
                            <a:srgbClr val="1E293B"/>
                          </a:solidFill>
                          <a:latin typeface="Calibri"/>
                          <a:ea typeface="Calibri"/>
                          <a:cs typeface="Calibri"/>
                        </a:rPr>
                        <a:t>0,501</a:t>
                      </a:r>
                    </a:p>
                  </a:txBody>
                  <a:tcPr marL="91440" marR="91440" marT="45720" marB="45720" anchor="ctr">
                    <a:lnR w="19050">
                      <a:solidFill>
                        <a:srgbClr val="FFFFFF"/>
                      </a:solidFill>
                      <a:prstDash val="solid"/>
                    </a:lnR>
                    <a:lnB w="19050">
                      <a:solidFill>
                        <a:srgbClr val="FFFFFF"/>
                      </a:solidFill>
                      <a:prstDash val="solid"/>
                    </a:lnB>
                    <a:solidFill>
                      <a:srgbClr val="FFFFFF"/>
                    </a:solidFill>
                  </a:tcPr>
                </a:tc>
              </a:tr>
            </a:tbl>
          </a:graphicData>
        </a:graphic>
      </p:graphicFrame>
      <p:sp>
        <p:nvSpPr>
          <p:cNvPr id="259" name="R² = 0,024">
            <a:extLst xmlns:a="http://schemas.openxmlformats.org/drawingml/2006/main">
              <a:ext uri="{FF2B5EF4-FFF2-40B4-BE49-F238E27FC236}">
                <a16:creationId xmlns:a16="http://schemas.microsoft.com/office/drawing/2014/main" id="{479C8E52-4A9E-408B-8797-2BE9560B08AA}"/>
              </a:ext>
            </a:extLst>
          </p:cNvPr>
          <p:cNvSpPr>
            <a:spLocks xmlns:a="http://schemas.openxmlformats.org/drawingml/2006/main" noGrp="1"/>
          </p:cNvSpPr>
          <p:nvPr/>
        </p:nvSpPr>
        <p:spPr>
          <a:xfrm xmlns:a="http://schemas.openxmlformats.org/drawingml/2006/main">
            <a:off x="8524875" y="409575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0392B"/>
                </a:solidFill>
                <a:latin typeface="Trebuchet MS"/>
                <a:ea typeface="Trebuchet MS"/>
                <a:cs typeface="Trebuchet MS"/>
              </a:defRPr>
            </a:defPPr>
            <a:lvl1pPr algn="l">
              <a:defRPr sz="3600" b="1">
                <a:solidFill>
                  <a:srgbClr val="C0392B"/>
                </a:solidFill>
                <a:latin typeface="Trebuchet MS"/>
                <a:ea typeface="Trebuchet MS"/>
                <a:cs typeface="Trebuchet MS"/>
              </a:defRPr>
            </a:lvl1pPr>
            <a:lvl2pPr algn="l">
              <a:defRPr sz="3600" b="1">
                <a:solidFill>
                  <a:srgbClr val="C0392B"/>
                </a:solidFill>
                <a:latin typeface="Trebuchet MS"/>
                <a:ea typeface="Trebuchet MS"/>
                <a:cs typeface="Trebuchet MS"/>
              </a:defRPr>
            </a:lvl2pPr>
            <a:lvl3pPr algn="l">
              <a:defRPr sz="3600" b="1">
                <a:solidFill>
                  <a:srgbClr val="C0392B"/>
                </a:solidFill>
                <a:latin typeface="Trebuchet MS"/>
                <a:ea typeface="Trebuchet MS"/>
                <a:cs typeface="Trebuchet MS"/>
              </a:defRPr>
            </a:lvl3pPr>
            <a:lvl4pPr algn="l">
              <a:defRPr sz="3600" b="1">
                <a:solidFill>
                  <a:srgbClr val="C0392B"/>
                </a:solidFill>
                <a:latin typeface="Trebuchet MS"/>
                <a:ea typeface="Trebuchet MS"/>
                <a:cs typeface="Trebuchet MS"/>
              </a:defRPr>
            </a:lvl4pPr>
            <a:lvl5pPr algn="l">
              <a:defRPr sz="3600" b="1">
                <a:solidFill>
                  <a:srgbClr val="C0392B"/>
                </a:solidFill>
                <a:latin typeface="Trebuchet MS"/>
                <a:ea typeface="Trebuchet MS"/>
                <a:cs typeface="Trebuchet MS"/>
              </a:defRPr>
            </a:lvl5pPr>
            <a:lvl6pPr algn="l">
              <a:defRPr sz="3600" b="1">
                <a:solidFill>
                  <a:srgbClr val="C0392B"/>
                </a:solidFill>
                <a:latin typeface="Trebuchet MS"/>
                <a:ea typeface="Trebuchet MS"/>
                <a:cs typeface="Trebuchet MS"/>
              </a:defRPr>
            </a:lvl6pPr>
            <a:lvl7pPr algn="l">
              <a:defRPr sz="3600" b="1">
                <a:solidFill>
                  <a:srgbClr val="C0392B"/>
                </a:solidFill>
                <a:latin typeface="Trebuchet MS"/>
                <a:ea typeface="Trebuchet MS"/>
                <a:cs typeface="Trebuchet MS"/>
              </a:defRPr>
            </a:lvl7pPr>
            <a:lvl8pPr algn="l">
              <a:defRPr sz="3600" b="1">
                <a:solidFill>
                  <a:srgbClr val="C0392B"/>
                </a:solidFill>
                <a:latin typeface="Trebuchet MS"/>
                <a:ea typeface="Trebuchet MS"/>
                <a:cs typeface="Trebuchet MS"/>
              </a:defRPr>
            </a:lvl8pPr>
            <a:lvl9pPr algn="l">
              <a:defRPr sz="3600" b="1">
                <a:solidFill>
                  <a:srgbClr val="C0392B"/>
                </a:solidFill>
                <a:latin typeface="Trebuchet MS"/>
                <a:ea typeface="Trebuchet MS"/>
                <a:cs typeface="Trebuchet MS"/>
              </a:defRPr>
            </a:lvl9pPr>
          </a:lstStyle>
          <a:p xmlns:a="http://schemas.openxmlformats.org/drawingml/2006/main">
            <a:pPr algn="l">
              <a:defRPr sz="3600" b="1">
                <a:solidFill>
                  <a:srgbClr val="C0392B"/>
                </a:solidFill>
                <a:latin typeface="Trebuchet MS"/>
                <a:ea typeface="Trebuchet MS"/>
                <a:cs typeface="Trebuchet MS"/>
              </a:defRPr>
            </a:pPr>
            <a:r>
              <a:rPr sz="3600" b="1">
                <a:solidFill>
                  <a:srgbClr val="C0392B"/>
                </a:solidFill>
                <a:latin typeface="Trebuchet MS"/>
                <a:ea typeface="Trebuchet MS"/>
                <a:cs typeface="Trebuchet MS"/>
              </a:rPr>
              <a:t>R² = 0,024</a:t>
            </a:r>
          </a:p>
        </p:txBody>
      </p:sp>
      <p:sp>
        <p:nvSpPr>
          <p:cNvPr id="260" name="Model günlük dəyişkənliyin təxminən 2,4%-ni izah edir.">
            <a:extLst xmlns:a="http://schemas.openxmlformats.org/drawingml/2006/main">
              <a:ext uri="{FF2B5EF4-FFF2-40B4-BE49-F238E27FC236}">
                <a16:creationId xmlns:a16="http://schemas.microsoft.com/office/drawing/2014/main" id="{2195A698-FD71-4965-89CD-5F95CD42628F}"/>
              </a:ext>
            </a:extLst>
          </p:cNvPr>
          <p:cNvSpPr>
            <a:spLocks xmlns:a="http://schemas.openxmlformats.org/drawingml/2006/main" noGrp="1"/>
          </p:cNvSpPr>
          <p:nvPr/>
        </p:nvSpPr>
        <p:spPr>
          <a:xfrm xmlns:a="http://schemas.openxmlformats.org/drawingml/2006/main">
            <a:off x="8524875" y="481965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Model günlük dəyişkənliyin təxminən 2,4%-ni izah edir.</a:t>
            </a:r>
          </a:p>
        </p:txBody>
      </p:sp>
      <p:sp>
        <p:nvSpPr>
          <p:cNvPr id="261" name="QEYD: Əhəmiyyətli fərq tapılmaması günlərin eyni olduğu">
            <a:extLst xmlns:a="http://schemas.openxmlformats.org/drawingml/2006/main">
              <a:ext uri="{FF2B5EF4-FFF2-40B4-BE49-F238E27FC236}">
                <a16:creationId xmlns:a16="http://schemas.microsoft.com/office/drawing/2014/main" id="{A5D5969F-E8E6-40B1-A492-3728A56B75E7}"/>
              </a:ext>
            </a:extLst>
          </p:cNvPr>
          <p:cNvSpPr>
            <a:spLocks xmlns:a="http://schemas.openxmlformats.org/drawingml/2006/main" noGrp="1"/>
          </p:cNvSpPr>
          <p:nvPr/>
        </p:nvSpPr>
        <p:spPr>
          <a:xfrm xmlns:a="http://schemas.openxmlformats.org/drawingml/2006/main">
            <a:off x="571500" y="62198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D9E75"/>
                </a:solidFill>
                <a:latin typeface="Calibri"/>
                <a:ea typeface="Calibri"/>
                <a:cs typeface="Calibri"/>
              </a:defRPr>
            </a:defPPr>
            <a:lvl1pPr algn="l">
              <a:defRPr sz="1500" b="0">
                <a:solidFill>
                  <a:srgbClr val="1D9E75"/>
                </a:solidFill>
                <a:latin typeface="Calibri"/>
                <a:ea typeface="Calibri"/>
                <a:cs typeface="Calibri"/>
              </a:defRPr>
            </a:lvl1pPr>
            <a:lvl2pPr algn="l">
              <a:defRPr sz="1500" b="0">
                <a:solidFill>
                  <a:srgbClr val="1D9E75"/>
                </a:solidFill>
                <a:latin typeface="Calibri"/>
                <a:ea typeface="Calibri"/>
                <a:cs typeface="Calibri"/>
              </a:defRPr>
            </a:lvl2pPr>
            <a:lvl3pPr algn="l">
              <a:defRPr sz="1500" b="0">
                <a:solidFill>
                  <a:srgbClr val="1D9E75"/>
                </a:solidFill>
                <a:latin typeface="Calibri"/>
                <a:ea typeface="Calibri"/>
                <a:cs typeface="Calibri"/>
              </a:defRPr>
            </a:lvl3pPr>
            <a:lvl4pPr algn="l">
              <a:defRPr sz="1500" b="0">
                <a:solidFill>
                  <a:srgbClr val="1D9E75"/>
                </a:solidFill>
                <a:latin typeface="Calibri"/>
                <a:ea typeface="Calibri"/>
                <a:cs typeface="Calibri"/>
              </a:defRPr>
            </a:lvl4pPr>
            <a:lvl5pPr algn="l">
              <a:defRPr sz="1500" b="0">
                <a:solidFill>
                  <a:srgbClr val="1D9E75"/>
                </a:solidFill>
                <a:latin typeface="Calibri"/>
                <a:ea typeface="Calibri"/>
                <a:cs typeface="Calibri"/>
              </a:defRPr>
            </a:lvl5pPr>
            <a:lvl6pPr algn="l">
              <a:defRPr sz="1500" b="0">
                <a:solidFill>
                  <a:srgbClr val="1D9E75"/>
                </a:solidFill>
                <a:latin typeface="Calibri"/>
                <a:ea typeface="Calibri"/>
                <a:cs typeface="Calibri"/>
              </a:defRPr>
            </a:lvl6pPr>
            <a:lvl7pPr algn="l">
              <a:defRPr sz="1500" b="0">
                <a:solidFill>
                  <a:srgbClr val="1D9E75"/>
                </a:solidFill>
                <a:latin typeface="Calibri"/>
                <a:ea typeface="Calibri"/>
                <a:cs typeface="Calibri"/>
              </a:defRPr>
            </a:lvl7pPr>
            <a:lvl8pPr algn="l">
              <a:defRPr sz="1500" b="0">
                <a:solidFill>
                  <a:srgbClr val="1D9E75"/>
                </a:solidFill>
                <a:latin typeface="Calibri"/>
                <a:ea typeface="Calibri"/>
                <a:cs typeface="Calibri"/>
              </a:defRPr>
            </a:lvl8pPr>
            <a:lvl9pPr algn="l">
              <a:defRPr sz="1500" b="0">
                <a:solidFill>
                  <a:srgbClr val="1D9E75"/>
                </a:solidFill>
                <a:latin typeface="Calibri"/>
                <a:ea typeface="Calibri"/>
                <a:cs typeface="Calibri"/>
              </a:defRPr>
            </a:lvl9pPr>
          </a:lstStyle>
          <a:p xmlns:a="http://schemas.openxmlformats.org/drawingml/2006/main">
            <a:pPr algn="l">
              <a:defRPr sz="1500" b="0">
                <a:solidFill>
                  <a:srgbClr val="1D9E75"/>
                </a:solidFill>
                <a:latin typeface="Calibri"/>
                <a:ea typeface="Calibri"/>
                <a:cs typeface="Calibri"/>
              </a:defRPr>
            </a:pPr>
            <a:r>
              <a:rPr sz="1500" b="0">
                <a:solidFill>
                  <a:srgbClr val="1D9E75"/>
                </a:solidFill>
                <a:latin typeface="Calibri"/>
                <a:ea typeface="Calibri"/>
                <a:cs typeface="Calibri"/>
              </a:rPr>
              <a:t>QEYD: Əhəmiyyətli fərq tapılmaması günlərin eyni olduğunu sübut etmir.</a:t>
            </a:r>
          </a:p>
        </p:txBody>
      </p:sp>
    </p:spTree>
    <p:extLst>
      <p:ext uri="{BB962C8B-B14F-4D97-AF65-F5344CB8AC3E}">
        <p14:creationId xmlns:p14="http://schemas.microsoft.com/office/powerpoint/2010/main" val="13079725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5" name="Google Shape;265;p16">
            <a:extLst xmlns:a="http://schemas.openxmlformats.org/drawingml/2006/main">
              <a:ext uri="{FF2B5EF4-FFF2-40B4-BE49-F238E27FC236}">
                <a16:creationId xmlns:a16="http://schemas.microsoft.com/office/drawing/2014/main" id="{73D37A4C-0A00-4FE4-AC9C-EF2BD61C6B9C}"/>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D9E75"/>
                </a:solidFill>
                <a:latin typeface="Trebuchet MS"/>
                <a:ea typeface="Trebuchet MS"/>
                <a:cs typeface="Trebuchet MS"/>
              </a:defRPr>
            </a:defPPr>
            <a:lvl1pPr>
              <a:defRPr sz="1250" b="1">
                <a:solidFill>
                  <a:srgbClr val="1D9E75"/>
                </a:solidFill>
                <a:latin typeface="Trebuchet MS"/>
                <a:ea typeface="Trebuchet MS"/>
                <a:cs typeface="Trebuchet MS"/>
              </a:defRPr>
            </a:lvl1pPr>
            <a:lvl2pPr>
              <a:defRPr sz="1250" b="1">
                <a:solidFill>
                  <a:srgbClr val="1D9E75"/>
                </a:solidFill>
                <a:latin typeface="Trebuchet MS"/>
                <a:ea typeface="Trebuchet MS"/>
                <a:cs typeface="Trebuchet MS"/>
              </a:defRPr>
            </a:lvl2pPr>
            <a:lvl3pPr>
              <a:defRPr sz="1250" b="1">
                <a:solidFill>
                  <a:srgbClr val="1D9E75"/>
                </a:solidFill>
                <a:latin typeface="Trebuchet MS"/>
                <a:ea typeface="Trebuchet MS"/>
                <a:cs typeface="Trebuchet MS"/>
              </a:defRPr>
            </a:lvl3pPr>
            <a:lvl4pPr>
              <a:defRPr sz="1250" b="1">
                <a:solidFill>
                  <a:srgbClr val="1D9E75"/>
                </a:solidFill>
                <a:latin typeface="Trebuchet MS"/>
                <a:ea typeface="Trebuchet MS"/>
                <a:cs typeface="Trebuchet MS"/>
              </a:defRPr>
            </a:lvl4pPr>
            <a:lvl5pPr>
              <a:defRPr sz="1250" b="1">
                <a:solidFill>
                  <a:srgbClr val="1D9E75"/>
                </a:solidFill>
                <a:latin typeface="Trebuchet MS"/>
                <a:ea typeface="Trebuchet MS"/>
                <a:cs typeface="Trebuchet MS"/>
              </a:defRPr>
            </a:lvl5pPr>
            <a:lvl6pPr>
              <a:defRPr sz="1250" b="1">
                <a:solidFill>
                  <a:srgbClr val="1D9E75"/>
                </a:solidFill>
                <a:latin typeface="Trebuchet MS"/>
                <a:ea typeface="Trebuchet MS"/>
                <a:cs typeface="Trebuchet MS"/>
              </a:defRPr>
            </a:lvl6pPr>
            <a:lvl7pPr>
              <a:defRPr sz="1250" b="1">
                <a:solidFill>
                  <a:srgbClr val="1D9E75"/>
                </a:solidFill>
                <a:latin typeface="Trebuchet MS"/>
                <a:ea typeface="Trebuchet MS"/>
                <a:cs typeface="Trebuchet MS"/>
              </a:defRPr>
            </a:lvl7pPr>
            <a:lvl8pPr>
              <a:defRPr sz="1250" b="1">
                <a:solidFill>
                  <a:srgbClr val="1D9E75"/>
                </a:solidFill>
                <a:latin typeface="Trebuchet MS"/>
                <a:ea typeface="Trebuchet MS"/>
                <a:cs typeface="Trebuchet MS"/>
              </a:defRPr>
            </a:lvl8pPr>
            <a:lvl9pPr>
              <a:defRPr sz="1250" b="1">
                <a:solidFill>
                  <a:srgbClr val="1D9E7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D9E75"/>
              </a:buClr>
              <a:buSzPts val="1250"/>
              <a:buFont typeface="Trebuchet MS"/>
              <a:buNone/>
              <a:defRPr sz="1250" b="1">
                <a:solidFill>
                  <a:srgbClr val="1D9E75"/>
                </a:solidFill>
                <a:latin typeface="Trebuchet MS"/>
                <a:ea typeface="Trebuchet MS"/>
                <a:cs typeface="Trebuchet MS"/>
              </a:defRPr>
            </a:pPr>
            <a:r>
              <a:rPr sz="1250" b="1">
                <a:solidFill>
                  <a:srgbClr val="1D9E75"/>
                </a:solidFill>
                <a:latin typeface="Trebuchet MS"/>
                <a:ea typeface="Trebuchet MS"/>
                <a:cs typeface="Trebuchet MS"/>
              </a:rPr>
              <a:t>3  PROQNOZ VƏ FƏRZİYYƏLƏR</a:t>
            </a:r>
            <a:endParaRPr sz="1250">
              <a:solidFill>
                <a:schemeClr val="dk1"/>
              </a:solidFill>
              <a:latin typeface="Calibri"/>
              <a:ea typeface="Calibri"/>
              <a:cs typeface="Calibri"/>
            </a:endParaRPr>
          </a:p>
        </p:txBody>
      </p:sp>
      <p:sp>
        <p:nvSpPr>
          <p:cNvPr id="266" name="Google Shape;266;p16">
            <a:extLst xmlns:a="http://schemas.openxmlformats.org/drawingml/2006/main">
              <a:ext uri="{FF2B5EF4-FFF2-40B4-BE49-F238E27FC236}">
                <a16:creationId xmlns:a16="http://schemas.microsoft.com/office/drawing/2014/main" id="{DA46ACF7-3CB8-4798-AD78-51B73EB07C09}"/>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Proqnoz 19 günlə öyrənilir, 5 günlə yoxlanır</a:t>
            </a:r>
            <a:endParaRPr sz="2900">
              <a:solidFill>
                <a:schemeClr val="dk1"/>
              </a:solidFill>
              <a:latin typeface="Calibri"/>
              <a:ea typeface="Calibri"/>
              <a:cs typeface="Calibri"/>
            </a:endParaRPr>
          </a:p>
        </p:txBody>
      </p:sp>
      <p:sp>
        <p:nvSpPr>
          <p:cNvPr id="268" name="Google Shape;268;p16">
            <a:extLst xmlns:a="http://schemas.openxmlformats.org/drawingml/2006/main">
              <a:ext uri="{FF2B5EF4-FFF2-40B4-BE49-F238E27FC236}">
                <a16:creationId xmlns:a16="http://schemas.microsoft.com/office/drawing/2014/main" id="{C4AFDAAD-0D5A-49EA-84C0-B8BF72372D5E}"/>
              </a:ext>
            </a:extLst>
          </p:cNvPr>
          <p:cNvSpPr>
            <a:spLocks xmlns:a="http://schemas.openxmlformats.org/drawingml/2006/main" noGrp="1"/>
          </p:cNvSpPr>
          <p:nvPr/>
        </p:nvSpPr>
        <p:spPr>
          <a:xfrm xmlns:a="http://schemas.openxmlformats.org/drawingml/2006/main">
            <a:off x="566928" y="6053328"/>
            <a:ext cx="11055096" cy="566928"/>
          </a:xfrm>
          <a:prstGeom xmlns:a="http://schemas.openxmlformats.org/drawingml/2006/main" prst="rect">
            <a:avLst/>
          </a:prstGeom>
          <a:solidFill xmlns:a="http://schemas.openxmlformats.org/drawingml/2006/main">
            <a:srgbClr val="F4F7FA"/>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69" name="Google Shape;269;p16">
            <a:extLst xmlns:a="http://schemas.openxmlformats.org/drawingml/2006/main">
              <a:ext uri="{FF2B5EF4-FFF2-40B4-BE49-F238E27FC236}">
                <a16:creationId xmlns:a16="http://schemas.microsoft.com/office/drawing/2014/main" id="{2267281F-F8A6-4F11-AE5A-80D12CFB44D5}"/>
              </a:ext>
            </a:extLst>
          </p:cNvPr>
          <p:cNvSpPr>
            <a:spLocks xmlns:a="http://schemas.openxmlformats.org/drawingml/2006/main" noGrp="1"/>
          </p:cNvSpPr>
          <p:nvPr/>
        </p:nvSpPr>
        <p:spPr>
          <a:xfrm xmlns:a="http://schemas.openxmlformats.org/drawingml/2006/main">
            <a:off x="868680" y="6053328"/>
            <a:ext cx="10607040" cy="566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142875" rIns="0" bIns="0" anchor="ctr">
            <a:noAutofit/>
          </a:bodyPr>
          <a:lstStyle xmlns:a="http://schemas.openxmlformats.org/drawingml/2006/main">
            <a:defPPr>
              <a:defRPr sz="1448">
                <a:solidFill>
                  <a:srgbClr val="1D9E75"/>
                </a:solidFill>
                <a:latin typeface="Calibri"/>
                <a:ea typeface="Calibri"/>
                <a:cs typeface="Calibri"/>
              </a:defRPr>
            </a:defPPr>
            <a:lvl1pPr>
              <a:defRPr sz="1448">
                <a:solidFill>
                  <a:srgbClr val="1D9E75"/>
                </a:solidFill>
                <a:latin typeface="Calibri"/>
                <a:ea typeface="Calibri"/>
                <a:cs typeface="Calibri"/>
              </a:defRPr>
            </a:lvl1pPr>
            <a:lvl2pPr>
              <a:defRPr sz="1448">
                <a:solidFill>
                  <a:srgbClr val="1D9E75"/>
                </a:solidFill>
                <a:latin typeface="Calibri"/>
                <a:ea typeface="Calibri"/>
                <a:cs typeface="Calibri"/>
              </a:defRPr>
            </a:lvl2pPr>
            <a:lvl3pPr>
              <a:defRPr sz="1448">
                <a:solidFill>
                  <a:srgbClr val="1D9E75"/>
                </a:solidFill>
                <a:latin typeface="Calibri"/>
                <a:ea typeface="Calibri"/>
                <a:cs typeface="Calibri"/>
              </a:defRPr>
            </a:lvl3pPr>
            <a:lvl4pPr>
              <a:defRPr sz="1448">
                <a:solidFill>
                  <a:srgbClr val="1D9E75"/>
                </a:solidFill>
                <a:latin typeface="Calibri"/>
                <a:ea typeface="Calibri"/>
                <a:cs typeface="Calibri"/>
              </a:defRPr>
            </a:lvl4pPr>
            <a:lvl5pPr>
              <a:defRPr sz="1448">
                <a:solidFill>
                  <a:srgbClr val="1D9E75"/>
                </a:solidFill>
                <a:latin typeface="Calibri"/>
                <a:ea typeface="Calibri"/>
                <a:cs typeface="Calibri"/>
              </a:defRPr>
            </a:lvl5pPr>
            <a:lvl6pPr>
              <a:defRPr sz="1448">
                <a:solidFill>
                  <a:srgbClr val="1D9E75"/>
                </a:solidFill>
                <a:latin typeface="Calibri"/>
                <a:ea typeface="Calibri"/>
                <a:cs typeface="Calibri"/>
              </a:defRPr>
            </a:lvl6pPr>
            <a:lvl7pPr>
              <a:defRPr sz="1448">
                <a:solidFill>
                  <a:srgbClr val="1D9E75"/>
                </a:solidFill>
                <a:latin typeface="Calibri"/>
                <a:ea typeface="Calibri"/>
                <a:cs typeface="Calibri"/>
              </a:defRPr>
            </a:lvl7pPr>
            <a:lvl8pPr>
              <a:defRPr sz="1448">
                <a:solidFill>
                  <a:srgbClr val="1D9E75"/>
                </a:solidFill>
                <a:latin typeface="Calibri"/>
                <a:ea typeface="Calibri"/>
                <a:cs typeface="Calibri"/>
              </a:defRPr>
            </a:lvl8pPr>
            <a:lvl9pPr>
              <a:defRPr sz="1448">
                <a:solidFill>
                  <a:srgbClr val="1D9E75"/>
                </a:solidFill>
                <a:latin typeface="Calibri"/>
                <a:ea typeface="Calibri"/>
                <a:cs typeface="Calibri"/>
              </a:defRPr>
            </a:lvl9pPr>
          </a:lstStyle>
          <a:p xmlns:a="http://schemas.openxmlformats.org/drawingml/2006/main">
            <a:pPr marL="0" marR="0" lvl="0" indent="0" algn="l">
              <a:spcBef>
                <a:spcPts val="0"/>
              </a:spcBef>
              <a:spcAft>
                <a:spcPts val="0"/>
              </a:spcAft>
              <a:buClr>
                <a:srgbClr val="1D9E75"/>
              </a:buClr>
              <a:buSzPts val="1350"/>
              <a:buFont typeface="Calibri"/>
              <a:buNone/>
              <a:defRPr sz="1448">
                <a:solidFill>
                  <a:srgbClr val="1D9E75"/>
                </a:solidFill>
                <a:latin typeface="Calibri"/>
                <a:ea typeface="Calibri"/>
                <a:cs typeface="Calibri"/>
              </a:defRPr>
            </a:pPr>
            <a:r>
              <a:rPr sz="1448" b="1">
                <a:solidFill>
                  <a:srgbClr val="1D9E75"/>
                </a:solidFill>
                <a:latin typeface="Calibri"/>
                <a:ea typeface="Calibri"/>
                <a:cs typeface="Calibri"/>
              </a:rPr>
              <a:t>QEYD: Bu, tarixi testdir. Sonrakı tarixlər üçün təsdiqlənmiş gələcək proqnozu deyil.</a:t>
            </a:r>
            <a:endParaRPr sz="1350">
              <a:solidFill>
                <a:schemeClr val="dk1"/>
              </a:solidFill>
              <a:latin typeface="Calibri"/>
              <a:ea typeface="Calibri"/>
              <a:cs typeface="Calibri"/>
            </a:endParaRPr>
          </a:p>
        </p:txBody>
      </p:sp>
      <p:sp>
        <p:nvSpPr>
          <p:cNvPr id="270" name="Xronoloji bölgü yalnız “Normal” statuslu günlərə tətbiq">
            <a:extLst xmlns:a="http://schemas.openxmlformats.org/drawingml/2006/main">
              <a:ext uri="{FF2B5EF4-FFF2-40B4-BE49-F238E27FC236}">
                <a16:creationId xmlns:a16="http://schemas.microsoft.com/office/drawing/2014/main" id="{F8516161-709B-488A-AED8-21E65F0E9B30}"/>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Xronoloji bölgü yalnız “Normal” statuslu günlərə tətbiq olunur</a:t>
            </a:r>
          </a:p>
        </p:txBody>
      </p:sp>
      <p:sp>
        <p:nvSpPr>
          <p:cNvPr id="271" name="19 gün">
            <a:extLst xmlns:a="http://schemas.openxmlformats.org/drawingml/2006/main">
              <a:ext uri="{FF2B5EF4-FFF2-40B4-BE49-F238E27FC236}">
                <a16:creationId xmlns:a16="http://schemas.microsoft.com/office/drawing/2014/main" id="{DC317CE7-B4B9-4A5D-8AE4-1EF8E575D60C}"/>
              </a:ext>
            </a:extLst>
          </p:cNvPr>
          <p:cNvSpPr>
            <a:spLocks xmlns:a="http://schemas.openxmlformats.org/drawingml/2006/main" noGrp="1"/>
          </p:cNvSpPr>
          <p:nvPr/>
        </p:nvSpPr>
        <p:spPr>
          <a:xfrm xmlns:a="http://schemas.openxmlformats.org/drawingml/2006/main">
            <a:off x="619125" y="20383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85FA5"/>
                </a:solidFill>
                <a:latin typeface="Trebuchet MS"/>
                <a:ea typeface="Trebuchet MS"/>
                <a:cs typeface="Trebuchet MS"/>
              </a:defRPr>
            </a:defPPr>
            <a:lvl1pPr algn="l">
              <a:defRPr sz="3600" b="1">
                <a:solidFill>
                  <a:srgbClr val="185FA5"/>
                </a:solidFill>
                <a:latin typeface="Trebuchet MS"/>
                <a:ea typeface="Trebuchet MS"/>
                <a:cs typeface="Trebuchet MS"/>
              </a:defRPr>
            </a:lvl1pPr>
            <a:lvl2pPr algn="l">
              <a:defRPr sz="3600" b="1">
                <a:solidFill>
                  <a:srgbClr val="185FA5"/>
                </a:solidFill>
                <a:latin typeface="Trebuchet MS"/>
                <a:ea typeface="Trebuchet MS"/>
                <a:cs typeface="Trebuchet MS"/>
              </a:defRPr>
            </a:lvl2pPr>
            <a:lvl3pPr algn="l">
              <a:defRPr sz="3600" b="1">
                <a:solidFill>
                  <a:srgbClr val="185FA5"/>
                </a:solidFill>
                <a:latin typeface="Trebuchet MS"/>
                <a:ea typeface="Trebuchet MS"/>
                <a:cs typeface="Trebuchet MS"/>
              </a:defRPr>
            </a:lvl3pPr>
            <a:lvl4pPr algn="l">
              <a:defRPr sz="3600" b="1">
                <a:solidFill>
                  <a:srgbClr val="185FA5"/>
                </a:solidFill>
                <a:latin typeface="Trebuchet MS"/>
                <a:ea typeface="Trebuchet MS"/>
                <a:cs typeface="Trebuchet MS"/>
              </a:defRPr>
            </a:lvl4pPr>
            <a:lvl5pPr algn="l">
              <a:defRPr sz="3600" b="1">
                <a:solidFill>
                  <a:srgbClr val="185FA5"/>
                </a:solidFill>
                <a:latin typeface="Trebuchet MS"/>
                <a:ea typeface="Trebuchet MS"/>
                <a:cs typeface="Trebuchet MS"/>
              </a:defRPr>
            </a:lvl5pPr>
            <a:lvl6pPr algn="l">
              <a:defRPr sz="3600" b="1">
                <a:solidFill>
                  <a:srgbClr val="185FA5"/>
                </a:solidFill>
                <a:latin typeface="Trebuchet MS"/>
                <a:ea typeface="Trebuchet MS"/>
                <a:cs typeface="Trebuchet MS"/>
              </a:defRPr>
            </a:lvl6pPr>
            <a:lvl7pPr algn="l">
              <a:defRPr sz="3600" b="1">
                <a:solidFill>
                  <a:srgbClr val="185FA5"/>
                </a:solidFill>
                <a:latin typeface="Trebuchet MS"/>
                <a:ea typeface="Trebuchet MS"/>
                <a:cs typeface="Trebuchet MS"/>
              </a:defRPr>
            </a:lvl7pPr>
            <a:lvl8pPr algn="l">
              <a:defRPr sz="3600" b="1">
                <a:solidFill>
                  <a:srgbClr val="185FA5"/>
                </a:solidFill>
                <a:latin typeface="Trebuchet MS"/>
                <a:ea typeface="Trebuchet MS"/>
                <a:cs typeface="Trebuchet MS"/>
              </a:defRPr>
            </a:lvl8pPr>
            <a:lvl9pPr algn="l">
              <a:defRPr sz="3600" b="1">
                <a:solidFill>
                  <a:srgbClr val="185FA5"/>
                </a:solidFill>
                <a:latin typeface="Trebuchet MS"/>
                <a:ea typeface="Trebuchet MS"/>
                <a:cs typeface="Trebuchet MS"/>
              </a:defRPr>
            </a:lvl9pPr>
          </a:lstStyle>
          <a:p xmlns:a="http://schemas.openxmlformats.org/drawingml/2006/main">
            <a:pPr algn="l">
              <a:defRPr sz="3600" b="1">
                <a:solidFill>
                  <a:srgbClr val="185FA5"/>
                </a:solidFill>
                <a:latin typeface="Trebuchet MS"/>
                <a:ea typeface="Trebuchet MS"/>
                <a:cs typeface="Trebuchet MS"/>
              </a:defRPr>
            </a:pPr>
            <a:r>
              <a:rPr sz="3600" b="1">
                <a:solidFill>
                  <a:srgbClr val="185FA5"/>
                </a:solidFill>
                <a:latin typeface="Trebuchet MS"/>
                <a:ea typeface="Trebuchet MS"/>
                <a:cs typeface="Trebuchet MS"/>
              </a:rPr>
              <a:t>19 gün</a:t>
            </a:r>
          </a:p>
        </p:txBody>
      </p:sp>
      <p:sp>
        <p:nvSpPr>
          <p:cNvPr id="272" name="Təlim məlumatı&#10;20 aprel–19 may aralığındakı normal günl">
            <a:extLst xmlns:a="http://schemas.openxmlformats.org/drawingml/2006/main">
              <a:ext uri="{FF2B5EF4-FFF2-40B4-BE49-F238E27FC236}">
                <a16:creationId xmlns:a16="http://schemas.microsoft.com/office/drawing/2014/main" id="{01B6F871-C6FB-4621-9845-38D5E3A00381}"/>
              </a:ext>
            </a:extLst>
          </p:cNvPr>
          <p:cNvSpPr>
            <a:spLocks xmlns:a="http://schemas.openxmlformats.org/drawingml/2006/main" noGrp="1"/>
          </p:cNvSpPr>
          <p:nvPr/>
        </p:nvSpPr>
        <p:spPr>
          <a:xfrm xmlns:a="http://schemas.openxmlformats.org/drawingml/2006/main">
            <a:off x="619125" y="2762250"/>
            <a:ext cx="333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Təlim məlumatı</a:t>
            </a:r>
          </a:p>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20 aprel–19 may aralığındakı normal günlər</a:t>
            </a:r>
          </a:p>
        </p:txBody>
      </p:sp>
      <p:sp>
        <p:nvSpPr>
          <p:cNvPr id="273" name="5 gün">
            <a:extLst xmlns:a="http://schemas.openxmlformats.org/drawingml/2006/main">
              <a:ext uri="{FF2B5EF4-FFF2-40B4-BE49-F238E27FC236}">
                <a16:creationId xmlns:a16="http://schemas.microsoft.com/office/drawing/2014/main" id="{15A1D933-74A5-4C7C-AF8E-E054BD26D157}"/>
              </a:ext>
            </a:extLst>
          </p:cNvPr>
          <p:cNvSpPr>
            <a:spLocks xmlns:a="http://schemas.openxmlformats.org/drawingml/2006/main" noGrp="1"/>
          </p:cNvSpPr>
          <p:nvPr/>
        </p:nvSpPr>
        <p:spPr>
          <a:xfrm xmlns:a="http://schemas.openxmlformats.org/drawingml/2006/main">
            <a:off x="4476750" y="20383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D9E75"/>
                </a:solidFill>
                <a:latin typeface="Trebuchet MS"/>
                <a:ea typeface="Trebuchet MS"/>
                <a:cs typeface="Trebuchet MS"/>
              </a:defRPr>
            </a:defPPr>
            <a:lvl1pPr algn="l">
              <a:defRPr sz="3600" b="1">
                <a:solidFill>
                  <a:srgbClr val="1D9E75"/>
                </a:solidFill>
                <a:latin typeface="Trebuchet MS"/>
                <a:ea typeface="Trebuchet MS"/>
                <a:cs typeface="Trebuchet MS"/>
              </a:defRPr>
            </a:lvl1pPr>
            <a:lvl2pPr algn="l">
              <a:defRPr sz="3600" b="1">
                <a:solidFill>
                  <a:srgbClr val="1D9E75"/>
                </a:solidFill>
                <a:latin typeface="Trebuchet MS"/>
                <a:ea typeface="Trebuchet MS"/>
                <a:cs typeface="Trebuchet MS"/>
              </a:defRPr>
            </a:lvl2pPr>
            <a:lvl3pPr algn="l">
              <a:defRPr sz="3600" b="1">
                <a:solidFill>
                  <a:srgbClr val="1D9E75"/>
                </a:solidFill>
                <a:latin typeface="Trebuchet MS"/>
                <a:ea typeface="Trebuchet MS"/>
                <a:cs typeface="Trebuchet MS"/>
              </a:defRPr>
            </a:lvl3pPr>
            <a:lvl4pPr algn="l">
              <a:defRPr sz="3600" b="1">
                <a:solidFill>
                  <a:srgbClr val="1D9E75"/>
                </a:solidFill>
                <a:latin typeface="Trebuchet MS"/>
                <a:ea typeface="Trebuchet MS"/>
                <a:cs typeface="Trebuchet MS"/>
              </a:defRPr>
            </a:lvl4pPr>
            <a:lvl5pPr algn="l">
              <a:defRPr sz="3600" b="1">
                <a:solidFill>
                  <a:srgbClr val="1D9E75"/>
                </a:solidFill>
                <a:latin typeface="Trebuchet MS"/>
                <a:ea typeface="Trebuchet MS"/>
                <a:cs typeface="Trebuchet MS"/>
              </a:defRPr>
            </a:lvl5pPr>
            <a:lvl6pPr algn="l">
              <a:defRPr sz="3600" b="1">
                <a:solidFill>
                  <a:srgbClr val="1D9E75"/>
                </a:solidFill>
                <a:latin typeface="Trebuchet MS"/>
                <a:ea typeface="Trebuchet MS"/>
                <a:cs typeface="Trebuchet MS"/>
              </a:defRPr>
            </a:lvl6pPr>
            <a:lvl7pPr algn="l">
              <a:defRPr sz="3600" b="1">
                <a:solidFill>
                  <a:srgbClr val="1D9E75"/>
                </a:solidFill>
                <a:latin typeface="Trebuchet MS"/>
                <a:ea typeface="Trebuchet MS"/>
                <a:cs typeface="Trebuchet MS"/>
              </a:defRPr>
            </a:lvl7pPr>
            <a:lvl8pPr algn="l">
              <a:defRPr sz="3600" b="1">
                <a:solidFill>
                  <a:srgbClr val="1D9E75"/>
                </a:solidFill>
                <a:latin typeface="Trebuchet MS"/>
                <a:ea typeface="Trebuchet MS"/>
                <a:cs typeface="Trebuchet MS"/>
              </a:defRPr>
            </a:lvl8pPr>
            <a:lvl9pPr algn="l">
              <a:defRPr sz="3600" b="1">
                <a:solidFill>
                  <a:srgbClr val="1D9E75"/>
                </a:solidFill>
                <a:latin typeface="Trebuchet MS"/>
                <a:ea typeface="Trebuchet MS"/>
                <a:cs typeface="Trebuchet MS"/>
              </a:defRPr>
            </a:lvl9pPr>
          </a:lstStyle>
          <a:p xmlns:a="http://schemas.openxmlformats.org/drawingml/2006/main">
            <a:pPr algn="l">
              <a:defRPr sz="3600" b="1">
                <a:solidFill>
                  <a:srgbClr val="1D9E75"/>
                </a:solidFill>
                <a:latin typeface="Trebuchet MS"/>
                <a:ea typeface="Trebuchet MS"/>
                <a:cs typeface="Trebuchet MS"/>
              </a:defRPr>
            </a:pPr>
            <a:r>
              <a:rPr sz="3600" b="1">
                <a:solidFill>
                  <a:srgbClr val="1D9E75"/>
                </a:solidFill>
                <a:latin typeface="Trebuchet MS"/>
                <a:ea typeface="Trebuchet MS"/>
                <a:cs typeface="Trebuchet MS"/>
              </a:rPr>
              <a:t>5 gün</a:t>
            </a:r>
          </a:p>
        </p:txBody>
      </p:sp>
      <p:sp>
        <p:nvSpPr>
          <p:cNvPr id="274" name="Test məlumatı&#10;20–24 may 2024">
            <a:extLst xmlns:a="http://schemas.openxmlformats.org/drawingml/2006/main">
              <a:ext uri="{FF2B5EF4-FFF2-40B4-BE49-F238E27FC236}">
                <a16:creationId xmlns:a16="http://schemas.microsoft.com/office/drawing/2014/main" id="{6D14A6EB-3927-426B-BE27-DC399D43F405}"/>
              </a:ext>
            </a:extLst>
          </p:cNvPr>
          <p:cNvSpPr>
            <a:spLocks xmlns:a="http://schemas.openxmlformats.org/drawingml/2006/main" noGrp="1"/>
          </p:cNvSpPr>
          <p:nvPr/>
        </p:nvSpPr>
        <p:spPr>
          <a:xfrm xmlns:a="http://schemas.openxmlformats.org/drawingml/2006/main">
            <a:off x="4476750" y="2762250"/>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Test məlumatı</a:t>
            </a:r>
          </a:p>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20–24 may 2024</a:t>
            </a:r>
          </a:p>
        </p:txBody>
      </p:sp>
      <p:sp>
        <p:nvSpPr>
          <p:cNvPr id="275" name="2 model">
            <a:extLst xmlns:a="http://schemas.openxmlformats.org/drawingml/2006/main">
              <a:ext uri="{FF2B5EF4-FFF2-40B4-BE49-F238E27FC236}">
                <a16:creationId xmlns:a16="http://schemas.microsoft.com/office/drawing/2014/main" id="{8EB0D7D5-1D49-4DF0-A1A6-625CC36963FD}"/>
              </a:ext>
            </a:extLst>
          </p:cNvPr>
          <p:cNvSpPr>
            <a:spLocks xmlns:a="http://schemas.openxmlformats.org/drawingml/2006/main" noGrp="1"/>
          </p:cNvSpPr>
          <p:nvPr/>
        </p:nvSpPr>
        <p:spPr>
          <a:xfrm xmlns:a="http://schemas.openxmlformats.org/drawingml/2006/main">
            <a:off x="8334375" y="2038350"/>
            <a:ext cx="319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D4537E"/>
                </a:solidFill>
                <a:latin typeface="Trebuchet MS"/>
                <a:ea typeface="Trebuchet MS"/>
                <a:cs typeface="Trebuchet MS"/>
              </a:defRPr>
            </a:defPPr>
            <a:lvl1pPr algn="l">
              <a:defRPr sz="3600" b="1">
                <a:solidFill>
                  <a:srgbClr val="D4537E"/>
                </a:solidFill>
                <a:latin typeface="Trebuchet MS"/>
                <a:ea typeface="Trebuchet MS"/>
                <a:cs typeface="Trebuchet MS"/>
              </a:defRPr>
            </a:lvl1pPr>
            <a:lvl2pPr algn="l">
              <a:defRPr sz="3600" b="1">
                <a:solidFill>
                  <a:srgbClr val="D4537E"/>
                </a:solidFill>
                <a:latin typeface="Trebuchet MS"/>
                <a:ea typeface="Trebuchet MS"/>
                <a:cs typeface="Trebuchet MS"/>
              </a:defRPr>
            </a:lvl2pPr>
            <a:lvl3pPr algn="l">
              <a:defRPr sz="3600" b="1">
                <a:solidFill>
                  <a:srgbClr val="D4537E"/>
                </a:solidFill>
                <a:latin typeface="Trebuchet MS"/>
                <a:ea typeface="Trebuchet MS"/>
                <a:cs typeface="Trebuchet MS"/>
              </a:defRPr>
            </a:lvl3pPr>
            <a:lvl4pPr algn="l">
              <a:defRPr sz="3600" b="1">
                <a:solidFill>
                  <a:srgbClr val="D4537E"/>
                </a:solidFill>
                <a:latin typeface="Trebuchet MS"/>
                <a:ea typeface="Trebuchet MS"/>
                <a:cs typeface="Trebuchet MS"/>
              </a:defRPr>
            </a:lvl4pPr>
            <a:lvl5pPr algn="l">
              <a:defRPr sz="3600" b="1">
                <a:solidFill>
                  <a:srgbClr val="D4537E"/>
                </a:solidFill>
                <a:latin typeface="Trebuchet MS"/>
                <a:ea typeface="Trebuchet MS"/>
                <a:cs typeface="Trebuchet MS"/>
              </a:defRPr>
            </a:lvl5pPr>
            <a:lvl6pPr algn="l">
              <a:defRPr sz="3600" b="1">
                <a:solidFill>
                  <a:srgbClr val="D4537E"/>
                </a:solidFill>
                <a:latin typeface="Trebuchet MS"/>
                <a:ea typeface="Trebuchet MS"/>
                <a:cs typeface="Trebuchet MS"/>
              </a:defRPr>
            </a:lvl6pPr>
            <a:lvl7pPr algn="l">
              <a:defRPr sz="3600" b="1">
                <a:solidFill>
                  <a:srgbClr val="D4537E"/>
                </a:solidFill>
                <a:latin typeface="Trebuchet MS"/>
                <a:ea typeface="Trebuchet MS"/>
                <a:cs typeface="Trebuchet MS"/>
              </a:defRPr>
            </a:lvl7pPr>
            <a:lvl8pPr algn="l">
              <a:defRPr sz="3600" b="1">
                <a:solidFill>
                  <a:srgbClr val="D4537E"/>
                </a:solidFill>
                <a:latin typeface="Trebuchet MS"/>
                <a:ea typeface="Trebuchet MS"/>
                <a:cs typeface="Trebuchet MS"/>
              </a:defRPr>
            </a:lvl8pPr>
            <a:lvl9pPr algn="l">
              <a:defRPr sz="3600" b="1">
                <a:solidFill>
                  <a:srgbClr val="D4537E"/>
                </a:solidFill>
                <a:latin typeface="Trebuchet MS"/>
                <a:ea typeface="Trebuchet MS"/>
                <a:cs typeface="Trebuchet MS"/>
              </a:defRPr>
            </a:lvl9pPr>
          </a:lstStyle>
          <a:p xmlns:a="http://schemas.openxmlformats.org/drawingml/2006/main">
            <a:pPr algn="l">
              <a:defRPr sz="3600" b="1">
                <a:solidFill>
                  <a:srgbClr val="D4537E"/>
                </a:solidFill>
                <a:latin typeface="Trebuchet MS"/>
                <a:ea typeface="Trebuchet MS"/>
                <a:cs typeface="Trebuchet MS"/>
              </a:defRPr>
            </a:pPr>
            <a:r>
              <a:rPr sz="3600" b="1">
                <a:solidFill>
                  <a:srgbClr val="D4537E"/>
                </a:solidFill>
                <a:latin typeface="Trebuchet MS"/>
                <a:ea typeface="Trebuchet MS"/>
                <a:cs typeface="Trebuchet MS"/>
              </a:rPr>
              <a:t>2 model</a:t>
            </a:r>
          </a:p>
        </p:txBody>
      </p:sp>
      <p:sp>
        <p:nvSpPr>
          <p:cNvPr id="276" name="Reqressiya&#10;Təlim dövrünün sabit ortası">
            <a:extLst xmlns:a="http://schemas.openxmlformats.org/drawingml/2006/main">
              <a:ext uri="{FF2B5EF4-FFF2-40B4-BE49-F238E27FC236}">
                <a16:creationId xmlns:a16="http://schemas.microsoft.com/office/drawing/2014/main" id="{423A4193-B958-4344-A57E-68DF580335EA}"/>
              </a:ext>
            </a:extLst>
          </p:cNvPr>
          <p:cNvSpPr>
            <a:spLocks xmlns:a="http://schemas.openxmlformats.org/drawingml/2006/main" noGrp="1"/>
          </p:cNvSpPr>
          <p:nvPr/>
        </p:nvSpPr>
        <p:spPr>
          <a:xfrm xmlns:a="http://schemas.openxmlformats.org/drawingml/2006/main">
            <a:off x="8334375" y="2762250"/>
            <a:ext cx="3190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Reqressiya</a:t>
            </a:r>
          </a:p>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Təlim dövrünün sabit ortası</a:t>
            </a:r>
          </a:p>
        </p:txBody>
      </p:sp>
      <p:sp>
        <p:nvSpPr>
          <p:cNvPr id="277" name="Reqressiya: günlük gəlir = sabit + gün tipi + zaman tre">
            <a:extLst xmlns:a="http://schemas.openxmlformats.org/drawingml/2006/main">
              <a:ext uri="{FF2B5EF4-FFF2-40B4-BE49-F238E27FC236}">
                <a16:creationId xmlns:a16="http://schemas.microsoft.com/office/drawing/2014/main" id="{210D0C54-D40D-4EEC-810F-7224F41FB21D}"/>
              </a:ext>
            </a:extLst>
          </p:cNvPr>
          <p:cNvSpPr>
            <a:spLocks xmlns:a="http://schemas.openxmlformats.org/drawingml/2006/main" noGrp="1"/>
          </p:cNvSpPr>
          <p:nvPr/>
        </p:nvSpPr>
        <p:spPr>
          <a:xfrm xmlns:a="http://schemas.openxmlformats.org/drawingml/2006/main">
            <a:off x="619125" y="41433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E293B"/>
                </a:solidFill>
                <a:latin typeface="Trebuchet MS"/>
                <a:ea typeface="Trebuchet MS"/>
                <a:cs typeface="Trebuchet MS"/>
              </a:defRPr>
            </a:defPPr>
            <a:lvl1pPr algn="l">
              <a:defRPr sz="2100" b="1">
                <a:solidFill>
                  <a:srgbClr val="1E293B"/>
                </a:solidFill>
                <a:latin typeface="Trebuchet MS"/>
                <a:ea typeface="Trebuchet MS"/>
                <a:cs typeface="Trebuchet MS"/>
              </a:defRPr>
            </a:lvl1pPr>
            <a:lvl2pPr algn="l">
              <a:defRPr sz="2100" b="1">
                <a:solidFill>
                  <a:srgbClr val="1E293B"/>
                </a:solidFill>
                <a:latin typeface="Trebuchet MS"/>
                <a:ea typeface="Trebuchet MS"/>
                <a:cs typeface="Trebuchet MS"/>
              </a:defRPr>
            </a:lvl2pPr>
            <a:lvl3pPr algn="l">
              <a:defRPr sz="2100" b="1">
                <a:solidFill>
                  <a:srgbClr val="1E293B"/>
                </a:solidFill>
                <a:latin typeface="Trebuchet MS"/>
                <a:ea typeface="Trebuchet MS"/>
                <a:cs typeface="Trebuchet MS"/>
              </a:defRPr>
            </a:lvl3pPr>
            <a:lvl4pPr algn="l">
              <a:defRPr sz="2100" b="1">
                <a:solidFill>
                  <a:srgbClr val="1E293B"/>
                </a:solidFill>
                <a:latin typeface="Trebuchet MS"/>
                <a:ea typeface="Trebuchet MS"/>
                <a:cs typeface="Trebuchet MS"/>
              </a:defRPr>
            </a:lvl4pPr>
            <a:lvl5pPr algn="l">
              <a:defRPr sz="2100" b="1">
                <a:solidFill>
                  <a:srgbClr val="1E293B"/>
                </a:solidFill>
                <a:latin typeface="Trebuchet MS"/>
                <a:ea typeface="Trebuchet MS"/>
                <a:cs typeface="Trebuchet MS"/>
              </a:defRPr>
            </a:lvl5pPr>
            <a:lvl6pPr algn="l">
              <a:defRPr sz="2100" b="1">
                <a:solidFill>
                  <a:srgbClr val="1E293B"/>
                </a:solidFill>
                <a:latin typeface="Trebuchet MS"/>
                <a:ea typeface="Trebuchet MS"/>
                <a:cs typeface="Trebuchet MS"/>
              </a:defRPr>
            </a:lvl6pPr>
            <a:lvl7pPr algn="l">
              <a:defRPr sz="2100" b="1">
                <a:solidFill>
                  <a:srgbClr val="1E293B"/>
                </a:solidFill>
                <a:latin typeface="Trebuchet MS"/>
                <a:ea typeface="Trebuchet MS"/>
                <a:cs typeface="Trebuchet MS"/>
              </a:defRPr>
            </a:lvl7pPr>
            <a:lvl8pPr algn="l">
              <a:defRPr sz="2100" b="1">
                <a:solidFill>
                  <a:srgbClr val="1E293B"/>
                </a:solidFill>
                <a:latin typeface="Trebuchet MS"/>
                <a:ea typeface="Trebuchet MS"/>
                <a:cs typeface="Trebuchet MS"/>
              </a:defRPr>
            </a:lvl8pPr>
            <a:lvl9pPr algn="l">
              <a:defRPr sz="2100" b="1">
                <a:solidFill>
                  <a:srgbClr val="1E293B"/>
                </a:solidFill>
                <a:latin typeface="Trebuchet MS"/>
                <a:ea typeface="Trebuchet MS"/>
                <a:cs typeface="Trebuchet MS"/>
              </a:defRPr>
            </a:lvl9pPr>
          </a:lstStyle>
          <a:p xmlns:a="http://schemas.openxmlformats.org/drawingml/2006/main">
            <a:pPr algn="l">
              <a:defRPr sz="2100" b="1">
                <a:solidFill>
                  <a:srgbClr val="1E293B"/>
                </a:solidFill>
                <a:latin typeface="Trebuchet MS"/>
                <a:ea typeface="Trebuchet MS"/>
                <a:cs typeface="Trebuchet MS"/>
              </a:defRPr>
            </a:pPr>
            <a:r>
              <a:rPr sz="2100" b="1">
                <a:solidFill>
                  <a:srgbClr val="1E293B"/>
                </a:solidFill>
                <a:latin typeface="Trebuchet MS"/>
                <a:ea typeface="Trebuchet MS"/>
                <a:cs typeface="Trebuchet MS"/>
              </a:rPr>
              <a:t>Reqressiya: günlük gəlir = sabit + gün tipi + zaman trendi</a:t>
            </a:r>
          </a:p>
        </p:txBody>
      </p:sp>
      <p:sp>
        <p:nvSpPr>
          <p:cNvPr id="278" name="Sadə baza proqnozu: hər test günü üçün 1,633 mln AZN">
            <a:extLst xmlns:a="http://schemas.openxmlformats.org/drawingml/2006/main">
              <a:ext uri="{FF2B5EF4-FFF2-40B4-BE49-F238E27FC236}">
                <a16:creationId xmlns:a16="http://schemas.microsoft.com/office/drawing/2014/main" id="{6EF5B8B7-3986-4322-B9E6-034741015823}"/>
              </a:ext>
            </a:extLst>
          </p:cNvPr>
          <p:cNvSpPr>
            <a:spLocks xmlns:a="http://schemas.openxmlformats.org/drawingml/2006/main" noGrp="1"/>
          </p:cNvSpPr>
          <p:nvPr/>
        </p:nvSpPr>
        <p:spPr>
          <a:xfrm xmlns:a="http://schemas.openxmlformats.org/drawingml/2006/main">
            <a:off x="619125" y="481012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4748B"/>
                </a:solidFill>
                <a:latin typeface="Calibri"/>
                <a:ea typeface="Calibri"/>
                <a:cs typeface="Calibri"/>
              </a:defRPr>
            </a:defPPr>
            <a:lvl1pPr algn="l">
              <a:defRPr sz="1950" b="0">
                <a:solidFill>
                  <a:srgbClr val="64748B"/>
                </a:solidFill>
                <a:latin typeface="Calibri"/>
                <a:ea typeface="Calibri"/>
                <a:cs typeface="Calibri"/>
              </a:defRPr>
            </a:lvl1pPr>
            <a:lvl2pPr algn="l">
              <a:defRPr sz="1950" b="0">
                <a:solidFill>
                  <a:srgbClr val="64748B"/>
                </a:solidFill>
                <a:latin typeface="Calibri"/>
                <a:ea typeface="Calibri"/>
                <a:cs typeface="Calibri"/>
              </a:defRPr>
            </a:lvl2pPr>
            <a:lvl3pPr algn="l">
              <a:defRPr sz="1950" b="0">
                <a:solidFill>
                  <a:srgbClr val="64748B"/>
                </a:solidFill>
                <a:latin typeface="Calibri"/>
                <a:ea typeface="Calibri"/>
                <a:cs typeface="Calibri"/>
              </a:defRPr>
            </a:lvl3pPr>
            <a:lvl4pPr algn="l">
              <a:defRPr sz="1950" b="0">
                <a:solidFill>
                  <a:srgbClr val="64748B"/>
                </a:solidFill>
                <a:latin typeface="Calibri"/>
                <a:ea typeface="Calibri"/>
                <a:cs typeface="Calibri"/>
              </a:defRPr>
            </a:lvl4pPr>
            <a:lvl5pPr algn="l">
              <a:defRPr sz="1950" b="0">
                <a:solidFill>
                  <a:srgbClr val="64748B"/>
                </a:solidFill>
                <a:latin typeface="Calibri"/>
                <a:ea typeface="Calibri"/>
                <a:cs typeface="Calibri"/>
              </a:defRPr>
            </a:lvl5pPr>
            <a:lvl6pPr algn="l">
              <a:defRPr sz="1950" b="0">
                <a:solidFill>
                  <a:srgbClr val="64748B"/>
                </a:solidFill>
                <a:latin typeface="Calibri"/>
                <a:ea typeface="Calibri"/>
                <a:cs typeface="Calibri"/>
              </a:defRPr>
            </a:lvl6pPr>
            <a:lvl7pPr algn="l">
              <a:defRPr sz="1950" b="0">
                <a:solidFill>
                  <a:srgbClr val="64748B"/>
                </a:solidFill>
                <a:latin typeface="Calibri"/>
                <a:ea typeface="Calibri"/>
                <a:cs typeface="Calibri"/>
              </a:defRPr>
            </a:lvl7pPr>
            <a:lvl8pPr algn="l">
              <a:defRPr sz="1950" b="0">
                <a:solidFill>
                  <a:srgbClr val="64748B"/>
                </a:solidFill>
                <a:latin typeface="Calibri"/>
                <a:ea typeface="Calibri"/>
                <a:cs typeface="Calibri"/>
              </a:defRPr>
            </a:lvl8pPr>
            <a:lvl9pPr algn="l">
              <a:defRPr sz="1950" b="0">
                <a:solidFill>
                  <a:srgbClr val="64748B"/>
                </a:solidFill>
                <a:latin typeface="Calibri"/>
                <a:ea typeface="Calibri"/>
                <a:cs typeface="Calibri"/>
              </a:defRPr>
            </a:lvl9pPr>
          </a:lstStyle>
          <a:p xmlns:a="http://schemas.openxmlformats.org/drawingml/2006/main">
            <a:pPr algn="l">
              <a:defRPr sz="1950" b="0">
                <a:solidFill>
                  <a:srgbClr val="64748B"/>
                </a:solidFill>
                <a:latin typeface="Calibri"/>
                <a:ea typeface="Calibri"/>
                <a:cs typeface="Calibri"/>
              </a:defRPr>
            </a:pPr>
            <a:r>
              <a:rPr sz="1950" b="0">
                <a:solidFill>
                  <a:srgbClr val="64748B"/>
                </a:solidFill>
                <a:latin typeface="Calibri"/>
                <a:ea typeface="Calibri"/>
                <a:cs typeface="Calibri"/>
              </a:rPr>
              <a:t>Sadə baza proqnozu: hər test günü üçün 1,633 mln AZN</a:t>
            </a:r>
          </a:p>
        </p:txBody>
      </p:sp>
      <p:sp>
        <p:nvSpPr>
          <p:cNvPr id="279" name="Test günlərinin hamısı iş günüdür. Həftə sonu proqnozun">
            <a:extLst xmlns:a="http://schemas.openxmlformats.org/drawingml/2006/main">
              <a:ext uri="{FF2B5EF4-FFF2-40B4-BE49-F238E27FC236}">
                <a16:creationId xmlns:a16="http://schemas.microsoft.com/office/drawing/2014/main" id="{AFD262BB-DCDC-443C-A738-459F7F1C276B}"/>
              </a:ext>
            </a:extLst>
          </p:cNvPr>
          <p:cNvSpPr>
            <a:spLocks xmlns:a="http://schemas.openxmlformats.org/drawingml/2006/main" noGrp="1"/>
          </p:cNvSpPr>
          <p:nvPr/>
        </p:nvSpPr>
        <p:spPr>
          <a:xfrm xmlns:a="http://schemas.openxmlformats.org/drawingml/2006/main">
            <a:off x="619125" y="53911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48B"/>
                </a:solidFill>
                <a:latin typeface="Calibri"/>
                <a:ea typeface="Calibri"/>
                <a:cs typeface="Calibri"/>
              </a:defRPr>
            </a:defPPr>
            <a:lvl1pPr algn="l">
              <a:defRPr sz="1650" b="0">
                <a:solidFill>
                  <a:srgbClr val="64748B"/>
                </a:solidFill>
                <a:latin typeface="Calibri"/>
                <a:ea typeface="Calibri"/>
                <a:cs typeface="Calibri"/>
              </a:defRPr>
            </a:lvl1pPr>
            <a:lvl2pPr algn="l">
              <a:defRPr sz="1650" b="0">
                <a:solidFill>
                  <a:srgbClr val="64748B"/>
                </a:solidFill>
                <a:latin typeface="Calibri"/>
                <a:ea typeface="Calibri"/>
                <a:cs typeface="Calibri"/>
              </a:defRPr>
            </a:lvl2pPr>
            <a:lvl3pPr algn="l">
              <a:defRPr sz="1650" b="0">
                <a:solidFill>
                  <a:srgbClr val="64748B"/>
                </a:solidFill>
                <a:latin typeface="Calibri"/>
                <a:ea typeface="Calibri"/>
                <a:cs typeface="Calibri"/>
              </a:defRPr>
            </a:lvl3pPr>
            <a:lvl4pPr algn="l">
              <a:defRPr sz="1650" b="0">
                <a:solidFill>
                  <a:srgbClr val="64748B"/>
                </a:solidFill>
                <a:latin typeface="Calibri"/>
                <a:ea typeface="Calibri"/>
                <a:cs typeface="Calibri"/>
              </a:defRPr>
            </a:lvl4pPr>
            <a:lvl5pPr algn="l">
              <a:defRPr sz="1650" b="0">
                <a:solidFill>
                  <a:srgbClr val="64748B"/>
                </a:solidFill>
                <a:latin typeface="Calibri"/>
                <a:ea typeface="Calibri"/>
                <a:cs typeface="Calibri"/>
              </a:defRPr>
            </a:lvl5pPr>
            <a:lvl6pPr algn="l">
              <a:defRPr sz="1650" b="0">
                <a:solidFill>
                  <a:srgbClr val="64748B"/>
                </a:solidFill>
                <a:latin typeface="Calibri"/>
                <a:ea typeface="Calibri"/>
                <a:cs typeface="Calibri"/>
              </a:defRPr>
            </a:lvl6pPr>
            <a:lvl7pPr algn="l">
              <a:defRPr sz="1650" b="0">
                <a:solidFill>
                  <a:srgbClr val="64748B"/>
                </a:solidFill>
                <a:latin typeface="Calibri"/>
                <a:ea typeface="Calibri"/>
                <a:cs typeface="Calibri"/>
              </a:defRPr>
            </a:lvl7pPr>
            <a:lvl8pPr algn="l">
              <a:defRPr sz="1650" b="0">
                <a:solidFill>
                  <a:srgbClr val="64748B"/>
                </a:solidFill>
                <a:latin typeface="Calibri"/>
                <a:ea typeface="Calibri"/>
                <a:cs typeface="Calibri"/>
              </a:defRPr>
            </a:lvl8pPr>
            <a:lvl9pPr algn="l">
              <a:defRPr sz="1650" b="0">
                <a:solidFill>
                  <a:srgbClr val="64748B"/>
                </a:solidFill>
                <a:latin typeface="Calibri"/>
                <a:ea typeface="Calibri"/>
                <a:cs typeface="Calibri"/>
              </a:defRPr>
            </a:lvl9pPr>
          </a:lstStyle>
          <a:p xmlns:a="http://schemas.openxmlformats.org/drawingml/2006/main">
            <a:pPr algn="l">
              <a:defRPr sz="1650" b="0">
                <a:solidFill>
                  <a:srgbClr val="64748B"/>
                </a:solidFill>
                <a:latin typeface="Calibri"/>
                <a:ea typeface="Calibri"/>
                <a:cs typeface="Calibri"/>
              </a:defRPr>
            </a:pPr>
            <a:r>
              <a:rPr sz="1650" b="0">
                <a:solidFill>
                  <a:srgbClr val="64748B"/>
                </a:solidFill>
                <a:latin typeface="Calibri"/>
                <a:ea typeface="Calibri"/>
                <a:cs typeface="Calibri"/>
              </a:rPr>
              <a:t>Test günlərinin hamısı iş günüdür. Həftə sonu proqnozunun keyfiyyəti ayrıca yoxlanmır.</a:t>
            </a:r>
          </a:p>
        </p:txBody>
      </p:sp>
    </p:spTree>
    <p:extLst>
      <p:ext uri="{BB962C8B-B14F-4D97-AF65-F5344CB8AC3E}">
        <p14:creationId xmlns:p14="http://schemas.microsoft.com/office/powerpoint/2010/main" val="9622055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5" name="Google Shape;275;p17">
            <a:extLst xmlns:a="http://schemas.openxmlformats.org/drawingml/2006/main">
              <a:ext uri="{FF2B5EF4-FFF2-40B4-BE49-F238E27FC236}">
                <a16:creationId xmlns:a16="http://schemas.microsoft.com/office/drawing/2014/main" id="{2E0CF8CE-2AA6-40E2-B1A7-434C4FC58E19}"/>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D9E75"/>
                </a:solidFill>
                <a:latin typeface="Trebuchet MS"/>
                <a:ea typeface="Trebuchet MS"/>
                <a:cs typeface="Trebuchet MS"/>
              </a:defRPr>
            </a:defPPr>
            <a:lvl1pPr>
              <a:defRPr sz="1250" b="1">
                <a:solidFill>
                  <a:srgbClr val="1D9E75"/>
                </a:solidFill>
                <a:latin typeface="Trebuchet MS"/>
                <a:ea typeface="Trebuchet MS"/>
                <a:cs typeface="Trebuchet MS"/>
              </a:defRPr>
            </a:lvl1pPr>
            <a:lvl2pPr>
              <a:defRPr sz="1250" b="1">
                <a:solidFill>
                  <a:srgbClr val="1D9E75"/>
                </a:solidFill>
                <a:latin typeface="Trebuchet MS"/>
                <a:ea typeface="Trebuchet MS"/>
                <a:cs typeface="Trebuchet MS"/>
              </a:defRPr>
            </a:lvl2pPr>
            <a:lvl3pPr>
              <a:defRPr sz="1250" b="1">
                <a:solidFill>
                  <a:srgbClr val="1D9E75"/>
                </a:solidFill>
                <a:latin typeface="Trebuchet MS"/>
                <a:ea typeface="Trebuchet MS"/>
                <a:cs typeface="Trebuchet MS"/>
              </a:defRPr>
            </a:lvl3pPr>
            <a:lvl4pPr>
              <a:defRPr sz="1250" b="1">
                <a:solidFill>
                  <a:srgbClr val="1D9E75"/>
                </a:solidFill>
                <a:latin typeface="Trebuchet MS"/>
                <a:ea typeface="Trebuchet MS"/>
                <a:cs typeface="Trebuchet MS"/>
              </a:defRPr>
            </a:lvl4pPr>
            <a:lvl5pPr>
              <a:defRPr sz="1250" b="1">
                <a:solidFill>
                  <a:srgbClr val="1D9E75"/>
                </a:solidFill>
                <a:latin typeface="Trebuchet MS"/>
                <a:ea typeface="Trebuchet MS"/>
                <a:cs typeface="Trebuchet MS"/>
              </a:defRPr>
            </a:lvl5pPr>
            <a:lvl6pPr>
              <a:defRPr sz="1250" b="1">
                <a:solidFill>
                  <a:srgbClr val="1D9E75"/>
                </a:solidFill>
                <a:latin typeface="Trebuchet MS"/>
                <a:ea typeface="Trebuchet MS"/>
                <a:cs typeface="Trebuchet MS"/>
              </a:defRPr>
            </a:lvl6pPr>
            <a:lvl7pPr>
              <a:defRPr sz="1250" b="1">
                <a:solidFill>
                  <a:srgbClr val="1D9E75"/>
                </a:solidFill>
                <a:latin typeface="Trebuchet MS"/>
                <a:ea typeface="Trebuchet MS"/>
                <a:cs typeface="Trebuchet MS"/>
              </a:defRPr>
            </a:lvl7pPr>
            <a:lvl8pPr>
              <a:defRPr sz="1250" b="1">
                <a:solidFill>
                  <a:srgbClr val="1D9E75"/>
                </a:solidFill>
                <a:latin typeface="Trebuchet MS"/>
                <a:ea typeface="Trebuchet MS"/>
                <a:cs typeface="Trebuchet MS"/>
              </a:defRPr>
            </a:lvl8pPr>
            <a:lvl9pPr>
              <a:defRPr sz="1250" b="1">
                <a:solidFill>
                  <a:srgbClr val="1D9E7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D9E75"/>
              </a:buClr>
              <a:buSzPts val="1250"/>
              <a:buFont typeface="Trebuchet MS"/>
              <a:buNone/>
              <a:defRPr sz="1250" b="1">
                <a:solidFill>
                  <a:srgbClr val="1D9E75"/>
                </a:solidFill>
                <a:latin typeface="Trebuchet MS"/>
                <a:ea typeface="Trebuchet MS"/>
                <a:cs typeface="Trebuchet MS"/>
              </a:defRPr>
            </a:pPr>
            <a:r>
              <a:rPr sz="1250" b="1">
                <a:solidFill>
                  <a:srgbClr val="1D9E75"/>
                </a:solidFill>
                <a:latin typeface="Trebuchet MS"/>
                <a:ea typeface="Trebuchet MS"/>
                <a:cs typeface="Trebuchet MS"/>
              </a:rPr>
              <a:t>3  PROQNOZ VƏ FƏRZİYYƏLƏR</a:t>
            </a:r>
            <a:endParaRPr sz="1250">
              <a:solidFill>
                <a:schemeClr val="dk1"/>
              </a:solidFill>
              <a:latin typeface="Calibri"/>
              <a:ea typeface="Calibri"/>
              <a:cs typeface="Calibri"/>
            </a:endParaRPr>
          </a:p>
        </p:txBody>
      </p:sp>
      <p:sp>
        <p:nvSpPr>
          <p:cNvPr id="276" name="Google Shape;276;p17">
            <a:extLst xmlns:a="http://schemas.openxmlformats.org/drawingml/2006/main">
              <a:ext uri="{FF2B5EF4-FFF2-40B4-BE49-F238E27FC236}">
                <a16:creationId xmlns:a16="http://schemas.microsoft.com/office/drawing/2014/main" id="{4D7E258F-A420-4C41-86FD-EE3ACFC2B7EE}"/>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Model 20 mayın aşağı gəlirini tuta bilmir</a:t>
            </a:r>
            <a:endParaRPr sz="2900">
              <a:solidFill>
                <a:schemeClr val="dk1"/>
              </a:solidFill>
              <a:latin typeface="Calibri"/>
              <a:ea typeface="Calibri"/>
              <a:cs typeface="Calibri"/>
            </a:endParaRPr>
          </a:p>
        </p:txBody>
      </p:sp>
      <p:sp>
        <p:nvSpPr>
          <p:cNvPr id="277" name="Test günlərində faktiki və proqnoz gəlir, mln AZN">
            <a:extLst xmlns:a="http://schemas.openxmlformats.org/drawingml/2006/main">
              <a:ext uri="{FF2B5EF4-FFF2-40B4-BE49-F238E27FC236}">
                <a16:creationId xmlns:a16="http://schemas.microsoft.com/office/drawing/2014/main" id="{D3240722-DA40-4B3B-96B8-4D1608BFD8DA}"/>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Test günlərində faktiki və proqnoz gəlir, mln AZN</a:t>
            </a:r>
          </a:p>
        </p:txBody>
      </p:sp>
      <p:graphicFrame>
        <p:nvGraphicFramePr>
          <p:cNvPr id="278" name="Chart">
            <a:extLst xmlns:a="http://schemas.openxmlformats.org/drawingml/2006/main">
              <a:ext uri="{FF2B5EF4-FFF2-40B4-BE49-F238E27FC236}">
                <a16:creationId xmlns:a16="http://schemas.microsoft.com/office/drawing/2014/main" id="{F20564FE-17ED-4C4E-A311-2E0AC191D717}"/>
              </a:ext>
            </a:extLst>
          </p:cNvPr>
          <p:cNvGraphicFramePr/>
          <p:nvPr/>
        </p:nvGraphicFramePr>
        <p:xfrm>
          <a:off xmlns:a="http://schemas.openxmlformats.org/drawingml/2006/main" x="571500" y="2009775"/>
          <a:ext xmlns:a="http://schemas.openxmlformats.org/drawingml/2006/main" cx="7381875" cy="3886200"/>
        </p:xfrm>
        <a:graphic xmlns:a="http://schemas.openxmlformats.org/drawingml/2006/main">
          <a:graphicData uri="http://schemas.openxmlformats.org/drawingml/2006/chart">
            <c:chart xmlns:r="http://schemas.openxmlformats.org/officeDocument/2006/relationships" xmlns:c="http://schemas.openxmlformats.org/drawingml/2006/chart" r:id="Rbd95eae2551f40bc"/>
          </a:graphicData>
        </a:graphic>
      </p:graphicFrame>
      <p:sp>
        <p:nvSpPr>
          <p:cNvPr id="279" name="117,2%">
            <a:extLst xmlns:a="http://schemas.openxmlformats.org/drawingml/2006/main">
              <a:ext uri="{FF2B5EF4-FFF2-40B4-BE49-F238E27FC236}">
                <a16:creationId xmlns:a16="http://schemas.microsoft.com/office/drawing/2014/main" id="{794528BB-5EE8-44BD-A082-766AE1F56A06}"/>
              </a:ext>
            </a:extLst>
          </p:cNvPr>
          <p:cNvSpPr>
            <a:spLocks xmlns:a="http://schemas.openxmlformats.org/drawingml/2006/main" noGrp="1"/>
          </p:cNvSpPr>
          <p:nvPr/>
        </p:nvSpPr>
        <p:spPr>
          <a:xfrm xmlns:a="http://schemas.openxmlformats.org/drawingml/2006/main">
            <a:off x="8477250" y="2019300"/>
            <a:ext cx="3000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0392B"/>
                </a:solidFill>
                <a:latin typeface="Trebuchet MS"/>
                <a:ea typeface="Trebuchet MS"/>
                <a:cs typeface="Trebuchet MS"/>
              </a:defRPr>
            </a:defPPr>
            <a:lvl1pPr algn="l">
              <a:defRPr sz="3600" b="1">
                <a:solidFill>
                  <a:srgbClr val="C0392B"/>
                </a:solidFill>
                <a:latin typeface="Trebuchet MS"/>
                <a:ea typeface="Trebuchet MS"/>
                <a:cs typeface="Trebuchet MS"/>
              </a:defRPr>
            </a:lvl1pPr>
            <a:lvl2pPr algn="l">
              <a:defRPr sz="3600" b="1">
                <a:solidFill>
                  <a:srgbClr val="C0392B"/>
                </a:solidFill>
                <a:latin typeface="Trebuchet MS"/>
                <a:ea typeface="Trebuchet MS"/>
                <a:cs typeface="Trebuchet MS"/>
              </a:defRPr>
            </a:lvl2pPr>
            <a:lvl3pPr algn="l">
              <a:defRPr sz="3600" b="1">
                <a:solidFill>
                  <a:srgbClr val="C0392B"/>
                </a:solidFill>
                <a:latin typeface="Trebuchet MS"/>
                <a:ea typeface="Trebuchet MS"/>
                <a:cs typeface="Trebuchet MS"/>
              </a:defRPr>
            </a:lvl3pPr>
            <a:lvl4pPr algn="l">
              <a:defRPr sz="3600" b="1">
                <a:solidFill>
                  <a:srgbClr val="C0392B"/>
                </a:solidFill>
                <a:latin typeface="Trebuchet MS"/>
                <a:ea typeface="Trebuchet MS"/>
                <a:cs typeface="Trebuchet MS"/>
              </a:defRPr>
            </a:lvl4pPr>
            <a:lvl5pPr algn="l">
              <a:defRPr sz="3600" b="1">
                <a:solidFill>
                  <a:srgbClr val="C0392B"/>
                </a:solidFill>
                <a:latin typeface="Trebuchet MS"/>
                <a:ea typeface="Trebuchet MS"/>
                <a:cs typeface="Trebuchet MS"/>
              </a:defRPr>
            </a:lvl5pPr>
            <a:lvl6pPr algn="l">
              <a:defRPr sz="3600" b="1">
                <a:solidFill>
                  <a:srgbClr val="C0392B"/>
                </a:solidFill>
                <a:latin typeface="Trebuchet MS"/>
                <a:ea typeface="Trebuchet MS"/>
                <a:cs typeface="Trebuchet MS"/>
              </a:defRPr>
            </a:lvl6pPr>
            <a:lvl7pPr algn="l">
              <a:defRPr sz="3600" b="1">
                <a:solidFill>
                  <a:srgbClr val="C0392B"/>
                </a:solidFill>
                <a:latin typeface="Trebuchet MS"/>
                <a:ea typeface="Trebuchet MS"/>
                <a:cs typeface="Trebuchet MS"/>
              </a:defRPr>
            </a:lvl7pPr>
            <a:lvl8pPr algn="l">
              <a:defRPr sz="3600" b="1">
                <a:solidFill>
                  <a:srgbClr val="C0392B"/>
                </a:solidFill>
                <a:latin typeface="Trebuchet MS"/>
                <a:ea typeface="Trebuchet MS"/>
                <a:cs typeface="Trebuchet MS"/>
              </a:defRPr>
            </a:lvl8pPr>
            <a:lvl9pPr algn="l">
              <a:defRPr sz="3600" b="1">
                <a:solidFill>
                  <a:srgbClr val="C0392B"/>
                </a:solidFill>
                <a:latin typeface="Trebuchet MS"/>
                <a:ea typeface="Trebuchet MS"/>
                <a:cs typeface="Trebuchet MS"/>
              </a:defRPr>
            </a:lvl9pPr>
          </a:lstStyle>
          <a:p xmlns:a="http://schemas.openxmlformats.org/drawingml/2006/main">
            <a:pPr algn="l">
              <a:defRPr sz="3600" b="1">
                <a:solidFill>
                  <a:srgbClr val="C0392B"/>
                </a:solidFill>
                <a:latin typeface="Trebuchet MS"/>
                <a:ea typeface="Trebuchet MS"/>
                <a:cs typeface="Trebuchet MS"/>
              </a:defRPr>
            </a:pPr>
            <a:r>
              <a:rPr sz="3600" b="1">
                <a:solidFill>
                  <a:srgbClr val="C0392B"/>
                </a:solidFill>
                <a:latin typeface="Trebuchet MS"/>
                <a:ea typeface="Trebuchet MS"/>
                <a:cs typeface="Trebuchet MS"/>
              </a:rPr>
              <a:t>117,2%</a:t>
            </a:r>
          </a:p>
        </p:txBody>
      </p:sp>
      <p:sp>
        <p:nvSpPr>
          <p:cNvPr id="280" name="20 mayda modelin mütləq faiz xətası">
            <a:extLst xmlns:a="http://schemas.openxmlformats.org/drawingml/2006/main">
              <a:ext uri="{FF2B5EF4-FFF2-40B4-BE49-F238E27FC236}">
                <a16:creationId xmlns:a16="http://schemas.microsoft.com/office/drawing/2014/main" id="{8B4B6E4A-86DA-4817-93F8-DB63F552780D}"/>
              </a:ext>
            </a:extLst>
          </p:cNvPr>
          <p:cNvSpPr>
            <a:spLocks xmlns:a="http://schemas.openxmlformats.org/drawingml/2006/main" noGrp="1"/>
          </p:cNvSpPr>
          <p:nvPr/>
        </p:nvSpPr>
        <p:spPr>
          <a:xfrm xmlns:a="http://schemas.openxmlformats.org/drawingml/2006/main">
            <a:off x="8477250" y="27432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20 mayda modelin mütləq faiz xətası</a:t>
            </a:r>
          </a:p>
        </p:txBody>
      </p:sp>
      <p:sp>
        <p:nvSpPr>
          <p:cNvPr id="281" name="Böyük günlük dəyişkənlik">
            <a:extLst xmlns:a="http://schemas.openxmlformats.org/drawingml/2006/main">
              <a:ext uri="{FF2B5EF4-FFF2-40B4-BE49-F238E27FC236}">
                <a16:creationId xmlns:a16="http://schemas.microsoft.com/office/drawing/2014/main" id="{E43DB3E9-ADC5-443D-B804-EEF48FC3E73F}"/>
              </a:ext>
            </a:extLst>
          </p:cNvPr>
          <p:cNvSpPr>
            <a:spLocks xmlns:a="http://schemas.openxmlformats.org/drawingml/2006/main" noGrp="1"/>
          </p:cNvSpPr>
          <p:nvPr/>
        </p:nvSpPr>
        <p:spPr>
          <a:xfrm xmlns:a="http://schemas.openxmlformats.org/drawingml/2006/main">
            <a:off x="8477250" y="40100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D9E75"/>
                </a:solidFill>
                <a:latin typeface="Trebuchet MS"/>
                <a:ea typeface="Trebuchet MS"/>
                <a:cs typeface="Trebuchet MS"/>
              </a:defRPr>
            </a:defPPr>
            <a:lvl1pPr algn="l">
              <a:defRPr sz="1950" b="1">
                <a:solidFill>
                  <a:srgbClr val="1D9E75"/>
                </a:solidFill>
                <a:latin typeface="Trebuchet MS"/>
                <a:ea typeface="Trebuchet MS"/>
                <a:cs typeface="Trebuchet MS"/>
              </a:defRPr>
            </a:lvl1pPr>
            <a:lvl2pPr algn="l">
              <a:defRPr sz="1950" b="1">
                <a:solidFill>
                  <a:srgbClr val="1D9E75"/>
                </a:solidFill>
                <a:latin typeface="Trebuchet MS"/>
                <a:ea typeface="Trebuchet MS"/>
                <a:cs typeface="Trebuchet MS"/>
              </a:defRPr>
            </a:lvl2pPr>
            <a:lvl3pPr algn="l">
              <a:defRPr sz="1950" b="1">
                <a:solidFill>
                  <a:srgbClr val="1D9E75"/>
                </a:solidFill>
                <a:latin typeface="Trebuchet MS"/>
                <a:ea typeface="Trebuchet MS"/>
                <a:cs typeface="Trebuchet MS"/>
              </a:defRPr>
            </a:lvl3pPr>
            <a:lvl4pPr algn="l">
              <a:defRPr sz="1950" b="1">
                <a:solidFill>
                  <a:srgbClr val="1D9E75"/>
                </a:solidFill>
                <a:latin typeface="Trebuchet MS"/>
                <a:ea typeface="Trebuchet MS"/>
                <a:cs typeface="Trebuchet MS"/>
              </a:defRPr>
            </a:lvl4pPr>
            <a:lvl5pPr algn="l">
              <a:defRPr sz="1950" b="1">
                <a:solidFill>
                  <a:srgbClr val="1D9E75"/>
                </a:solidFill>
                <a:latin typeface="Trebuchet MS"/>
                <a:ea typeface="Trebuchet MS"/>
                <a:cs typeface="Trebuchet MS"/>
              </a:defRPr>
            </a:lvl5pPr>
            <a:lvl6pPr algn="l">
              <a:defRPr sz="1950" b="1">
                <a:solidFill>
                  <a:srgbClr val="1D9E75"/>
                </a:solidFill>
                <a:latin typeface="Trebuchet MS"/>
                <a:ea typeface="Trebuchet MS"/>
                <a:cs typeface="Trebuchet MS"/>
              </a:defRPr>
            </a:lvl6pPr>
            <a:lvl7pPr algn="l">
              <a:defRPr sz="1950" b="1">
                <a:solidFill>
                  <a:srgbClr val="1D9E75"/>
                </a:solidFill>
                <a:latin typeface="Trebuchet MS"/>
                <a:ea typeface="Trebuchet MS"/>
                <a:cs typeface="Trebuchet MS"/>
              </a:defRPr>
            </a:lvl7pPr>
            <a:lvl8pPr algn="l">
              <a:defRPr sz="1950" b="1">
                <a:solidFill>
                  <a:srgbClr val="1D9E75"/>
                </a:solidFill>
                <a:latin typeface="Trebuchet MS"/>
                <a:ea typeface="Trebuchet MS"/>
                <a:cs typeface="Trebuchet MS"/>
              </a:defRPr>
            </a:lvl8pPr>
            <a:lvl9pPr algn="l">
              <a:defRPr sz="1950" b="1">
                <a:solidFill>
                  <a:srgbClr val="1D9E75"/>
                </a:solidFill>
                <a:latin typeface="Trebuchet MS"/>
                <a:ea typeface="Trebuchet MS"/>
                <a:cs typeface="Trebuchet MS"/>
              </a:defRPr>
            </a:lvl9pPr>
          </a:lstStyle>
          <a:p xmlns:a="http://schemas.openxmlformats.org/drawingml/2006/main">
            <a:pPr algn="l">
              <a:defRPr sz="1950" b="1">
                <a:solidFill>
                  <a:srgbClr val="1D9E75"/>
                </a:solidFill>
                <a:latin typeface="Trebuchet MS"/>
                <a:ea typeface="Trebuchet MS"/>
                <a:cs typeface="Trebuchet MS"/>
              </a:defRPr>
            </a:pPr>
            <a:r>
              <a:rPr sz="1950" b="1">
                <a:solidFill>
                  <a:srgbClr val="1D9E75"/>
                </a:solidFill>
                <a:latin typeface="Trebuchet MS"/>
                <a:ea typeface="Trebuchet MS"/>
                <a:cs typeface="Trebuchet MS"/>
              </a:rPr>
              <a:t>Böyük günlük dəyişkənlik</a:t>
            </a:r>
          </a:p>
        </p:txBody>
      </p:sp>
      <p:sp>
        <p:nvSpPr>
          <p:cNvPr id="282" name="Faktiki gəlir 0,82–2,22 mln AZN arasında dəyişir. Model">
            <a:extLst xmlns:a="http://schemas.openxmlformats.org/drawingml/2006/main">
              <a:ext uri="{FF2B5EF4-FFF2-40B4-BE49-F238E27FC236}">
                <a16:creationId xmlns:a16="http://schemas.microsoft.com/office/drawing/2014/main" id="{BDE9A32C-0D91-444C-819D-A72086B517B9}"/>
              </a:ext>
            </a:extLst>
          </p:cNvPr>
          <p:cNvSpPr>
            <a:spLocks xmlns:a="http://schemas.openxmlformats.org/drawingml/2006/main" noGrp="1"/>
          </p:cNvSpPr>
          <p:nvPr/>
        </p:nvSpPr>
        <p:spPr>
          <a:xfrm xmlns:a="http://schemas.openxmlformats.org/drawingml/2006/main">
            <a:off x="8477250" y="4476750"/>
            <a:ext cx="3000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48B"/>
                </a:solidFill>
                <a:latin typeface="Calibri"/>
                <a:ea typeface="Calibri"/>
                <a:cs typeface="Calibri"/>
              </a:defRPr>
            </a:defPPr>
            <a:lvl1pPr algn="l">
              <a:defRPr sz="1800" b="0">
                <a:solidFill>
                  <a:srgbClr val="64748B"/>
                </a:solidFill>
                <a:latin typeface="Calibri"/>
                <a:ea typeface="Calibri"/>
                <a:cs typeface="Calibri"/>
              </a:defRPr>
            </a:lvl1pPr>
            <a:lvl2pPr algn="l">
              <a:defRPr sz="1800" b="0">
                <a:solidFill>
                  <a:srgbClr val="64748B"/>
                </a:solidFill>
                <a:latin typeface="Calibri"/>
                <a:ea typeface="Calibri"/>
                <a:cs typeface="Calibri"/>
              </a:defRPr>
            </a:lvl2pPr>
            <a:lvl3pPr algn="l">
              <a:defRPr sz="1800" b="0">
                <a:solidFill>
                  <a:srgbClr val="64748B"/>
                </a:solidFill>
                <a:latin typeface="Calibri"/>
                <a:ea typeface="Calibri"/>
                <a:cs typeface="Calibri"/>
              </a:defRPr>
            </a:lvl3pPr>
            <a:lvl4pPr algn="l">
              <a:defRPr sz="1800" b="0">
                <a:solidFill>
                  <a:srgbClr val="64748B"/>
                </a:solidFill>
                <a:latin typeface="Calibri"/>
                <a:ea typeface="Calibri"/>
                <a:cs typeface="Calibri"/>
              </a:defRPr>
            </a:lvl4pPr>
            <a:lvl5pPr algn="l">
              <a:defRPr sz="1800" b="0">
                <a:solidFill>
                  <a:srgbClr val="64748B"/>
                </a:solidFill>
                <a:latin typeface="Calibri"/>
                <a:ea typeface="Calibri"/>
                <a:cs typeface="Calibri"/>
              </a:defRPr>
            </a:lvl5pPr>
            <a:lvl6pPr algn="l">
              <a:defRPr sz="1800" b="0">
                <a:solidFill>
                  <a:srgbClr val="64748B"/>
                </a:solidFill>
                <a:latin typeface="Calibri"/>
                <a:ea typeface="Calibri"/>
                <a:cs typeface="Calibri"/>
              </a:defRPr>
            </a:lvl6pPr>
            <a:lvl7pPr algn="l">
              <a:defRPr sz="1800" b="0">
                <a:solidFill>
                  <a:srgbClr val="64748B"/>
                </a:solidFill>
                <a:latin typeface="Calibri"/>
                <a:ea typeface="Calibri"/>
                <a:cs typeface="Calibri"/>
              </a:defRPr>
            </a:lvl7pPr>
            <a:lvl8pPr algn="l">
              <a:defRPr sz="1800" b="0">
                <a:solidFill>
                  <a:srgbClr val="64748B"/>
                </a:solidFill>
                <a:latin typeface="Calibri"/>
                <a:ea typeface="Calibri"/>
                <a:cs typeface="Calibri"/>
              </a:defRPr>
            </a:lvl8pPr>
            <a:lvl9pPr algn="l">
              <a:defRPr sz="1800" b="0">
                <a:solidFill>
                  <a:srgbClr val="64748B"/>
                </a:solidFill>
                <a:latin typeface="Calibri"/>
                <a:ea typeface="Calibri"/>
                <a:cs typeface="Calibri"/>
              </a:defRPr>
            </a:lvl9pPr>
          </a:lstStyle>
          <a:p xmlns:a="http://schemas.openxmlformats.org/drawingml/2006/main">
            <a:pPr algn="l">
              <a:defRPr sz="1800" b="0">
                <a:solidFill>
                  <a:srgbClr val="64748B"/>
                </a:solidFill>
                <a:latin typeface="Calibri"/>
                <a:ea typeface="Calibri"/>
                <a:cs typeface="Calibri"/>
              </a:defRPr>
            </a:pPr>
            <a:r>
              <a:rPr sz="1800" b="0">
                <a:solidFill>
                  <a:srgbClr val="64748B"/>
                </a:solidFill>
                <a:latin typeface="Calibri"/>
                <a:ea typeface="Calibri"/>
                <a:cs typeface="Calibri"/>
              </a:rPr>
              <a:t>Faktiki gəlir 0,82–2,22 mln AZN arasında dəyişir. Model təxminən 1,8 mln səviyyəsində qalır.</a:t>
            </a:r>
          </a:p>
        </p:txBody>
      </p:sp>
    </p:spTree>
    <p:extLst>
      <p:ext uri="{BB962C8B-B14F-4D97-AF65-F5344CB8AC3E}">
        <p14:creationId xmlns:p14="http://schemas.microsoft.com/office/powerpoint/2010/main" val="4593178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5" name="Google Shape;295;p18">
            <a:extLst xmlns:a="http://schemas.openxmlformats.org/drawingml/2006/main">
              <a:ext uri="{FF2B5EF4-FFF2-40B4-BE49-F238E27FC236}">
                <a16:creationId xmlns:a16="http://schemas.microsoft.com/office/drawing/2014/main" id="{935CBDAF-6E9D-4DD7-9789-6D8080D5EFE6}"/>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250" b="1">
                <a:solidFill>
                  <a:srgbClr val="1D9E75"/>
                </a:solidFill>
                <a:latin typeface="Trebuchet MS"/>
                <a:ea typeface="Trebuchet MS"/>
                <a:cs typeface="Trebuchet MS"/>
              </a:defRPr>
            </a:defPPr>
            <a:lvl1pPr>
              <a:defRPr sz="1250" b="1">
                <a:solidFill>
                  <a:srgbClr val="1D9E75"/>
                </a:solidFill>
                <a:latin typeface="Trebuchet MS"/>
                <a:ea typeface="Trebuchet MS"/>
                <a:cs typeface="Trebuchet MS"/>
              </a:defRPr>
            </a:lvl1pPr>
            <a:lvl2pPr>
              <a:defRPr sz="1250" b="1">
                <a:solidFill>
                  <a:srgbClr val="1D9E75"/>
                </a:solidFill>
                <a:latin typeface="Trebuchet MS"/>
                <a:ea typeface="Trebuchet MS"/>
                <a:cs typeface="Trebuchet MS"/>
              </a:defRPr>
            </a:lvl2pPr>
            <a:lvl3pPr>
              <a:defRPr sz="1250" b="1">
                <a:solidFill>
                  <a:srgbClr val="1D9E75"/>
                </a:solidFill>
                <a:latin typeface="Trebuchet MS"/>
                <a:ea typeface="Trebuchet MS"/>
                <a:cs typeface="Trebuchet MS"/>
              </a:defRPr>
            </a:lvl3pPr>
            <a:lvl4pPr>
              <a:defRPr sz="1250" b="1">
                <a:solidFill>
                  <a:srgbClr val="1D9E75"/>
                </a:solidFill>
                <a:latin typeface="Trebuchet MS"/>
                <a:ea typeface="Trebuchet MS"/>
                <a:cs typeface="Trebuchet MS"/>
              </a:defRPr>
            </a:lvl4pPr>
            <a:lvl5pPr>
              <a:defRPr sz="1250" b="1">
                <a:solidFill>
                  <a:srgbClr val="1D9E75"/>
                </a:solidFill>
                <a:latin typeface="Trebuchet MS"/>
                <a:ea typeface="Trebuchet MS"/>
                <a:cs typeface="Trebuchet MS"/>
              </a:defRPr>
            </a:lvl5pPr>
            <a:lvl6pPr>
              <a:defRPr sz="1250" b="1">
                <a:solidFill>
                  <a:srgbClr val="1D9E75"/>
                </a:solidFill>
                <a:latin typeface="Trebuchet MS"/>
                <a:ea typeface="Trebuchet MS"/>
                <a:cs typeface="Trebuchet MS"/>
              </a:defRPr>
            </a:lvl6pPr>
            <a:lvl7pPr>
              <a:defRPr sz="1250" b="1">
                <a:solidFill>
                  <a:srgbClr val="1D9E75"/>
                </a:solidFill>
                <a:latin typeface="Trebuchet MS"/>
                <a:ea typeface="Trebuchet MS"/>
                <a:cs typeface="Trebuchet MS"/>
              </a:defRPr>
            </a:lvl7pPr>
            <a:lvl8pPr>
              <a:defRPr sz="1250" b="1">
                <a:solidFill>
                  <a:srgbClr val="1D9E75"/>
                </a:solidFill>
                <a:latin typeface="Trebuchet MS"/>
                <a:ea typeface="Trebuchet MS"/>
                <a:cs typeface="Trebuchet MS"/>
              </a:defRPr>
            </a:lvl8pPr>
            <a:lvl9pPr>
              <a:defRPr sz="1250" b="1">
                <a:solidFill>
                  <a:srgbClr val="1D9E75"/>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D9E75"/>
              </a:buClr>
              <a:buSzPts val="1250"/>
              <a:buFont typeface="Trebuchet MS"/>
              <a:buNone/>
              <a:defRPr sz="1250" b="1">
                <a:solidFill>
                  <a:srgbClr val="1D9E75"/>
                </a:solidFill>
                <a:latin typeface="Trebuchet MS"/>
                <a:ea typeface="Trebuchet MS"/>
                <a:cs typeface="Trebuchet MS"/>
              </a:defRPr>
            </a:pPr>
            <a:r>
              <a:rPr sz="1250" b="1">
                <a:solidFill>
                  <a:srgbClr val="1D9E75"/>
                </a:solidFill>
                <a:latin typeface="Trebuchet MS"/>
                <a:ea typeface="Trebuchet MS"/>
                <a:cs typeface="Trebuchet MS"/>
              </a:rPr>
              <a:t>3  PROQNOZ VƏ FƏRZİYYƏLƏR</a:t>
            </a:r>
            <a:endParaRPr sz="1250">
              <a:solidFill>
                <a:schemeClr val="dk1"/>
              </a:solidFill>
              <a:latin typeface="Calibri"/>
              <a:ea typeface="Calibri"/>
              <a:cs typeface="Calibri"/>
            </a:endParaRPr>
          </a:p>
        </p:txBody>
      </p:sp>
      <p:sp>
        <p:nvSpPr>
          <p:cNvPr id="296" name="Google Shape;296;p18">
            <a:extLst xmlns:a="http://schemas.openxmlformats.org/drawingml/2006/main">
              <a:ext uri="{FF2B5EF4-FFF2-40B4-BE49-F238E27FC236}">
                <a16:creationId xmlns:a16="http://schemas.microsoft.com/office/drawing/2014/main" id="{4FDF84CE-6E51-45C9-9AF3-63E894460EB5}"/>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2900" b="1">
                <a:solidFill>
                  <a:srgbClr val="1E293B"/>
                </a:solidFill>
                <a:latin typeface="Trebuchet MS"/>
                <a:ea typeface="Trebuchet MS"/>
                <a:cs typeface="Trebuchet MS"/>
              </a:defRPr>
            </a:defPPr>
            <a:lvl1pPr>
              <a:defRPr sz="2900" b="1">
                <a:solidFill>
                  <a:srgbClr val="1E293B"/>
                </a:solidFill>
                <a:latin typeface="Trebuchet MS"/>
                <a:ea typeface="Trebuchet MS"/>
                <a:cs typeface="Trebuchet MS"/>
              </a:defRPr>
            </a:lvl1pPr>
            <a:lvl2pPr>
              <a:defRPr sz="2900" b="1">
                <a:solidFill>
                  <a:srgbClr val="1E293B"/>
                </a:solidFill>
                <a:latin typeface="Trebuchet MS"/>
                <a:ea typeface="Trebuchet MS"/>
                <a:cs typeface="Trebuchet MS"/>
              </a:defRPr>
            </a:lvl2pPr>
            <a:lvl3pPr>
              <a:defRPr sz="2900" b="1">
                <a:solidFill>
                  <a:srgbClr val="1E293B"/>
                </a:solidFill>
                <a:latin typeface="Trebuchet MS"/>
                <a:ea typeface="Trebuchet MS"/>
                <a:cs typeface="Trebuchet MS"/>
              </a:defRPr>
            </a:lvl3pPr>
            <a:lvl4pPr>
              <a:defRPr sz="2900" b="1">
                <a:solidFill>
                  <a:srgbClr val="1E293B"/>
                </a:solidFill>
                <a:latin typeface="Trebuchet MS"/>
                <a:ea typeface="Trebuchet MS"/>
                <a:cs typeface="Trebuchet MS"/>
              </a:defRPr>
            </a:lvl4pPr>
            <a:lvl5pPr>
              <a:defRPr sz="2900" b="1">
                <a:solidFill>
                  <a:srgbClr val="1E293B"/>
                </a:solidFill>
                <a:latin typeface="Trebuchet MS"/>
                <a:ea typeface="Trebuchet MS"/>
                <a:cs typeface="Trebuchet MS"/>
              </a:defRPr>
            </a:lvl5pPr>
            <a:lvl6pPr>
              <a:defRPr sz="2900" b="1">
                <a:solidFill>
                  <a:srgbClr val="1E293B"/>
                </a:solidFill>
                <a:latin typeface="Trebuchet MS"/>
                <a:ea typeface="Trebuchet MS"/>
                <a:cs typeface="Trebuchet MS"/>
              </a:defRPr>
            </a:lvl6pPr>
            <a:lvl7pPr>
              <a:defRPr sz="2900" b="1">
                <a:solidFill>
                  <a:srgbClr val="1E293B"/>
                </a:solidFill>
                <a:latin typeface="Trebuchet MS"/>
                <a:ea typeface="Trebuchet MS"/>
                <a:cs typeface="Trebuchet MS"/>
              </a:defRPr>
            </a:lvl7pPr>
            <a:lvl8pPr>
              <a:defRPr sz="2900" b="1">
                <a:solidFill>
                  <a:srgbClr val="1E293B"/>
                </a:solidFill>
                <a:latin typeface="Trebuchet MS"/>
                <a:ea typeface="Trebuchet MS"/>
                <a:cs typeface="Trebuchet MS"/>
              </a:defRPr>
            </a:lvl8pPr>
            <a:lvl9pPr>
              <a:defRPr sz="2900" b="1">
                <a:solidFill>
                  <a:srgbClr val="1E293B"/>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1E293B"/>
              </a:buClr>
              <a:buSzPts val="2900"/>
              <a:buFont typeface="Trebuchet MS"/>
              <a:buNone/>
              <a:defRPr sz="2900" b="1">
                <a:solidFill>
                  <a:srgbClr val="1E293B"/>
                </a:solidFill>
                <a:latin typeface="Trebuchet MS"/>
                <a:ea typeface="Trebuchet MS"/>
                <a:cs typeface="Trebuchet MS"/>
              </a:defRPr>
            </a:pPr>
            <a:r>
              <a:rPr sz="2900" b="1">
                <a:solidFill>
                  <a:srgbClr val="1E293B"/>
                </a:solidFill>
                <a:latin typeface="Trebuchet MS"/>
                <a:ea typeface="Trebuchet MS"/>
                <a:cs typeface="Trebuchet MS"/>
              </a:rPr>
              <a:t>Sadə orta reqressiyadan daha az xəta verir</a:t>
            </a:r>
            <a:endParaRPr sz="2900">
              <a:solidFill>
                <a:schemeClr val="dk1"/>
              </a:solidFill>
              <a:latin typeface="Calibri"/>
              <a:ea typeface="Calibri"/>
              <a:cs typeface="Calibri"/>
            </a:endParaRPr>
          </a:p>
        </p:txBody>
      </p:sp>
      <p:sp>
        <p:nvSpPr>
          <p:cNvPr id="297" name="5 test günü üzrə orta mütləq xəta (MAE), min AZN. Aşağı">
            <a:extLst xmlns:a="http://schemas.openxmlformats.org/drawingml/2006/main">
              <a:ext uri="{FF2B5EF4-FFF2-40B4-BE49-F238E27FC236}">
                <a16:creationId xmlns:a16="http://schemas.microsoft.com/office/drawing/2014/main" id="{995C3D88-9644-442C-906D-E881357C9ED4}"/>
              </a:ext>
            </a:extLst>
          </p:cNvPr>
          <p:cNvSpPr>
            <a:spLocks xmlns:a="http://schemas.openxmlformats.org/drawingml/2006/main" noGrp="1"/>
          </p:cNvSpPr>
          <p:nvPr/>
        </p:nvSpPr>
        <p:spPr>
          <a:xfrm xmlns:a="http://schemas.openxmlformats.org/drawingml/2006/main">
            <a:off x="571500" y="14573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48B"/>
                </a:solidFill>
                <a:latin typeface="Calibri"/>
                <a:ea typeface="Calibri"/>
                <a:cs typeface="Calibri"/>
              </a:defRPr>
            </a:defPPr>
            <a:lvl1pPr algn="l">
              <a:defRPr sz="1575" b="0">
                <a:solidFill>
                  <a:srgbClr val="64748B"/>
                </a:solidFill>
                <a:latin typeface="Calibri"/>
                <a:ea typeface="Calibri"/>
                <a:cs typeface="Calibri"/>
              </a:defRPr>
            </a:lvl1pPr>
            <a:lvl2pPr algn="l">
              <a:defRPr sz="1575" b="0">
                <a:solidFill>
                  <a:srgbClr val="64748B"/>
                </a:solidFill>
                <a:latin typeface="Calibri"/>
                <a:ea typeface="Calibri"/>
                <a:cs typeface="Calibri"/>
              </a:defRPr>
            </a:lvl2pPr>
            <a:lvl3pPr algn="l">
              <a:defRPr sz="1575" b="0">
                <a:solidFill>
                  <a:srgbClr val="64748B"/>
                </a:solidFill>
                <a:latin typeface="Calibri"/>
                <a:ea typeface="Calibri"/>
                <a:cs typeface="Calibri"/>
              </a:defRPr>
            </a:lvl3pPr>
            <a:lvl4pPr algn="l">
              <a:defRPr sz="1575" b="0">
                <a:solidFill>
                  <a:srgbClr val="64748B"/>
                </a:solidFill>
                <a:latin typeface="Calibri"/>
                <a:ea typeface="Calibri"/>
                <a:cs typeface="Calibri"/>
              </a:defRPr>
            </a:lvl4pPr>
            <a:lvl5pPr algn="l">
              <a:defRPr sz="1575" b="0">
                <a:solidFill>
                  <a:srgbClr val="64748B"/>
                </a:solidFill>
                <a:latin typeface="Calibri"/>
                <a:ea typeface="Calibri"/>
                <a:cs typeface="Calibri"/>
              </a:defRPr>
            </a:lvl5pPr>
            <a:lvl6pPr algn="l">
              <a:defRPr sz="1575" b="0">
                <a:solidFill>
                  <a:srgbClr val="64748B"/>
                </a:solidFill>
                <a:latin typeface="Calibri"/>
                <a:ea typeface="Calibri"/>
                <a:cs typeface="Calibri"/>
              </a:defRPr>
            </a:lvl6pPr>
            <a:lvl7pPr algn="l">
              <a:defRPr sz="1575" b="0">
                <a:solidFill>
                  <a:srgbClr val="64748B"/>
                </a:solidFill>
                <a:latin typeface="Calibri"/>
                <a:ea typeface="Calibri"/>
                <a:cs typeface="Calibri"/>
              </a:defRPr>
            </a:lvl7pPr>
            <a:lvl8pPr algn="l">
              <a:defRPr sz="1575" b="0">
                <a:solidFill>
                  <a:srgbClr val="64748B"/>
                </a:solidFill>
                <a:latin typeface="Calibri"/>
                <a:ea typeface="Calibri"/>
                <a:cs typeface="Calibri"/>
              </a:defRPr>
            </a:lvl8pPr>
            <a:lvl9pPr algn="l">
              <a:defRPr sz="1575" b="0">
                <a:solidFill>
                  <a:srgbClr val="64748B"/>
                </a:solidFill>
                <a:latin typeface="Calibri"/>
                <a:ea typeface="Calibri"/>
                <a:cs typeface="Calibri"/>
              </a:defRPr>
            </a:lvl9pPr>
          </a:lstStyle>
          <a:p xmlns:a="http://schemas.openxmlformats.org/drawingml/2006/main">
            <a:pPr algn="l">
              <a:defRPr sz="1575" b="0">
                <a:solidFill>
                  <a:srgbClr val="64748B"/>
                </a:solidFill>
                <a:latin typeface="Calibri"/>
                <a:ea typeface="Calibri"/>
                <a:cs typeface="Calibri"/>
              </a:defRPr>
            </a:pPr>
            <a:r>
              <a:rPr sz="1575" b="0">
                <a:solidFill>
                  <a:srgbClr val="64748B"/>
                </a:solidFill>
                <a:latin typeface="Calibri"/>
                <a:ea typeface="Calibri"/>
                <a:cs typeface="Calibri"/>
              </a:rPr>
              <a:t>5 test günü üzrə orta mütləq xəta (MAE), min AZN. Aşağı dəyər daha yaxşıdır</a:t>
            </a:r>
          </a:p>
        </p:txBody>
      </p:sp>
      <p:graphicFrame>
        <p:nvGraphicFramePr>
          <p:cNvPr id="298" name="Chart">
            <a:extLst xmlns:a="http://schemas.openxmlformats.org/drawingml/2006/main">
              <a:ext uri="{FF2B5EF4-FFF2-40B4-BE49-F238E27FC236}">
                <a16:creationId xmlns:a16="http://schemas.microsoft.com/office/drawing/2014/main" id="{1D25D427-7E32-4775-8501-804B421EA9B2}"/>
              </a:ext>
            </a:extLst>
          </p:cNvPr>
          <p:cNvGraphicFramePr/>
          <p:nvPr/>
        </p:nvGraphicFramePr>
        <p:xfrm>
          <a:off xmlns:a="http://schemas.openxmlformats.org/drawingml/2006/main" x="571500" y="2114550"/>
          <a:ext xmlns:a="http://schemas.openxmlformats.org/drawingml/2006/main" cx="7239000" cy="3524250"/>
        </p:xfrm>
        <a:graphic xmlns:a="http://schemas.openxmlformats.org/drawingml/2006/main">
          <a:graphicData uri="http://schemas.openxmlformats.org/drawingml/2006/chart">
            <c:chart xmlns:r="http://schemas.openxmlformats.org/officeDocument/2006/relationships" xmlns:c="http://schemas.openxmlformats.org/drawingml/2006/chart" r:id="R4531ecb2081d41f5"/>
          </a:graphicData>
        </a:graphic>
      </p:graphicFrame>
      <p:sp>
        <p:nvSpPr>
          <p:cNvPr id="299" name="38,3%">
            <a:extLst xmlns:a="http://schemas.openxmlformats.org/drawingml/2006/main">
              <a:ext uri="{FF2B5EF4-FFF2-40B4-BE49-F238E27FC236}">
                <a16:creationId xmlns:a16="http://schemas.microsoft.com/office/drawing/2014/main" id="{F0F53B6E-3FBF-4B26-98AA-45E428379577}"/>
              </a:ext>
            </a:extLst>
          </p:cNvPr>
          <p:cNvSpPr>
            <a:spLocks xmlns:a="http://schemas.openxmlformats.org/drawingml/2006/main" noGrp="1"/>
          </p:cNvSpPr>
          <p:nvPr/>
        </p:nvSpPr>
        <p:spPr>
          <a:xfrm xmlns:a="http://schemas.openxmlformats.org/drawingml/2006/main">
            <a:off x="8429625" y="201930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0392B"/>
                </a:solidFill>
                <a:latin typeface="Trebuchet MS"/>
                <a:ea typeface="Trebuchet MS"/>
                <a:cs typeface="Trebuchet MS"/>
              </a:defRPr>
            </a:defPPr>
            <a:lvl1pPr algn="l">
              <a:defRPr sz="3600" b="1">
                <a:solidFill>
                  <a:srgbClr val="C0392B"/>
                </a:solidFill>
                <a:latin typeface="Trebuchet MS"/>
                <a:ea typeface="Trebuchet MS"/>
                <a:cs typeface="Trebuchet MS"/>
              </a:defRPr>
            </a:lvl1pPr>
            <a:lvl2pPr algn="l">
              <a:defRPr sz="3600" b="1">
                <a:solidFill>
                  <a:srgbClr val="C0392B"/>
                </a:solidFill>
                <a:latin typeface="Trebuchet MS"/>
                <a:ea typeface="Trebuchet MS"/>
                <a:cs typeface="Trebuchet MS"/>
              </a:defRPr>
            </a:lvl2pPr>
            <a:lvl3pPr algn="l">
              <a:defRPr sz="3600" b="1">
                <a:solidFill>
                  <a:srgbClr val="C0392B"/>
                </a:solidFill>
                <a:latin typeface="Trebuchet MS"/>
                <a:ea typeface="Trebuchet MS"/>
                <a:cs typeface="Trebuchet MS"/>
              </a:defRPr>
            </a:lvl3pPr>
            <a:lvl4pPr algn="l">
              <a:defRPr sz="3600" b="1">
                <a:solidFill>
                  <a:srgbClr val="C0392B"/>
                </a:solidFill>
                <a:latin typeface="Trebuchet MS"/>
                <a:ea typeface="Trebuchet MS"/>
                <a:cs typeface="Trebuchet MS"/>
              </a:defRPr>
            </a:lvl4pPr>
            <a:lvl5pPr algn="l">
              <a:defRPr sz="3600" b="1">
                <a:solidFill>
                  <a:srgbClr val="C0392B"/>
                </a:solidFill>
                <a:latin typeface="Trebuchet MS"/>
                <a:ea typeface="Trebuchet MS"/>
                <a:cs typeface="Trebuchet MS"/>
              </a:defRPr>
            </a:lvl5pPr>
            <a:lvl6pPr algn="l">
              <a:defRPr sz="3600" b="1">
                <a:solidFill>
                  <a:srgbClr val="C0392B"/>
                </a:solidFill>
                <a:latin typeface="Trebuchet MS"/>
                <a:ea typeface="Trebuchet MS"/>
                <a:cs typeface="Trebuchet MS"/>
              </a:defRPr>
            </a:lvl6pPr>
            <a:lvl7pPr algn="l">
              <a:defRPr sz="3600" b="1">
                <a:solidFill>
                  <a:srgbClr val="C0392B"/>
                </a:solidFill>
                <a:latin typeface="Trebuchet MS"/>
                <a:ea typeface="Trebuchet MS"/>
                <a:cs typeface="Trebuchet MS"/>
              </a:defRPr>
            </a:lvl7pPr>
            <a:lvl8pPr algn="l">
              <a:defRPr sz="3600" b="1">
                <a:solidFill>
                  <a:srgbClr val="C0392B"/>
                </a:solidFill>
                <a:latin typeface="Trebuchet MS"/>
                <a:ea typeface="Trebuchet MS"/>
                <a:cs typeface="Trebuchet MS"/>
              </a:defRPr>
            </a:lvl8pPr>
            <a:lvl9pPr algn="l">
              <a:defRPr sz="3600" b="1">
                <a:solidFill>
                  <a:srgbClr val="C0392B"/>
                </a:solidFill>
                <a:latin typeface="Trebuchet MS"/>
                <a:ea typeface="Trebuchet MS"/>
                <a:cs typeface="Trebuchet MS"/>
              </a:defRPr>
            </a:lvl9pPr>
          </a:lstStyle>
          <a:p xmlns:a="http://schemas.openxmlformats.org/drawingml/2006/main">
            <a:pPr algn="l">
              <a:defRPr sz="3600" b="1">
                <a:solidFill>
                  <a:srgbClr val="C0392B"/>
                </a:solidFill>
                <a:latin typeface="Trebuchet MS"/>
                <a:ea typeface="Trebuchet MS"/>
                <a:cs typeface="Trebuchet MS"/>
              </a:defRPr>
            </a:pPr>
            <a:r>
              <a:rPr sz="3600" b="1">
                <a:solidFill>
                  <a:srgbClr val="C0392B"/>
                </a:solidFill>
                <a:latin typeface="Trebuchet MS"/>
                <a:ea typeface="Trebuchet MS"/>
                <a:cs typeface="Trebuchet MS"/>
              </a:rPr>
              <a:t>38,3%</a:t>
            </a:r>
          </a:p>
        </p:txBody>
      </p:sp>
      <p:sp>
        <p:nvSpPr>
          <p:cNvPr id="300" name="Reqressiyanın MAPE-si">
            <a:extLst xmlns:a="http://schemas.openxmlformats.org/drawingml/2006/main">
              <a:ext uri="{FF2B5EF4-FFF2-40B4-BE49-F238E27FC236}">
                <a16:creationId xmlns:a16="http://schemas.microsoft.com/office/drawing/2014/main" id="{39E73DCB-66F5-48A9-AF91-8225260FA67B}"/>
              </a:ext>
            </a:extLst>
          </p:cNvPr>
          <p:cNvSpPr>
            <a:spLocks xmlns:a="http://schemas.openxmlformats.org/drawingml/2006/main" noGrp="1"/>
          </p:cNvSpPr>
          <p:nvPr/>
        </p:nvSpPr>
        <p:spPr>
          <a:xfrm xmlns:a="http://schemas.openxmlformats.org/drawingml/2006/main">
            <a:off x="8429625" y="27432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Reqressiyanın MAPE-si</a:t>
            </a:r>
          </a:p>
        </p:txBody>
      </p:sp>
      <p:sp>
        <p:nvSpPr>
          <p:cNvPr id="301" name="+7,3%">
            <a:extLst xmlns:a="http://schemas.openxmlformats.org/drawingml/2006/main">
              <a:ext uri="{FF2B5EF4-FFF2-40B4-BE49-F238E27FC236}">
                <a16:creationId xmlns:a16="http://schemas.microsoft.com/office/drawing/2014/main" id="{748867BE-C2F6-438F-9F2C-3225FFCAD13E}"/>
              </a:ext>
            </a:extLst>
          </p:cNvPr>
          <p:cNvSpPr>
            <a:spLocks xmlns:a="http://schemas.openxmlformats.org/drawingml/2006/main" noGrp="1"/>
          </p:cNvSpPr>
          <p:nvPr/>
        </p:nvSpPr>
        <p:spPr>
          <a:xfrm xmlns:a="http://schemas.openxmlformats.org/drawingml/2006/main">
            <a:off x="8429625" y="3981450"/>
            <a:ext cx="309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C0392B"/>
                </a:solidFill>
                <a:latin typeface="Trebuchet MS"/>
                <a:ea typeface="Trebuchet MS"/>
                <a:cs typeface="Trebuchet MS"/>
              </a:defRPr>
            </a:defPPr>
            <a:lvl1pPr algn="l">
              <a:defRPr sz="3600" b="1">
                <a:solidFill>
                  <a:srgbClr val="C0392B"/>
                </a:solidFill>
                <a:latin typeface="Trebuchet MS"/>
                <a:ea typeface="Trebuchet MS"/>
                <a:cs typeface="Trebuchet MS"/>
              </a:defRPr>
            </a:lvl1pPr>
            <a:lvl2pPr algn="l">
              <a:defRPr sz="3600" b="1">
                <a:solidFill>
                  <a:srgbClr val="C0392B"/>
                </a:solidFill>
                <a:latin typeface="Trebuchet MS"/>
                <a:ea typeface="Trebuchet MS"/>
                <a:cs typeface="Trebuchet MS"/>
              </a:defRPr>
            </a:lvl2pPr>
            <a:lvl3pPr algn="l">
              <a:defRPr sz="3600" b="1">
                <a:solidFill>
                  <a:srgbClr val="C0392B"/>
                </a:solidFill>
                <a:latin typeface="Trebuchet MS"/>
                <a:ea typeface="Trebuchet MS"/>
                <a:cs typeface="Trebuchet MS"/>
              </a:defRPr>
            </a:lvl3pPr>
            <a:lvl4pPr algn="l">
              <a:defRPr sz="3600" b="1">
                <a:solidFill>
                  <a:srgbClr val="C0392B"/>
                </a:solidFill>
                <a:latin typeface="Trebuchet MS"/>
                <a:ea typeface="Trebuchet MS"/>
                <a:cs typeface="Trebuchet MS"/>
              </a:defRPr>
            </a:lvl4pPr>
            <a:lvl5pPr algn="l">
              <a:defRPr sz="3600" b="1">
                <a:solidFill>
                  <a:srgbClr val="C0392B"/>
                </a:solidFill>
                <a:latin typeface="Trebuchet MS"/>
                <a:ea typeface="Trebuchet MS"/>
                <a:cs typeface="Trebuchet MS"/>
              </a:defRPr>
            </a:lvl5pPr>
            <a:lvl6pPr algn="l">
              <a:defRPr sz="3600" b="1">
                <a:solidFill>
                  <a:srgbClr val="C0392B"/>
                </a:solidFill>
                <a:latin typeface="Trebuchet MS"/>
                <a:ea typeface="Trebuchet MS"/>
                <a:cs typeface="Trebuchet MS"/>
              </a:defRPr>
            </a:lvl6pPr>
            <a:lvl7pPr algn="l">
              <a:defRPr sz="3600" b="1">
                <a:solidFill>
                  <a:srgbClr val="C0392B"/>
                </a:solidFill>
                <a:latin typeface="Trebuchet MS"/>
                <a:ea typeface="Trebuchet MS"/>
                <a:cs typeface="Trebuchet MS"/>
              </a:defRPr>
            </a:lvl7pPr>
            <a:lvl8pPr algn="l">
              <a:defRPr sz="3600" b="1">
                <a:solidFill>
                  <a:srgbClr val="C0392B"/>
                </a:solidFill>
                <a:latin typeface="Trebuchet MS"/>
                <a:ea typeface="Trebuchet MS"/>
                <a:cs typeface="Trebuchet MS"/>
              </a:defRPr>
            </a:lvl8pPr>
            <a:lvl9pPr algn="l">
              <a:defRPr sz="3600" b="1">
                <a:solidFill>
                  <a:srgbClr val="C0392B"/>
                </a:solidFill>
                <a:latin typeface="Trebuchet MS"/>
                <a:ea typeface="Trebuchet MS"/>
                <a:cs typeface="Trebuchet MS"/>
              </a:defRPr>
            </a:lvl9pPr>
          </a:lstStyle>
          <a:p xmlns:a="http://schemas.openxmlformats.org/drawingml/2006/main">
            <a:pPr algn="l">
              <a:defRPr sz="3600" b="1">
                <a:solidFill>
                  <a:srgbClr val="C0392B"/>
                </a:solidFill>
                <a:latin typeface="Trebuchet MS"/>
                <a:ea typeface="Trebuchet MS"/>
                <a:cs typeface="Trebuchet MS"/>
              </a:defRPr>
            </a:pPr>
            <a:r>
              <a:rPr sz="3600" b="1">
                <a:solidFill>
                  <a:srgbClr val="C0392B"/>
                </a:solidFill>
                <a:latin typeface="Trebuchet MS"/>
                <a:ea typeface="Trebuchet MS"/>
                <a:cs typeface="Trebuchet MS"/>
              </a:rPr>
              <a:t>+7,3%</a:t>
            </a:r>
          </a:p>
        </p:txBody>
      </p:sp>
      <p:sp>
        <p:nvSpPr>
          <p:cNvPr id="302" name="Reqressiyanın MAE-si sadə ortadan bu qədər yüksəkdir.">
            <a:extLst xmlns:a="http://schemas.openxmlformats.org/drawingml/2006/main">
              <a:ext uri="{FF2B5EF4-FFF2-40B4-BE49-F238E27FC236}">
                <a16:creationId xmlns:a16="http://schemas.microsoft.com/office/drawing/2014/main" id="{6E531EB3-3E2C-4060-8ED4-9C5CF5295A5A}"/>
              </a:ext>
            </a:extLst>
          </p:cNvPr>
          <p:cNvSpPr>
            <a:spLocks xmlns:a="http://schemas.openxmlformats.org/drawingml/2006/main" noGrp="1"/>
          </p:cNvSpPr>
          <p:nvPr/>
        </p:nvSpPr>
        <p:spPr>
          <a:xfrm xmlns:a="http://schemas.openxmlformats.org/drawingml/2006/main">
            <a:off x="8429625" y="470535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4748B"/>
                </a:solidFill>
                <a:latin typeface="Calibri"/>
                <a:ea typeface="Calibri"/>
                <a:cs typeface="Calibri"/>
              </a:defRPr>
            </a:defPPr>
            <a:lvl1pPr algn="l">
              <a:defRPr sz="1725" b="0">
                <a:solidFill>
                  <a:srgbClr val="64748B"/>
                </a:solidFill>
                <a:latin typeface="Calibri"/>
                <a:ea typeface="Calibri"/>
                <a:cs typeface="Calibri"/>
              </a:defRPr>
            </a:lvl1pPr>
            <a:lvl2pPr algn="l">
              <a:defRPr sz="1725" b="0">
                <a:solidFill>
                  <a:srgbClr val="64748B"/>
                </a:solidFill>
                <a:latin typeface="Calibri"/>
                <a:ea typeface="Calibri"/>
                <a:cs typeface="Calibri"/>
              </a:defRPr>
            </a:lvl2pPr>
            <a:lvl3pPr algn="l">
              <a:defRPr sz="1725" b="0">
                <a:solidFill>
                  <a:srgbClr val="64748B"/>
                </a:solidFill>
                <a:latin typeface="Calibri"/>
                <a:ea typeface="Calibri"/>
                <a:cs typeface="Calibri"/>
              </a:defRPr>
            </a:lvl3pPr>
            <a:lvl4pPr algn="l">
              <a:defRPr sz="1725" b="0">
                <a:solidFill>
                  <a:srgbClr val="64748B"/>
                </a:solidFill>
                <a:latin typeface="Calibri"/>
                <a:ea typeface="Calibri"/>
                <a:cs typeface="Calibri"/>
              </a:defRPr>
            </a:lvl4pPr>
            <a:lvl5pPr algn="l">
              <a:defRPr sz="1725" b="0">
                <a:solidFill>
                  <a:srgbClr val="64748B"/>
                </a:solidFill>
                <a:latin typeface="Calibri"/>
                <a:ea typeface="Calibri"/>
                <a:cs typeface="Calibri"/>
              </a:defRPr>
            </a:lvl5pPr>
            <a:lvl6pPr algn="l">
              <a:defRPr sz="1725" b="0">
                <a:solidFill>
                  <a:srgbClr val="64748B"/>
                </a:solidFill>
                <a:latin typeface="Calibri"/>
                <a:ea typeface="Calibri"/>
                <a:cs typeface="Calibri"/>
              </a:defRPr>
            </a:lvl6pPr>
            <a:lvl7pPr algn="l">
              <a:defRPr sz="1725" b="0">
                <a:solidFill>
                  <a:srgbClr val="64748B"/>
                </a:solidFill>
                <a:latin typeface="Calibri"/>
                <a:ea typeface="Calibri"/>
                <a:cs typeface="Calibri"/>
              </a:defRPr>
            </a:lvl7pPr>
            <a:lvl8pPr algn="l">
              <a:defRPr sz="1725" b="0">
                <a:solidFill>
                  <a:srgbClr val="64748B"/>
                </a:solidFill>
                <a:latin typeface="Calibri"/>
                <a:ea typeface="Calibri"/>
                <a:cs typeface="Calibri"/>
              </a:defRPr>
            </a:lvl8pPr>
            <a:lvl9pPr algn="l">
              <a:defRPr sz="1725" b="0">
                <a:solidFill>
                  <a:srgbClr val="64748B"/>
                </a:solidFill>
                <a:latin typeface="Calibri"/>
                <a:ea typeface="Calibri"/>
                <a:cs typeface="Calibri"/>
              </a:defRPr>
            </a:lvl9pPr>
          </a:lstStyle>
          <a:p xmlns:a="http://schemas.openxmlformats.org/drawingml/2006/main">
            <a:pPr algn="l">
              <a:defRPr sz="1725" b="0">
                <a:solidFill>
                  <a:srgbClr val="64748B"/>
                </a:solidFill>
                <a:latin typeface="Calibri"/>
                <a:ea typeface="Calibri"/>
                <a:cs typeface="Calibri"/>
              </a:defRPr>
            </a:pPr>
            <a:r>
              <a:rPr sz="1725" b="0">
                <a:solidFill>
                  <a:srgbClr val="64748B"/>
                </a:solidFill>
                <a:latin typeface="Calibri"/>
                <a:ea typeface="Calibri"/>
                <a:cs typeface="Calibri"/>
              </a:rPr>
              <a:t>Reqressiyanın MAE-si sadə ortadan bu qədər yüksəkdir.</a:t>
            </a:r>
          </a:p>
        </p:txBody>
      </p:sp>
      <p:sp>
        <p:nvSpPr>
          <p:cNvPr id="303" name="QƏRAR: Bu test reqressiyanın üstünlüyünü təsdiqləmir. D">
            <a:extLst xmlns:a="http://schemas.openxmlformats.org/drawingml/2006/main">
              <a:ext uri="{FF2B5EF4-FFF2-40B4-BE49-F238E27FC236}">
                <a16:creationId xmlns:a16="http://schemas.microsoft.com/office/drawing/2014/main" id="{F34290F4-F869-49A0-881B-03AD58A94929}"/>
              </a:ext>
            </a:extLst>
          </p:cNvPr>
          <p:cNvSpPr>
            <a:spLocks xmlns:a="http://schemas.openxmlformats.org/drawingml/2006/main" noGrp="1"/>
          </p:cNvSpPr>
          <p:nvPr/>
        </p:nvSpPr>
        <p:spPr>
          <a:xfrm xmlns:a="http://schemas.openxmlformats.org/drawingml/2006/main">
            <a:off x="571500" y="621982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D9E75"/>
                </a:solidFill>
                <a:latin typeface="Calibri"/>
                <a:ea typeface="Calibri"/>
                <a:cs typeface="Calibri"/>
              </a:defRPr>
            </a:defPPr>
            <a:lvl1pPr algn="l">
              <a:defRPr sz="1500" b="0">
                <a:solidFill>
                  <a:srgbClr val="1D9E75"/>
                </a:solidFill>
                <a:latin typeface="Calibri"/>
                <a:ea typeface="Calibri"/>
                <a:cs typeface="Calibri"/>
              </a:defRPr>
            </a:lvl1pPr>
            <a:lvl2pPr algn="l">
              <a:defRPr sz="1500" b="0">
                <a:solidFill>
                  <a:srgbClr val="1D9E75"/>
                </a:solidFill>
                <a:latin typeface="Calibri"/>
                <a:ea typeface="Calibri"/>
                <a:cs typeface="Calibri"/>
              </a:defRPr>
            </a:lvl2pPr>
            <a:lvl3pPr algn="l">
              <a:defRPr sz="1500" b="0">
                <a:solidFill>
                  <a:srgbClr val="1D9E75"/>
                </a:solidFill>
                <a:latin typeface="Calibri"/>
                <a:ea typeface="Calibri"/>
                <a:cs typeface="Calibri"/>
              </a:defRPr>
            </a:lvl3pPr>
            <a:lvl4pPr algn="l">
              <a:defRPr sz="1500" b="0">
                <a:solidFill>
                  <a:srgbClr val="1D9E75"/>
                </a:solidFill>
                <a:latin typeface="Calibri"/>
                <a:ea typeface="Calibri"/>
                <a:cs typeface="Calibri"/>
              </a:defRPr>
            </a:lvl4pPr>
            <a:lvl5pPr algn="l">
              <a:defRPr sz="1500" b="0">
                <a:solidFill>
                  <a:srgbClr val="1D9E75"/>
                </a:solidFill>
                <a:latin typeface="Calibri"/>
                <a:ea typeface="Calibri"/>
                <a:cs typeface="Calibri"/>
              </a:defRPr>
            </a:lvl5pPr>
            <a:lvl6pPr algn="l">
              <a:defRPr sz="1500" b="0">
                <a:solidFill>
                  <a:srgbClr val="1D9E75"/>
                </a:solidFill>
                <a:latin typeface="Calibri"/>
                <a:ea typeface="Calibri"/>
                <a:cs typeface="Calibri"/>
              </a:defRPr>
            </a:lvl6pPr>
            <a:lvl7pPr algn="l">
              <a:defRPr sz="1500" b="0">
                <a:solidFill>
                  <a:srgbClr val="1D9E75"/>
                </a:solidFill>
                <a:latin typeface="Calibri"/>
                <a:ea typeface="Calibri"/>
                <a:cs typeface="Calibri"/>
              </a:defRPr>
            </a:lvl7pPr>
            <a:lvl8pPr algn="l">
              <a:defRPr sz="1500" b="0">
                <a:solidFill>
                  <a:srgbClr val="1D9E75"/>
                </a:solidFill>
                <a:latin typeface="Calibri"/>
                <a:ea typeface="Calibri"/>
                <a:cs typeface="Calibri"/>
              </a:defRPr>
            </a:lvl8pPr>
            <a:lvl9pPr algn="l">
              <a:defRPr sz="1500" b="0">
                <a:solidFill>
                  <a:srgbClr val="1D9E75"/>
                </a:solidFill>
                <a:latin typeface="Calibri"/>
                <a:ea typeface="Calibri"/>
                <a:cs typeface="Calibri"/>
              </a:defRPr>
            </a:lvl9pPr>
          </a:lstStyle>
          <a:p xmlns:a="http://schemas.openxmlformats.org/drawingml/2006/main">
            <a:pPr algn="l">
              <a:defRPr sz="1500" b="0">
                <a:solidFill>
                  <a:srgbClr val="1D9E75"/>
                </a:solidFill>
                <a:latin typeface="Calibri"/>
                <a:ea typeface="Calibri"/>
                <a:cs typeface="Calibri"/>
              </a:defRPr>
            </a:pPr>
            <a:r>
              <a:rPr sz="1500" b="0">
                <a:solidFill>
                  <a:srgbClr val="1D9E75"/>
                </a:solidFill>
                <a:latin typeface="Calibri"/>
                <a:ea typeface="Calibri"/>
                <a:cs typeface="Calibri"/>
              </a:rPr>
              <a:t>QƏRAR: Bu test reqressiyanın üstünlüyünü təsdiqləmir. Daha uzun və tam məlumat lazımdır.</a:t>
            </a:r>
          </a:p>
        </p:txBody>
      </p:sp>
    </p:spTree>
    <p:extLst>
      <p:ext uri="{BB962C8B-B14F-4D97-AF65-F5344CB8AC3E}">
        <p14:creationId xmlns:p14="http://schemas.microsoft.com/office/powerpoint/2010/main" val="1983580583"/>
      </p:ext>
    </p:extLst>
  </p:cSld>
</p:sld>
</file>

<file path=ppt/slides/slide19.xml><?xml version="1.0" encoding="utf-8"?>
<p:sld xmlns:p="http://schemas.openxmlformats.org/presentationml/2006/main">
  <p:cSld>
    <p:bg>
      <p:bgPr>
        <a:solidFill xmlns:a="http://schemas.openxmlformats.org/drawingml/2006/main">
          <a:srgbClr val="0C2D4D"/>
        </a:solidFill>
      </p:bgPr>
    </p:bg>
    <p:spTree>
      <p:nvGrpSpPr>
        <p:cNvPr id="1" name=""/>
        <p:cNvGrpSpPr/>
        <p:nvPr/>
      </p:nvGrpSpPr>
      <p:grpSpPr>
        <a:xfrm xmlns:a="http://schemas.openxmlformats.org/drawingml/2006/main"/>
      </p:grpSpPr>
      <p:sp>
        <p:nvSpPr>
          <p:cNvPr id="318" name="Google Shape;318;p19">
            <a:extLst xmlns:a="http://schemas.openxmlformats.org/drawingml/2006/main">
              <a:ext uri="{FF2B5EF4-FFF2-40B4-BE49-F238E27FC236}">
                <a16:creationId xmlns:a16="http://schemas.microsoft.com/office/drawing/2014/main" id="{F44715AF-67BB-449B-9731-4E93BD383BDE}"/>
              </a:ext>
            </a:extLst>
          </p:cNvPr>
          <p:cNvSpPr>
            <a:spLocks xmlns:a="http://schemas.openxmlformats.org/drawingml/2006/main" noGrp="1"/>
          </p:cNvSpPr>
          <p:nvPr/>
        </p:nvSpPr>
        <p:spPr>
          <a:xfrm xmlns:a="http://schemas.openxmlformats.org/drawingml/2006/main">
            <a:off x="566928" y="457200"/>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6FD0B0"/>
              </a:buClr>
              <a:buSzPts val="1250"/>
              <a:buFont typeface="Trebuchet MS"/>
              <a:buNone/>
            </a:pPr>
            <a:r>
              <a:rPr sz="1250" b="1">
                <a:solidFill>
                  <a:srgbClr val="6FD0B0"/>
                </a:solidFill>
                <a:latin typeface="Trebuchet MS"/>
                <a:ea typeface="Trebuchet MS"/>
                <a:cs typeface="Trebuchet MS"/>
              </a:rPr>
              <a:t>4  XÜLASƏ</a:t>
            </a:r>
            <a:endParaRPr sz="1250">
              <a:solidFill>
                <a:schemeClr val="dk1"/>
              </a:solidFill>
              <a:latin typeface="Calibri"/>
              <a:ea typeface="Calibri"/>
              <a:cs typeface="Calibri"/>
            </a:endParaRPr>
          </a:p>
        </p:txBody>
      </p:sp>
      <p:sp>
        <p:nvSpPr>
          <p:cNvPr id="319" name="Google Shape;319;p19">
            <a:extLst xmlns:a="http://schemas.openxmlformats.org/drawingml/2006/main">
              <a:ext uri="{FF2B5EF4-FFF2-40B4-BE49-F238E27FC236}">
                <a16:creationId xmlns:a16="http://schemas.microsoft.com/office/drawing/2014/main" id="{38C5A65D-C40F-4338-9B5C-7C5C4684FF1F}"/>
              </a:ext>
            </a:extLst>
          </p:cNvPr>
          <p:cNvSpPr>
            <a:spLocks xmlns:a="http://schemas.openxmlformats.org/drawingml/2006/main" noGrp="1"/>
          </p:cNvSpPr>
          <p:nvPr/>
        </p:nvSpPr>
        <p:spPr>
          <a:xfrm xmlns:a="http://schemas.openxmlformats.org/drawingml/2006/main">
            <a:off x="566928" y="786384"/>
            <a:ext cx="109728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2900"/>
              <a:buFont typeface="Trebuchet MS"/>
              <a:buNone/>
            </a:pPr>
            <a:r>
              <a:rPr sz="2900" b="1">
                <a:solidFill>
                  <a:srgbClr val="FFFFFF"/>
                </a:solidFill>
                <a:latin typeface="Trebuchet MS"/>
                <a:ea typeface="Trebuchet MS"/>
                <a:cs typeface="Trebuchet MS"/>
              </a:rPr>
              <a:t>Əsas nəticələr</a:t>
            </a:r>
            <a:endParaRPr sz="2900">
              <a:solidFill>
                <a:schemeClr val="dk1"/>
              </a:solidFill>
              <a:latin typeface="Calibri"/>
              <a:ea typeface="Calibri"/>
              <a:cs typeface="Calibri"/>
            </a:endParaRPr>
          </a:p>
        </p:txBody>
      </p:sp>
      <p:sp>
        <p:nvSpPr>
          <p:cNvPr id="320" name="Google Shape;320;p19">
            <a:extLst xmlns:a="http://schemas.openxmlformats.org/drawingml/2006/main">
              <a:ext uri="{FF2B5EF4-FFF2-40B4-BE49-F238E27FC236}">
                <a16:creationId xmlns:a16="http://schemas.microsoft.com/office/drawing/2014/main" id="{01DDC693-4F3F-47DF-9187-72B153C18B55}"/>
              </a:ext>
            </a:extLst>
          </p:cNvPr>
          <p:cNvSpPr>
            <a:spLocks xmlns:a="http://schemas.openxmlformats.org/drawingml/2006/main" noGrp="1"/>
          </p:cNvSpPr>
          <p:nvPr/>
        </p:nvSpPr>
        <p:spPr>
          <a:xfrm xmlns:a="http://schemas.openxmlformats.org/drawingml/2006/main">
            <a:off x="566928" y="1828800"/>
            <a:ext cx="82296" cy="960120"/>
          </a:xfrm>
          <a:prstGeom xmlns:a="http://schemas.openxmlformats.org/drawingml/2006/main" prst="rect">
            <a:avLst/>
          </a:prstGeom>
          <a:solidFill xmlns:a="http://schemas.openxmlformats.org/drawingml/2006/main">
            <a:srgbClr val="7FB3E8"/>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1" name="Google Shape;321;p19">
            <a:extLst xmlns:a="http://schemas.openxmlformats.org/drawingml/2006/main">
              <a:ext uri="{FF2B5EF4-FFF2-40B4-BE49-F238E27FC236}">
                <a16:creationId xmlns:a16="http://schemas.microsoft.com/office/drawing/2014/main" id="{F89C87F5-2D55-416A-A3CB-35CD13917584}"/>
              </a:ext>
            </a:extLst>
          </p:cNvPr>
          <p:cNvSpPr>
            <a:spLocks xmlns:a="http://schemas.openxmlformats.org/drawingml/2006/main" noGrp="1"/>
          </p:cNvSpPr>
          <p:nvPr/>
        </p:nvSpPr>
        <p:spPr>
          <a:xfrm xmlns:a="http://schemas.openxmlformats.org/drawingml/2006/main">
            <a:off x="868680" y="1847088"/>
            <a:ext cx="29260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800"/>
              <a:buFont typeface="Trebuchet MS"/>
              <a:buNone/>
            </a:pPr>
            <a:r>
              <a:rPr sz="1800" b="1">
                <a:solidFill>
                  <a:srgbClr val="FFFFFF"/>
                </a:solidFill>
                <a:latin typeface="Trebuchet MS"/>
                <a:ea typeface="Trebuchet MS"/>
                <a:cs typeface="Trebuchet MS"/>
              </a:rPr>
              <a:t>Satış strukturu</a:t>
            </a:r>
            <a:endParaRPr sz="1800">
              <a:solidFill>
                <a:schemeClr val="dk1"/>
              </a:solidFill>
              <a:latin typeface="Calibri"/>
              <a:ea typeface="Calibri"/>
              <a:cs typeface="Calibri"/>
            </a:endParaRPr>
          </a:p>
        </p:txBody>
      </p:sp>
      <p:sp>
        <p:nvSpPr>
          <p:cNvPr id="322" name="Google Shape;322;p19">
            <a:extLst xmlns:a="http://schemas.openxmlformats.org/drawingml/2006/main">
              <a:ext uri="{FF2B5EF4-FFF2-40B4-BE49-F238E27FC236}">
                <a16:creationId xmlns:a16="http://schemas.microsoft.com/office/drawing/2014/main" id="{34ABBD2C-7CD0-4A26-9E4E-5D5294EB8C2A}"/>
              </a:ext>
            </a:extLst>
          </p:cNvPr>
          <p:cNvSpPr>
            <a:spLocks xmlns:a="http://schemas.openxmlformats.org/drawingml/2006/main" noGrp="1"/>
          </p:cNvSpPr>
          <p:nvPr/>
        </p:nvSpPr>
        <p:spPr>
          <a:xfrm xmlns:a="http://schemas.openxmlformats.org/drawingml/2006/main">
            <a:off x="3840480" y="1865376"/>
            <a:ext cx="7772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650">
                <a:solidFill>
                  <a:srgbClr val="CADCFC"/>
                </a:solidFill>
                <a:latin typeface="Calibri"/>
                <a:ea typeface="Calibri"/>
                <a:cs typeface="Calibri"/>
              </a:defRPr>
            </a:defPPr>
            <a:lvl1pPr>
              <a:defRPr sz="1650">
                <a:solidFill>
                  <a:srgbClr val="CADCFC"/>
                </a:solidFill>
                <a:latin typeface="Calibri"/>
                <a:ea typeface="Calibri"/>
                <a:cs typeface="Calibri"/>
              </a:defRPr>
            </a:lvl1pPr>
            <a:lvl2pPr>
              <a:defRPr sz="1650">
                <a:solidFill>
                  <a:srgbClr val="CADCFC"/>
                </a:solidFill>
                <a:latin typeface="Calibri"/>
                <a:ea typeface="Calibri"/>
                <a:cs typeface="Calibri"/>
              </a:defRPr>
            </a:lvl2pPr>
            <a:lvl3pPr>
              <a:defRPr sz="1650">
                <a:solidFill>
                  <a:srgbClr val="CADCFC"/>
                </a:solidFill>
                <a:latin typeface="Calibri"/>
                <a:ea typeface="Calibri"/>
                <a:cs typeface="Calibri"/>
              </a:defRPr>
            </a:lvl3pPr>
            <a:lvl4pPr>
              <a:defRPr sz="1650">
                <a:solidFill>
                  <a:srgbClr val="CADCFC"/>
                </a:solidFill>
                <a:latin typeface="Calibri"/>
                <a:ea typeface="Calibri"/>
                <a:cs typeface="Calibri"/>
              </a:defRPr>
            </a:lvl4pPr>
            <a:lvl5pPr>
              <a:defRPr sz="1650">
                <a:solidFill>
                  <a:srgbClr val="CADCFC"/>
                </a:solidFill>
                <a:latin typeface="Calibri"/>
                <a:ea typeface="Calibri"/>
                <a:cs typeface="Calibri"/>
              </a:defRPr>
            </a:lvl5pPr>
            <a:lvl6pPr>
              <a:defRPr sz="1650">
                <a:solidFill>
                  <a:srgbClr val="CADCFC"/>
                </a:solidFill>
                <a:latin typeface="Calibri"/>
                <a:ea typeface="Calibri"/>
                <a:cs typeface="Calibri"/>
              </a:defRPr>
            </a:lvl6pPr>
            <a:lvl7pPr>
              <a:defRPr sz="1650">
                <a:solidFill>
                  <a:srgbClr val="CADCFC"/>
                </a:solidFill>
                <a:latin typeface="Calibri"/>
                <a:ea typeface="Calibri"/>
                <a:cs typeface="Calibri"/>
              </a:defRPr>
            </a:lvl7pPr>
            <a:lvl8pPr>
              <a:defRPr sz="1650">
                <a:solidFill>
                  <a:srgbClr val="CADCFC"/>
                </a:solidFill>
                <a:latin typeface="Calibri"/>
                <a:ea typeface="Calibri"/>
                <a:cs typeface="Calibri"/>
              </a:defRPr>
            </a:lvl8pPr>
            <a:lvl9pPr>
              <a:defRPr sz="1650">
                <a:solidFill>
                  <a:srgbClr val="CADCFC"/>
                </a:solidFill>
                <a:latin typeface="Calibri"/>
                <a:ea typeface="Calibri"/>
                <a:cs typeface="Calibri"/>
              </a:defRPr>
            </a:lvl9pPr>
          </a:lstStyle>
          <a:p xmlns:a="http://schemas.openxmlformats.org/drawingml/2006/main">
            <a:pPr marL="0" marR="0" lvl="0" indent="0" algn="l">
              <a:lnSpc>
                <a:spcPct val="108000"/>
              </a:lnSpc>
              <a:spcBef>
                <a:spcPts val="0"/>
              </a:spcBef>
              <a:spcAft>
                <a:spcPts val="0"/>
              </a:spcAft>
              <a:buClr>
                <a:srgbClr val="CADCFC"/>
              </a:buClr>
              <a:buSzPts val="1450"/>
              <a:buFont typeface="Calibri"/>
              <a:buNone/>
              <a:defRPr sz="1650">
                <a:solidFill>
                  <a:srgbClr val="CADCFC"/>
                </a:solidFill>
                <a:latin typeface="Calibri"/>
                <a:ea typeface="Calibri"/>
                <a:cs typeface="Calibri"/>
              </a:defRPr>
            </a:pPr>
            <a:r>
              <a:rPr sz="1650">
                <a:solidFill>
                  <a:srgbClr val="CADCFC"/>
                </a:solidFill>
                <a:latin typeface="Calibri"/>
                <a:ea typeface="Calibri"/>
                <a:cs typeface="Calibri"/>
              </a:rPr>
              <a:t>Satış gəliri 55,01 mln AZN, sətir üzrə median 1,80 AZN-dir. 100 AZN-dən baha məhsullar gəlirin 24,9%-ni yaradır.</a:t>
            </a:r>
            <a:endParaRPr sz="1450">
              <a:solidFill>
                <a:schemeClr val="dk1"/>
              </a:solidFill>
              <a:latin typeface="Calibri"/>
              <a:ea typeface="Calibri"/>
              <a:cs typeface="Calibri"/>
            </a:endParaRPr>
          </a:p>
        </p:txBody>
      </p:sp>
      <p:sp>
        <p:nvSpPr>
          <p:cNvPr id="323" name="Google Shape;323;p19">
            <a:extLst xmlns:a="http://schemas.openxmlformats.org/drawingml/2006/main">
              <a:ext uri="{FF2B5EF4-FFF2-40B4-BE49-F238E27FC236}">
                <a16:creationId xmlns:a16="http://schemas.microsoft.com/office/drawing/2014/main" id="{639C6531-AD0D-4D47-BC03-BABEB5973E26}"/>
              </a:ext>
            </a:extLst>
          </p:cNvPr>
          <p:cNvSpPr>
            <a:spLocks xmlns:a="http://schemas.openxmlformats.org/drawingml/2006/main" noGrp="1"/>
          </p:cNvSpPr>
          <p:nvPr/>
        </p:nvSpPr>
        <p:spPr>
          <a:xfrm xmlns:a="http://schemas.openxmlformats.org/drawingml/2006/main">
            <a:off x="566928" y="2944368"/>
            <a:ext cx="82296" cy="960120"/>
          </a:xfrm>
          <a:prstGeom xmlns:a="http://schemas.openxmlformats.org/drawingml/2006/main" prst="rect">
            <a:avLst/>
          </a:prstGeom>
          <a:solidFill xmlns:a="http://schemas.openxmlformats.org/drawingml/2006/main">
            <a:srgbClr val="E8927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4" name="Google Shape;324;p19">
            <a:extLst xmlns:a="http://schemas.openxmlformats.org/drawingml/2006/main">
              <a:ext uri="{FF2B5EF4-FFF2-40B4-BE49-F238E27FC236}">
                <a16:creationId xmlns:a16="http://schemas.microsoft.com/office/drawing/2014/main" id="{8D244F2D-A327-4EBE-909E-8D209EC6A21E}"/>
              </a:ext>
            </a:extLst>
          </p:cNvPr>
          <p:cNvSpPr>
            <a:spLocks xmlns:a="http://schemas.openxmlformats.org/drawingml/2006/main" noGrp="1"/>
          </p:cNvSpPr>
          <p:nvPr/>
        </p:nvSpPr>
        <p:spPr>
          <a:xfrm xmlns:a="http://schemas.openxmlformats.org/drawingml/2006/main">
            <a:off x="868680" y="2962656"/>
            <a:ext cx="29260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725" b="1">
                <a:solidFill>
                  <a:srgbClr val="FFFFFF"/>
                </a:solidFill>
                <a:latin typeface="Trebuchet MS"/>
                <a:ea typeface="Trebuchet MS"/>
                <a:cs typeface="Trebuchet MS"/>
              </a:defRPr>
            </a:defPPr>
            <a:lvl1pPr>
              <a:defRPr sz="1725" b="1">
                <a:solidFill>
                  <a:srgbClr val="FFFFFF"/>
                </a:solidFill>
                <a:latin typeface="Trebuchet MS"/>
                <a:ea typeface="Trebuchet MS"/>
                <a:cs typeface="Trebuchet MS"/>
              </a:defRPr>
            </a:lvl1pPr>
            <a:lvl2pPr>
              <a:defRPr sz="1725" b="1">
                <a:solidFill>
                  <a:srgbClr val="FFFFFF"/>
                </a:solidFill>
                <a:latin typeface="Trebuchet MS"/>
                <a:ea typeface="Trebuchet MS"/>
                <a:cs typeface="Trebuchet MS"/>
              </a:defRPr>
            </a:lvl2pPr>
            <a:lvl3pPr>
              <a:defRPr sz="1725" b="1">
                <a:solidFill>
                  <a:srgbClr val="FFFFFF"/>
                </a:solidFill>
                <a:latin typeface="Trebuchet MS"/>
                <a:ea typeface="Trebuchet MS"/>
                <a:cs typeface="Trebuchet MS"/>
              </a:defRPr>
            </a:lvl3pPr>
            <a:lvl4pPr>
              <a:defRPr sz="1725" b="1">
                <a:solidFill>
                  <a:srgbClr val="FFFFFF"/>
                </a:solidFill>
                <a:latin typeface="Trebuchet MS"/>
                <a:ea typeface="Trebuchet MS"/>
                <a:cs typeface="Trebuchet MS"/>
              </a:defRPr>
            </a:lvl4pPr>
            <a:lvl5pPr>
              <a:defRPr sz="1725" b="1">
                <a:solidFill>
                  <a:srgbClr val="FFFFFF"/>
                </a:solidFill>
                <a:latin typeface="Trebuchet MS"/>
                <a:ea typeface="Trebuchet MS"/>
                <a:cs typeface="Trebuchet MS"/>
              </a:defRPr>
            </a:lvl5pPr>
            <a:lvl6pPr>
              <a:defRPr sz="1725" b="1">
                <a:solidFill>
                  <a:srgbClr val="FFFFFF"/>
                </a:solidFill>
                <a:latin typeface="Trebuchet MS"/>
                <a:ea typeface="Trebuchet MS"/>
                <a:cs typeface="Trebuchet MS"/>
              </a:defRPr>
            </a:lvl6pPr>
            <a:lvl7pPr>
              <a:defRPr sz="1725" b="1">
                <a:solidFill>
                  <a:srgbClr val="FFFFFF"/>
                </a:solidFill>
                <a:latin typeface="Trebuchet MS"/>
                <a:ea typeface="Trebuchet MS"/>
                <a:cs typeface="Trebuchet MS"/>
              </a:defRPr>
            </a:lvl7pPr>
            <a:lvl8pPr>
              <a:defRPr sz="1725" b="1">
                <a:solidFill>
                  <a:srgbClr val="FFFFFF"/>
                </a:solidFill>
                <a:latin typeface="Trebuchet MS"/>
                <a:ea typeface="Trebuchet MS"/>
                <a:cs typeface="Trebuchet MS"/>
              </a:defRPr>
            </a:lvl8pPr>
            <a:lvl9pPr>
              <a:defRPr sz="1725" b="1">
                <a:solidFill>
                  <a:srgbClr val="FFFFFF"/>
                </a:solidFill>
                <a:latin typeface="Trebuchet MS"/>
                <a:ea typeface="Trebuchet MS"/>
                <a:cs typeface="Trebuchet MS"/>
              </a:defRPr>
            </a:lvl9pPr>
          </a:lstStyle>
          <a:p xmlns:a="http://schemas.openxmlformats.org/drawingml/2006/main">
            <a:pPr marL="0" marR="0" lvl="0" indent="0" algn="l">
              <a:spcBef>
                <a:spcPts val="0"/>
              </a:spcBef>
              <a:spcAft>
                <a:spcPts val="0"/>
              </a:spcAft>
              <a:buClr>
                <a:srgbClr val="FFFFFF"/>
              </a:buClr>
              <a:buSzPts val="1800"/>
              <a:buFont typeface="Trebuchet MS"/>
              <a:buNone/>
              <a:defRPr sz="1725" b="1">
                <a:solidFill>
                  <a:srgbClr val="FFFFFF"/>
                </a:solidFill>
                <a:latin typeface="Trebuchet MS"/>
                <a:ea typeface="Trebuchet MS"/>
                <a:cs typeface="Trebuchet MS"/>
              </a:defRPr>
            </a:pPr>
            <a:r>
              <a:rPr sz="1725" b="1">
                <a:solidFill>
                  <a:srgbClr val="FFFFFF"/>
                </a:solidFill>
                <a:latin typeface="Trebuchet MS"/>
                <a:ea typeface="Trebuchet MS"/>
                <a:cs typeface="Trebuchet MS"/>
              </a:rPr>
              <a:t>Məlumat keyfiyyəti</a:t>
            </a:r>
            <a:endParaRPr sz="1800">
              <a:solidFill>
                <a:schemeClr val="dk1"/>
              </a:solidFill>
              <a:latin typeface="Calibri"/>
              <a:ea typeface="Calibri"/>
              <a:cs typeface="Calibri"/>
            </a:endParaRPr>
          </a:p>
        </p:txBody>
      </p:sp>
      <p:sp>
        <p:nvSpPr>
          <p:cNvPr id="325" name="Google Shape;325;p19">
            <a:extLst xmlns:a="http://schemas.openxmlformats.org/drawingml/2006/main">
              <a:ext uri="{FF2B5EF4-FFF2-40B4-BE49-F238E27FC236}">
                <a16:creationId xmlns:a16="http://schemas.microsoft.com/office/drawing/2014/main" id="{F668C91A-2C9F-4E56-9BFB-0107CAC2D0BC}"/>
              </a:ext>
            </a:extLst>
          </p:cNvPr>
          <p:cNvSpPr>
            <a:spLocks xmlns:a="http://schemas.openxmlformats.org/drawingml/2006/main" noGrp="1"/>
          </p:cNvSpPr>
          <p:nvPr/>
        </p:nvSpPr>
        <p:spPr>
          <a:xfrm xmlns:a="http://schemas.openxmlformats.org/drawingml/2006/main">
            <a:off x="3840480" y="2980944"/>
            <a:ext cx="7772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650">
                <a:solidFill>
                  <a:srgbClr val="CADCFC"/>
                </a:solidFill>
                <a:latin typeface="Calibri"/>
                <a:ea typeface="Calibri"/>
                <a:cs typeface="Calibri"/>
              </a:defRPr>
            </a:defPPr>
            <a:lvl1pPr>
              <a:defRPr sz="1650">
                <a:solidFill>
                  <a:srgbClr val="CADCFC"/>
                </a:solidFill>
                <a:latin typeface="Calibri"/>
                <a:ea typeface="Calibri"/>
                <a:cs typeface="Calibri"/>
              </a:defRPr>
            </a:lvl1pPr>
            <a:lvl2pPr>
              <a:defRPr sz="1650">
                <a:solidFill>
                  <a:srgbClr val="CADCFC"/>
                </a:solidFill>
                <a:latin typeface="Calibri"/>
                <a:ea typeface="Calibri"/>
                <a:cs typeface="Calibri"/>
              </a:defRPr>
            </a:lvl2pPr>
            <a:lvl3pPr>
              <a:defRPr sz="1650">
                <a:solidFill>
                  <a:srgbClr val="CADCFC"/>
                </a:solidFill>
                <a:latin typeface="Calibri"/>
                <a:ea typeface="Calibri"/>
                <a:cs typeface="Calibri"/>
              </a:defRPr>
            </a:lvl3pPr>
            <a:lvl4pPr>
              <a:defRPr sz="1650">
                <a:solidFill>
                  <a:srgbClr val="CADCFC"/>
                </a:solidFill>
                <a:latin typeface="Calibri"/>
                <a:ea typeface="Calibri"/>
                <a:cs typeface="Calibri"/>
              </a:defRPr>
            </a:lvl4pPr>
            <a:lvl5pPr>
              <a:defRPr sz="1650">
                <a:solidFill>
                  <a:srgbClr val="CADCFC"/>
                </a:solidFill>
                <a:latin typeface="Calibri"/>
                <a:ea typeface="Calibri"/>
                <a:cs typeface="Calibri"/>
              </a:defRPr>
            </a:lvl5pPr>
            <a:lvl6pPr>
              <a:defRPr sz="1650">
                <a:solidFill>
                  <a:srgbClr val="CADCFC"/>
                </a:solidFill>
                <a:latin typeface="Calibri"/>
                <a:ea typeface="Calibri"/>
                <a:cs typeface="Calibri"/>
              </a:defRPr>
            </a:lvl6pPr>
            <a:lvl7pPr>
              <a:defRPr sz="1650">
                <a:solidFill>
                  <a:srgbClr val="CADCFC"/>
                </a:solidFill>
                <a:latin typeface="Calibri"/>
                <a:ea typeface="Calibri"/>
                <a:cs typeface="Calibri"/>
              </a:defRPr>
            </a:lvl7pPr>
            <a:lvl8pPr>
              <a:defRPr sz="1650">
                <a:solidFill>
                  <a:srgbClr val="CADCFC"/>
                </a:solidFill>
                <a:latin typeface="Calibri"/>
                <a:ea typeface="Calibri"/>
                <a:cs typeface="Calibri"/>
              </a:defRPr>
            </a:lvl8pPr>
            <a:lvl9pPr>
              <a:defRPr sz="1650">
                <a:solidFill>
                  <a:srgbClr val="CADCFC"/>
                </a:solidFill>
                <a:latin typeface="Calibri"/>
                <a:ea typeface="Calibri"/>
                <a:cs typeface="Calibri"/>
              </a:defRPr>
            </a:lvl9pPr>
          </a:lstStyle>
          <a:p xmlns:a="http://schemas.openxmlformats.org/drawingml/2006/main">
            <a:pPr marL="0" marR="0" lvl="0" indent="0" algn="l">
              <a:lnSpc>
                <a:spcPct val="108000"/>
              </a:lnSpc>
              <a:spcBef>
                <a:spcPts val="0"/>
              </a:spcBef>
              <a:spcAft>
                <a:spcPts val="0"/>
              </a:spcAft>
              <a:buClr>
                <a:srgbClr val="CADCFC"/>
              </a:buClr>
              <a:buSzPts val="1450"/>
              <a:buFont typeface="Calibri"/>
              <a:buNone/>
              <a:defRPr sz="1650">
                <a:solidFill>
                  <a:srgbClr val="CADCFC"/>
                </a:solidFill>
                <a:latin typeface="Calibri"/>
                <a:ea typeface="Calibri"/>
                <a:cs typeface="Calibri"/>
              </a:defRPr>
            </a:pPr>
            <a:r>
              <a:rPr sz="1650">
                <a:solidFill>
                  <a:srgbClr val="CADCFC"/>
                </a:solidFill>
                <a:latin typeface="Calibri"/>
                <a:ea typeface="Calibri"/>
                <a:cs typeface="Calibri"/>
              </a:rPr>
              <a:t>43 təqvim günündən 24-ü normaldır. Məhsul xəritəsinin sətir əhatəsi 1,32%-dir. POS adı mağaza identifikatoru deyil.</a:t>
            </a:r>
            <a:endParaRPr sz="1450">
              <a:solidFill>
                <a:schemeClr val="dk1"/>
              </a:solidFill>
              <a:latin typeface="Calibri"/>
              <a:ea typeface="Calibri"/>
              <a:cs typeface="Calibri"/>
            </a:endParaRPr>
          </a:p>
        </p:txBody>
      </p:sp>
      <p:sp>
        <p:nvSpPr>
          <p:cNvPr id="326" name="Google Shape;326;p19">
            <a:extLst xmlns:a="http://schemas.openxmlformats.org/drawingml/2006/main">
              <a:ext uri="{FF2B5EF4-FFF2-40B4-BE49-F238E27FC236}">
                <a16:creationId xmlns:a16="http://schemas.microsoft.com/office/drawing/2014/main" id="{11024120-E237-473C-9C2A-C07FF2C57EE7}"/>
              </a:ext>
            </a:extLst>
          </p:cNvPr>
          <p:cNvSpPr>
            <a:spLocks xmlns:a="http://schemas.openxmlformats.org/drawingml/2006/main" noGrp="1"/>
          </p:cNvSpPr>
          <p:nvPr/>
        </p:nvSpPr>
        <p:spPr>
          <a:xfrm xmlns:a="http://schemas.openxmlformats.org/drawingml/2006/main">
            <a:off x="566928" y="4059936"/>
            <a:ext cx="82296" cy="960120"/>
          </a:xfrm>
          <a:prstGeom xmlns:a="http://schemas.openxmlformats.org/drawingml/2006/main" prst="rect">
            <a:avLst/>
          </a:prstGeom>
          <a:solidFill xmlns:a="http://schemas.openxmlformats.org/drawingml/2006/main">
            <a:srgbClr val="6FD0B0"/>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27" name="Google Shape;327;p19">
            <a:extLst xmlns:a="http://schemas.openxmlformats.org/drawingml/2006/main">
              <a:ext uri="{FF2B5EF4-FFF2-40B4-BE49-F238E27FC236}">
                <a16:creationId xmlns:a16="http://schemas.microsoft.com/office/drawing/2014/main" id="{67790DE0-7B02-4745-863B-2D1A360B4A3D}"/>
              </a:ext>
            </a:extLst>
          </p:cNvPr>
          <p:cNvSpPr>
            <a:spLocks xmlns:a="http://schemas.openxmlformats.org/drawingml/2006/main" noGrp="1"/>
          </p:cNvSpPr>
          <p:nvPr/>
        </p:nvSpPr>
        <p:spPr>
          <a:xfrm xmlns:a="http://schemas.openxmlformats.org/drawingml/2006/main">
            <a:off x="868680" y="4078224"/>
            <a:ext cx="29260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endParaRPr>
          </a:p>
        </p:txBody>
      </p:sp>
      <p:sp>
        <p:nvSpPr>
          <p:cNvPr id="328" name="Google Shape;328;p19">
            <a:extLst xmlns:a="http://schemas.openxmlformats.org/drawingml/2006/main">
              <a:ext uri="{FF2B5EF4-FFF2-40B4-BE49-F238E27FC236}">
                <a16:creationId xmlns:a16="http://schemas.microsoft.com/office/drawing/2014/main" id="{8342CD64-F702-4CDF-8803-943E5E4035A9}"/>
              </a:ext>
            </a:extLst>
          </p:cNvPr>
          <p:cNvSpPr>
            <a:spLocks xmlns:a="http://schemas.openxmlformats.org/drawingml/2006/main" noGrp="1"/>
          </p:cNvSpPr>
          <p:nvPr/>
        </p:nvSpPr>
        <p:spPr>
          <a:xfrm xmlns:a="http://schemas.openxmlformats.org/drawingml/2006/main">
            <a:off x="3840480" y="4096512"/>
            <a:ext cx="7772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chemeClr val="dk1"/>
              </a:buClr>
              <a:buSzPts val="1450"/>
              <a:buFont typeface="Calibri"/>
              <a:buNone/>
            </a:pPr>
            <a:r>
              <a:t/>
            </a:r>
            <a:endParaRPr sz="1450">
              <a:solidFill>
                <a:schemeClr val="dk1"/>
              </a:solidFill>
              <a:latin typeface="Calibri"/>
              <a:ea typeface="Calibri"/>
              <a:cs typeface="Calibri"/>
            </a:endParaRPr>
          </a:p>
        </p:txBody>
      </p:sp>
      <p:sp>
        <p:nvSpPr>
          <p:cNvPr id="329" name="Google Shape;329;p19">
            <a:extLst xmlns:a="http://schemas.openxmlformats.org/drawingml/2006/main">
              <a:ext uri="{FF2B5EF4-FFF2-40B4-BE49-F238E27FC236}">
                <a16:creationId xmlns:a16="http://schemas.microsoft.com/office/drawing/2014/main" id="{46B02A56-DCB1-4A3C-8A90-D1723A2437F6}"/>
              </a:ext>
            </a:extLst>
          </p:cNvPr>
          <p:cNvSpPr>
            <a:spLocks xmlns:a="http://schemas.openxmlformats.org/drawingml/2006/main" noGrp="1"/>
          </p:cNvSpPr>
          <p:nvPr/>
        </p:nvSpPr>
        <p:spPr>
          <a:xfrm xmlns:a="http://schemas.openxmlformats.org/drawingml/2006/main">
            <a:off x="868680" y="4305621"/>
            <a:ext cx="292608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800"/>
              <a:buFont typeface="Trebuchet MS"/>
              <a:buNone/>
            </a:pPr>
            <a:r>
              <a:rPr sz="1800" b="1">
                <a:solidFill>
                  <a:srgbClr val="FFFFFF"/>
                </a:solidFill>
                <a:latin typeface="Trebuchet MS"/>
                <a:ea typeface="Trebuchet MS"/>
                <a:cs typeface="Trebuchet MS"/>
              </a:rPr>
              <a:t>Modelin nəticəsi</a:t>
            </a:r>
            <a:endParaRPr sz="1800">
              <a:solidFill>
                <a:schemeClr val="dk1"/>
              </a:solidFill>
              <a:latin typeface="Calibri"/>
              <a:ea typeface="Calibri"/>
              <a:cs typeface="Calibri"/>
            </a:endParaRPr>
          </a:p>
        </p:txBody>
      </p:sp>
      <p:sp>
        <p:nvSpPr>
          <p:cNvPr id="330" name="Google Shape;330;p19">
            <a:extLst xmlns:a="http://schemas.openxmlformats.org/drawingml/2006/main">
              <a:ext uri="{FF2B5EF4-FFF2-40B4-BE49-F238E27FC236}">
                <a16:creationId xmlns:a16="http://schemas.microsoft.com/office/drawing/2014/main" id="{CDDEA8EB-2E0D-496B-8182-558ED32A8198}"/>
              </a:ext>
            </a:extLst>
          </p:cNvPr>
          <p:cNvSpPr>
            <a:spLocks xmlns:a="http://schemas.openxmlformats.org/drawingml/2006/main" noGrp="1"/>
          </p:cNvSpPr>
          <p:nvPr/>
        </p:nvSpPr>
        <p:spPr>
          <a:xfrm xmlns:a="http://schemas.openxmlformats.org/drawingml/2006/main">
            <a:off x="3840480" y="4297680"/>
            <a:ext cx="7772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defRPr sz="1650">
                <a:solidFill>
                  <a:srgbClr val="CADCFC"/>
                </a:solidFill>
                <a:latin typeface="Calibri"/>
                <a:ea typeface="Calibri"/>
                <a:cs typeface="Calibri"/>
              </a:defRPr>
            </a:defPPr>
            <a:lvl1pPr>
              <a:defRPr sz="1650">
                <a:solidFill>
                  <a:srgbClr val="CADCFC"/>
                </a:solidFill>
                <a:latin typeface="Calibri"/>
                <a:ea typeface="Calibri"/>
                <a:cs typeface="Calibri"/>
              </a:defRPr>
            </a:lvl1pPr>
            <a:lvl2pPr>
              <a:defRPr sz="1650">
                <a:solidFill>
                  <a:srgbClr val="CADCFC"/>
                </a:solidFill>
                <a:latin typeface="Calibri"/>
                <a:ea typeface="Calibri"/>
                <a:cs typeface="Calibri"/>
              </a:defRPr>
            </a:lvl2pPr>
            <a:lvl3pPr>
              <a:defRPr sz="1650">
                <a:solidFill>
                  <a:srgbClr val="CADCFC"/>
                </a:solidFill>
                <a:latin typeface="Calibri"/>
                <a:ea typeface="Calibri"/>
                <a:cs typeface="Calibri"/>
              </a:defRPr>
            </a:lvl3pPr>
            <a:lvl4pPr>
              <a:defRPr sz="1650">
                <a:solidFill>
                  <a:srgbClr val="CADCFC"/>
                </a:solidFill>
                <a:latin typeface="Calibri"/>
                <a:ea typeface="Calibri"/>
                <a:cs typeface="Calibri"/>
              </a:defRPr>
            </a:lvl4pPr>
            <a:lvl5pPr>
              <a:defRPr sz="1650">
                <a:solidFill>
                  <a:srgbClr val="CADCFC"/>
                </a:solidFill>
                <a:latin typeface="Calibri"/>
                <a:ea typeface="Calibri"/>
                <a:cs typeface="Calibri"/>
              </a:defRPr>
            </a:lvl5pPr>
            <a:lvl6pPr>
              <a:defRPr sz="1650">
                <a:solidFill>
                  <a:srgbClr val="CADCFC"/>
                </a:solidFill>
                <a:latin typeface="Calibri"/>
                <a:ea typeface="Calibri"/>
                <a:cs typeface="Calibri"/>
              </a:defRPr>
            </a:lvl6pPr>
            <a:lvl7pPr>
              <a:defRPr sz="1650">
                <a:solidFill>
                  <a:srgbClr val="CADCFC"/>
                </a:solidFill>
                <a:latin typeface="Calibri"/>
                <a:ea typeface="Calibri"/>
                <a:cs typeface="Calibri"/>
              </a:defRPr>
            </a:lvl7pPr>
            <a:lvl8pPr>
              <a:defRPr sz="1650">
                <a:solidFill>
                  <a:srgbClr val="CADCFC"/>
                </a:solidFill>
                <a:latin typeface="Calibri"/>
                <a:ea typeface="Calibri"/>
                <a:cs typeface="Calibri"/>
              </a:defRPr>
            </a:lvl8pPr>
            <a:lvl9pPr>
              <a:defRPr sz="1650">
                <a:solidFill>
                  <a:srgbClr val="CADCFC"/>
                </a:solidFill>
                <a:latin typeface="Calibri"/>
                <a:ea typeface="Calibri"/>
                <a:cs typeface="Calibri"/>
              </a:defRPr>
            </a:lvl9pPr>
          </a:lstStyle>
          <a:p xmlns:a="http://schemas.openxmlformats.org/drawingml/2006/main">
            <a:pPr marL="0" marR="0" lvl="0" indent="0" algn="l">
              <a:lnSpc>
                <a:spcPct val="108000"/>
              </a:lnSpc>
              <a:spcBef>
                <a:spcPts val="0"/>
              </a:spcBef>
              <a:spcAft>
                <a:spcPts val="0"/>
              </a:spcAft>
              <a:buClr>
                <a:srgbClr val="CADCFC"/>
              </a:buClr>
              <a:buSzPts val="1450"/>
              <a:buFont typeface="Calibri"/>
              <a:buNone/>
              <a:defRPr sz="1650">
                <a:solidFill>
                  <a:srgbClr val="CADCFC"/>
                </a:solidFill>
                <a:latin typeface="Calibri"/>
                <a:ea typeface="Calibri"/>
                <a:cs typeface="Calibri"/>
              </a:defRPr>
            </a:pPr>
            <a:r>
              <a:rPr sz="1650">
                <a:solidFill>
                  <a:srgbClr val="CADCFC"/>
                </a:solidFill>
                <a:latin typeface="Calibri"/>
                <a:ea typeface="Calibri"/>
                <a:cs typeface="Calibri"/>
              </a:rPr>
              <a:t>Reqressiyanın test MAPE-si 38,3%-dir. Sadə orta daha az MAE verir. Mövcud modelin planlama üçün etibarlılığı zəifdir.</a:t>
            </a:r>
            <a:endParaRPr sz="1450">
              <a:solidFill>
                <a:schemeClr val="dk1"/>
              </a:solidFill>
              <a:latin typeface="Calibri"/>
              <a:ea typeface="Calibri"/>
              <a:cs typeface="Calibri"/>
            </a:endParaRPr>
          </a:p>
        </p:txBody>
      </p:sp>
    </p:spTree>
    <p:extLst>
      <p:ext uri="{BB962C8B-B14F-4D97-AF65-F5344CB8AC3E}">
        <p14:creationId xmlns:p14="http://schemas.microsoft.com/office/powerpoint/2010/main" val="89733572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6" name="Google Shape;336;p20">
            <a:extLst xmlns:a="http://schemas.openxmlformats.org/drawingml/2006/main">
              <a:ext uri="{FF2B5EF4-FFF2-40B4-BE49-F238E27FC236}">
                <a16:creationId xmlns:a16="http://schemas.microsoft.com/office/drawing/2014/main" id="{4D4B8643-7DEF-48C6-993E-4EAEADBA7F96}"/>
              </a:ext>
            </a:extLst>
          </p:cNvPr>
          <p:cNvSpPr>
            <a:spLocks xmlns:a="http://schemas.openxmlformats.org/drawingml/2006/main" noGrp="1"/>
          </p:cNvSpPr>
          <p:nvPr/>
        </p:nvSpPr>
        <p:spPr>
          <a:xfrm xmlns:a="http://schemas.openxmlformats.org/drawingml/2006/main">
            <a:off x="566928" y="384048"/>
            <a:ext cx="1005840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43C63"/>
              </a:buClr>
              <a:buSzPts val="1250"/>
              <a:buFont typeface="Trebuchet MS"/>
              <a:buNone/>
            </a:pPr>
            <a:r>
              <a:rPr sz="1250" b="1">
                <a:solidFill>
                  <a:srgbClr val="143C63"/>
                </a:solidFill>
                <a:latin typeface="Trebuchet MS"/>
                <a:ea typeface="Trebuchet MS"/>
                <a:cs typeface="Trebuchet MS"/>
              </a:rPr>
              <a:t>4  XÜLASƏ</a:t>
            </a:r>
            <a:endParaRPr sz="1250">
              <a:solidFill>
                <a:schemeClr val="dk1"/>
              </a:solidFill>
              <a:latin typeface="Calibri"/>
              <a:ea typeface="Calibri"/>
              <a:cs typeface="Calibri"/>
            </a:endParaRPr>
          </a:p>
        </p:txBody>
      </p:sp>
      <p:sp>
        <p:nvSpPr>
          <p:cNvPr id="337" name="Google Shape;337;p20">
            <a:extLst xmlns:a="http://schemas.openxmlformats.org/drawingml/2006/main">
              <a:ext uri="{FF2B5EF4-FFF2-40B4-BE49-F238E27FC236}">
                <a16:creationId xmlns:a16="http://schemas.microsoft.com/office/drawing/2014/main" id="{A2824757-79A1-41EA-B890-8550226E9F72}"/>
              </a:ext>
            </a:extLst>
          </p:cNvPr>
          <p:cNvSpPr>
            <a:spLocks xmlns:a="http://schemas.openxmlformats.org/drawingml/2006/main" noGrp="1"/>
          </p:cNvSpPr>
          <p:nvPr/>
        </p:nvSpPr>
        <p:spPr>
          <a:xfrm xmlns:a="http://schemas.openxmlformats.org/drawingml/2006/main">
            <a:off x="566928" y="676656"/>
            <a:ext cx="1106424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93B"/>
              </a:buClr>
              <a:buSzPts val="2900"/>
              <a:buFont typeface="Trebuchet MS"/>
              <a:buNone/>
            </a:pPr>
            <a:r>
              <a:rPr sz="2900" b="1">
                <a:solidFill>
                  <a:srgbClr val="1E293B"/>
                </a:solidFill>
                <a:latin typeface="Trebuchet MS"/>
                <a:ea typeface="Trebuchet MS"/>
                <a:cs typeface="Trebuchet MS"/>
              </a:rPr>
              <a:t>Tövsiyələr və növbəti addımlar</a:t>
            </a:r>
            <a:endParaRPr sz="2900">
              <a:solidFill>
                <a:schemeClr val="dk1"/>
              </a:solidFill>
              <a:latin typeface="Calibri"/>
              <a:ea typeface="Calibri"/>
              <a:cs typeface="Calibri"/>
            </a:endParaRPr>
          </a:p>
        </p:txBody>
      </p:sp>
      <p:sp>
        <p:nvSpPr>
          <p:cNvPr id="338" name="Google Shape;338;p20">
            <a:extLst xmlns:a="http://schemas.openxmlformats.org/drawingml/2006/main">
              <a:ext uri="{FF2B5EF4-FFF2-40B4-BE49-F238E27FC236}">
                <a16:creationId xmlns:a16="http://schemas.microsoft.com/office/drawing/2014/main" id="{9D174E35-1475-49CF-AFD8-E0BC7F2B9C8F}"/>
              </a:ext>
            </a:extLst>
          </p:cNvPr>
          <p:cNvSpPr>
            <a:spLocks xmlns:a="http://schemas.openxmlformats.org/drawingml/2006/main" noGrp="1"/>
          </p:cNvSpPr>
          <p:nvPr/>
        </p:nvSpPr>
        <p:spPr>
          <a:xfrm xmlns:a="http://schemas.openxmlformats.org/drawingml/2006/main">
            <a:off x="566928" y="1783080"/>
            <a:ext cx="5440680" cy="429768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9" name="Google Shape;339;p20">
            <a:extLst xmlns:a="http://schemas.openxmlformats.org/drawingml/2006/main">
              <a:ext uri="{FF2B5EF4-FFF2-40B4-BE49-F238E27FC236}">
                <a16:creationId xmlns:a16="http://schemas.microsoft.com/office/drawing/2014/main" id="{475A3A18-9E7F-4242-99EC-A4FFA9C2CADA}"/>
              </a:ext>
            </a:extLst>
          </p:cNvPr>
          <p:cNvSpPr>
            <a:spLocks xmlns:a="http://schemas.openxmlformats.org/drawingml/2006/main" noGrp="1"/>
          </p:cNvSpPr>
          <p:nvPr/>
        </p:nvSpPr>
        <p:spPr>
          <a:xfrm xmlns:a="http://schemas.openxmlformats.org/drawingml/2006/main">
            <a:off x="868680" y="2011680"/>
            <a:ext cx="484632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43C63"/>
              </a:buClr>
              <a:buSzPts val="1800"/>
              <a:buFont typeface="Trebuchet MS"/>
              <a:buNone/>
            </a:pPr>
            <a:r>
              <a:rPr sz="1800" b="1">
                <a:solidFill>
                  <a:srgbClr val="143C63"/>
                </a:solidFill>
                <a:latin typeface="Trebuchet MS"/>
                <a:ea typeface="Trebuchet MS"/>
                <a:cs typeface="Trebuchet MS"/>
              </a:rPr>
              <a:t>Məlumatın etibarlılığı</a:t>
            </a:r>
            <a:endParaRPr sz="1800">
              <a:solidFill>
                <a:schemeClr val="dk1"/>
              </a:solidFill>
              <a:latin typeface="Calibri"/>
              <a:ea typeface="Calibri"/>
              <a:cs typeface="Calibri"/>
            </a:endParaRPr>
          </a:p>
        </p:txBody>
      </p:sp>
      <p:sp>
        <p:nvSpPr>
          <p:cNvPr id="340" name="Google Shape;340;p20">
            <a:extLst xmlns:a="http://schemas.openxmlformats.org/drawingml/2006/main">
              <a:ext uri="{FF2B5EF4-FFF2-40B4-BE49-F238E27FC236}">
                <a16:creationId xmlns:a16="http://schemas.microsoft.com/office/drawing/2014/main" id="{8ACE011E-411E-41F2-85A4-78B51B4B1FAB}"/>
              </a:ext>
            </a:extLst>
          </p:cNvPr>
          <p:cNvSpPr>
            <a:spLocks xmlns:a="http://schemas.openxmlformats.org/drawingml/2006/main" noGrp="1"/>
          </p:cNvSpPr>
          <p:nvPr/>
        </p:nvSpPr>
        <p:spPr>
          <a:xfrm xmlns:a="http://schemas.openxmlformats.org/drawingml/2006/main">
            <a:off x="868680" y="2809875"/>
            <a:ext cx="4846320" cy="290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650">
                <a:solidFill>
                  <a:srgbClr val="1E293B"/>
                </a:solidFill>
                <a:latin typeface="Calibri"/>
                <a:ea typeface="Calibri"/>
                <a:cs typeface="Calibri"/>
              </a:defRPr>
            </a:defPPr>
            <a:lvl1pPr>
              <a:defRPr sz="1650">
                <a:solidFill>
                  <a:srgbClr val="1E293B"/>
                </a:solidFill>
                <a:latin typeface="Calibri"/>
                <a:ea typeface="Calibri"/>
                <a:cs typeface="Calibri"/>
              </a:defRPr>
            </a:lvl1pPr>
            <a:lvl2pPr>
              <a:defRPr sz="1650">
                <a:solidFill>
                  <a:srgbClr val="1E293B"/>
                </a:solidFill>
                <a:latin typeface="Calibri"/>
                <a:ea typeface="Calibri"/>
                <a:cs typeface="Calibri"/>
              </a:defRPr>
            </a:lvl2pPr>
            <a:lvl3pPr>
              <a:defRPr sz="1650">
                <a:solidFill>
                  <a:srgbClr val="1E293B"/>
                </a:solidFill>
                <a:latin typeface="Calibri"/>
                <a:ea typeface="Calibri"/>
                <a:cs typeface="Calibri"/>
              </a:defRPr>
            </a:lvl3pPr>
            <a:lvl4pPr>
              <a:defRPr sz="1650">
                <a:solidFill>
                  <a:srgbClr val="1E293B"/>
                </a:solidFill>
                <a:latin typeface="Calibri"/>
                <a:ea typeface="Calibri"/>
                <a:cs typeface="Calibri"/>
              </a:defRPr>
            </a:lvl4pPr>
            <a:lvl5pPr>
              <a:defRPr sz="1650">
                <a:solidFill>
                  <a:srgbClr val="1E293B"/>
                </a:solidFill>
                <a:latin typeface="Calibri"/>
                <a:ea typeface="Calibri"/>
                <a:cs typeface="Calibri"/>
              </a:defRPr>
            </a:lvl5pPr>
            <a:lvl6pPr>
              <a:defRPr sz="1650">
                <a:solidFill>
                  <a:srgbClr val="1E293B"/>
                </a:solidFill>
                <a:latin typeface="Calibri"/>
                <a:ea typeface="Calibri"/>
                <a:cs typeface="Calibri"/>
              </a:defRPr>
            </a:lvl6pPr>
            <a:lvl7pPr>
              <a:defRPr sz="1650">
                <a:solidFill>
                  <a:srgbClr val="1E293B"/>
                </a:solidFill>
                <a:latin typeface="Calibri"/>
                <a:ea typeface="Calibri"/>
                <a:cs typeface="Calibri"/>
              </a:defRPr>
            </a:lvl7pPr>
            <a:lvl8pPr>
              <a:defRPr sz="1650">
                <a:solidFill>
                  <a:srgbClr val="1E293B"/>
                </a:solidFill>
                <a:latin typeface="Calibri"/>
                <a:ea typeface="Calibri"/>
                <a:cs typeface="Calibri"/>
              </a:defRPr>
            </a:lvl8pPr>
            <a:lvl9pPr>
              <a:defRPr sz="1650">
                <a:solidFill>
                  <a:srgbClr val="1E293B"/>
                </a:solidFill>
                <a:latin typeface="Calibri"/>
                <a:ea typeface="Calibri"/>
                <a:cs typeface="Calibri"/>
              </a:defRPr>
            </a:lvl9pPr>
          </a:lstStyle>
          <a:p xmlns:a="http://schemas.openxmlformats.org/drawingml/2006/main">
            <a:pPr marL="342900" marR="0" lvl="0" indent="-342900" algn="l">
              <a:spcBef>
                <a:spcPts val="0"/>
              </a:spcBef>
              <a:spcAft>
                <a:spcPts val="0"/>
              </a:spcAft>
              <a:buClr>
                <a:srgbClr val="1E293B"/>
              </a:buClr>
              <a:buSzPts val="1450"/>
              <a:buFont typeface="Calibri"/>
              <a:buChar char="•"/>
              <a:defRPr sz="1650">
                <a:solidFill>
                  <a:srgbClr val="1E293B"/>
                </a:solidFill>
                <a:latin typeface="Calibri"/>
                <a:ea typeface="Calibri"/>
                <a:cs typeface="Calibri"/>
              </a:defRPr>
            </a:pPr>
            <a:r>
              <a:rPr sz="1650">
                <a:solidFill>
                  <a:srgbClr val="1E293B"/>
                </a:solidFill>
                <a:latin typeface="Calibri"/>
                <a:ea typeface="Calibri"/>
                <a:cs typeface="Calibri"/>
              </a:rPr>
              <a:t>−1 düzəlişini mənbə sistemi ilə təsdiqləmək</a:t>
            </a:r>
            <a:endParaRPr sz="1450">
              <a:solidFill>
                <a:schemeClr val="dk1"/>
              </a:solidFill>
              <a:latin typeface="Calibri"/>
              <a:ea typeface="Calibri"/>
              <a:cs typeface="Calibri"/>
            </a:endParaRPr>
          </a:p>
          <a:p xmlns:a="http://schemas.openxmlformats.org/drawingml/2006/main">
            <a:pPr marL="342900" marR="0" lvl="0" indent="-342900" algn="l">
              <a:spcBef>
                <a:spcPts val="1000"/>
              </a:spcBef>
              <a:spcAft>
                <a:spcPts val="0"/>
              </a:spcAft>
              <a:buClr>
                <a:srgbClr val="1E293B"/>
              </a:buClr>
              <a:buSzPts val="1450"/>
              <a:buFont typeface="Calibri"/>
              <a:buChar char="•"/>
              <a:defRPr sz="1650">
                <a:solidFill>
                  <a:srgbClr val="1E293B"/>
                </a:solidFill>
                <a:latin typeface="Calibri"/>
                <a:ea typeface="Calibri"/>
                <a:cs typeface="Calibri"/>
              </a:defRPr>
            </a:pPr>
            <a:r>
              <a:rPr sz="1650">
                <a:solidFill>
                  <a:srgbClr val="1E293B"/>
                </a:solidFill>
                <a:latin typeface="Calibri"/>
                <a:ea typeface="Calibri"/>
                <a:cs typeface="Calibri"/>
              </a:rPr>
              <a:t>19 aprel və natamam günlərin yüklənməsini audit etmək</a:t>
            </a:r>
            <a:endParaRPr sz="1450">
              <a:solidFill>
                <a:schemeClr val="dk1"/>
              </a:solidFill>
              <a:latin typeface="Calibri"/>
              <a:ea typeface="Calibri"/>
              <a:cs typeface="Calibri"/>
            </a:endParaRPr>
          </a:p>
          <a:p xmlns:a="http://schemas.openxmlformats.org/drawingml/2006/main">
            <a:pPr marL="342900" marR="0" lvl="0" indent="-342900" algn="l">
              <a:spcBef>
                <a:spcPts val="1000"/>
              </a:spcBef>
              <a:spcAft>
                <a:spcPts val="0"/>
              </a:spcAft>
              <a:buClr>
                <a:srgbClr val="1E293B"/>
              </a:buClr>
              <a:buSzPts val="1450"/>
              <a:buFont typeface="Calibri"/>
              <a:buChar char="•"/>
              <a:defRPr sz="1650">
                <a:solidFill>
                  <a:srgbClr val="1E293B"/>
                </a:solidFill>
                <a:latin typeface="Calibri"/>
                <a:ea typeface="Calibri"/>
                <a:cs typeface="Calibri"/>
              </a:defRPr>
            </a:pPr>
            <a:r>
              <a:rPr sz="1650">
                <a:solidFill>
                  <a:srgbClr val="1E293B"/>
                </a:solidFill>
                <a:latin typeface="Calibri"/>
                <a:ea typeface="Calibri"/>
                <a:cs typeface="Calibri"/>
              </a:rPr>
              <a:t>VÖEN + obyekt kodu ilə POS-ları ayırmaq</a:t>
            </a:r>
            <a:endParaRPr sz="1450">
              <a:solidFill>
                <a:schemeClr val="dk1"/>
              </a:solidFill>
              <a:latin typeface="Calibri"/>
              <a:ea typeface="Calibri"/>
              <a:cs typeface="Calibri"/>
            </a:endParaRPr>
          </a:p>
          <a:p xmlns:a="http://schemas.openxmlformats.org/drawingml/2006/main">
            <a:pPr marL="342900" marR="0" lvl="0" indent="-342900" algn="l">
              <a:spcBef>
                <a:spcPts val="1000"/>
              </a:spcBef>
              <a:spcAft>
                <a:spcPts val="0"/>
              </a:spcAft>
              <a:buClr>
                <a:srgbClr val="1E293B"/>
              </a:buClr>
              <a:buSzPts val="1450"/>
              <a:buFont typeface="Calibri"/>
              <a:buChar char="•"/>
              <a:defRPr sz="1650">
                <a:solidFill>
                  <a:srgbClr val="1E293B"/>
                </a:solidFill>
                <a:latin typeface="Calibri"/>
                <a:ea typeface="Calibri"/>
                <a:cs typeface="Calibri"/>
              </a:defRPr>
            </a:pPr>
            <a:r>
              <a:rPr sz="1650">
                <a:solidFill>
                  <a:srgbClr val="1E293B"/>
                </a:solidFill>
                <a:latin typeface="Calibri"/>
                <a:ea typeface="Calibri"/>
                <a:cs typeface="Calibri"/>
              </a:rPr>
              <a:t>Qəbz identifikatorunu məhsul sətirlərinə bağlamaq</a:t>
            </a:r>
            <a:endParaRPr sz="1450">
              <a:solidFill>
                <a:schemeClr val="dk1"/>
              </a:solidFill>
              <a:latin typeface="Calibri"/>
              <a:ea typeface="Calibri"/>
              <a:cs typeface="Calibri"/>
            </a:endParaRPr>
          </a:p>
        </p:txBody>
      </p:sp>
      <p:sp>
        <p:nvSpPr>
          <p:cNvPr id="341" name="Google Shape;341;p20">
            <a:extLst xmlns:a="http://schemas.openxmlformats.org/drawingml/2006/main">
              <a:ext uri="{FF2B5EF4-FFF2-40B4-BE49-F238E27FC236}">
                <a16:creationId xmlns:a16="http://schemas.microsoft.com/office/drawing/2014/main" id="{40067BEE-83D3-47D9-AB43-8F2B5DE01CBE}"/>
              </a:ext>
            </a:extLst>
          </p:cNvPr>
          <p:cNvSpPr>
            <a:spLocks xmlns:a="http://schemas.openxmlformats.org/drawingml/2006/main" noGrp="1"/>
          </p:cNvSpPr>
          <p:nvPr/>
        </p:nvSpPr>
        <p:spPr>
          <a:xfrm xmlns:a="http://schemas.openxmlformats.org/drawingml/2006/main">
            <a:off x="6199632" y="1783080"/>
            <a:ext cx="5440680" cy="4297680"/>
          </a:xfrm>
          <a:prstGeom xmlns:a="http://schemas.openxmlformats.org/drawingml/2006/main" prst="rect">
            <a:avLst/>
          </a:prstGeom>
          <a:solidFill xmlns:a="http://schemas.openxmlformats.org/drawingml/2006/main">
            <a:srgbClr val="F4F7FA"/>
          </a:solidFill>
          <a:ln xmlns:a="http://schemas.openxmlformats.org/drawingml/2006/main">
            <a:noFill/>
          </a:ln>
          <a:effectLst xmlns:a="http://schemas.openxmlformats.org/drawingml/2006/main">
            <a:outerShdw blurRad="88900" dist="38100" dir="5400000" algn="bl" rotWithShape="0">
              <a:srgbClr val="94A3B8">
                <a:alpha val="21961"/>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42" name="Google Shape;342;p20">
            <a:extLst xmlns:a="http://schemas.openxmlformats.org/drawingml/2006/main">
              <a:ext uri="{FF2B5EF4-FFF2-40B4-BE49-F238E27FC236}">
                <a16:creationId xmlns:a16="http://schemas.microsoft.com/office/drawing/2014/main" id="{0CA7FC69-9458-487C-8795-A5AC4247667E}"/>
              </a:ext>
            </a:extLst>
          </p:cNvPr>
          <p:cNvSpPr>
            <a:spLocks xmlns:a="http://schemas.openxmlformats.org/drawingml/2006/main" noGrp="1"/>
          </p:cNvSpPr>
          <p:nvPr/>
        </p:nvSpPr>
        <p:spPr>
          <a:xfrm xmlns:a="http://schemas.openxmlformats.org/drawingml/2006/main">
            <a:off x="6501384" y="2011680"/>
            <a:ext cx="484632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D9E75"/>
              </a:buClr>
              <a:buSzPts val="1800"/>
              <a:buFont typeface="Trebuchet MS"/>
              <a:buNone/>
            </a:pPr>
            <a:r>
              <a:rPr sz="1800" b="1">
                <a:solidFill>
                  <a:srgbClr val="1D9E75"/>
                </a:solidFill>
                <a:latin typeface="Trebuchet MS"/>
                <a:ea typeface="Trebuchet MS"/>
                <a:cs typeface="Trebuchet MS"/>
              </a:rPr>
              <a:t>Məhsul və proqnoz bazası</a:t>
            </a:r>
            <a:endParaRPr sz="1800">
              <a:solidFill>
                <a:schemeClr val="dk1"/>
              </a:solidFill>
              <a:latin typeface="Calibri"/>
              <a:ea typeface="Calibri"/>
              <a:cs typeface="Calibri"/>
            </a:endParaRPr>
          </a:p>
        </p:txBody>
      </p:sp>
      <p:sp>
        <p:nvSpPr>
          <p:cNvPr id="343" name="Google Shape;343;p20">
            <a:extLst xmlns:a="http://schemas.openxmlformats.org/drawingml/2006/main">
              <a:ext uri="{FF2B5EF4-FFF2-40B4-BE49-F238E27FC236}">
                <a16:creationId xmlns:a16="http://schemas.microsoft.com/office/drawing/2014/main" id="{D4D57F7C-E1F5-4D4F-B359-E3B4E145FB97}"/>
              </a:ext>
            </a:extLst>
          </p:cNvPr>
          <p:cNvSpPr>
            <a:spLocks xmlns:a="http://schemas.openxmlformats.org/drawingml/2006/main" noGrp="1"/>
          </p:cNvSpPr>
          <p:nvPr/>
        </p:nvSpPr>
        <p:spPr>
          <a:xfrm xmlns:a="http://schemas.openxmlformats.org/drawingml/2006/main">
            <a:off x="6501384" y="2809875"/>
            <a:ext cx="4846320" cy="290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650">
                <a:solidFill>
                  <a:srgbClr val="1E293B"/>
                </a:solidFill>
                <a:latin typeface="Calibri"/>
                <a:ea typeface="Calibri"/>
                <a:cs typeface="Calibri"/>
              </a:defRPr>
            </a:defPPr>
            <a:lvl1pPr>
              <a:defRPr sz="1650">
                <a:solidFill>
                  <a:srgbClr val="1E293B"/>
                </a:solidFill>
                <a:latin typeface="Calibri"/>
                <a:ea typeface="Calibri"/>
                <a:cs typeface="Calibri"/>
              </a:defRPr>
            </a:lvl1pPr>
            <a:lvl2pPr>
              <a:defRPr sz="1650">
                <a:solidFill>
                  <a:srgbClr val="1E293B"/>
                </a:solidFill>
                <a:latin typeface="Calibri"/>
                <a:ea typeface="Calibri"/>
                <a:cs typeface="Calibri"/>
              </a:defRPr>
            </a:lvl2pPr>
            <a:lvl3pPr>
              <a:defRPr sz="1650">
                <a:solidFill>
                  <a:srgbClr val="1E293B"/>
                </a:solidFill>
                <a:latin typeface="Calibri"/>
                <a:ea typeface="Calibri"/>
                <a:cs typeface="Calibri"/>
              </a:defRPr>
            </a:lvl3pPr>
            <a:lvl4pPr>
              <a:defRPr sz="1650">
                <a:solidFill>
                  <a:srgbClr val="1E293B"/>
                </a:solidFill>
                <a:latin typeface="Calibri"/>
                <a:ea typeface="Calibri"/>
                <a:cs typeface="Calibri"/>
              </a:defRPr>
            </a:lvl4pPr>
            <a:lvl5pPr>
              <a:defRPr sz="1650">
                <a:solidFill>
                  <a:srgbClr val="1E293B"/>
                </a:solidFill>
                <a:latin typeface="Calibri"/>
                <a:ea typeface="Calibri"/>
                <a:cs typeface="Calibri"/>
              </a:defRPr>
            </a:lvl5pPr>
            <a:lvl6pPr>
              <a:defRPr sz="1650">
                <a:solidFill>
                  <a:srgbClr val="1E293B"/>
                </a:solidFill>
                <a:latin typeface="Calibri"/>
                <a:ea typeface="Calibri"/>
                <a:cs typeface="Calibri"/>
              </a:defRPr>
            </a:lvl6pPr>
            <a:lvl7pPr>
              <a:defRPr sz="1650">
                <a:solidFill>
                  <a:srgbClr val="1E293B"/>
                </a:solidFill>
                <a:latin typeface="Calibri"/>
                <a:ea typeface="Calibri"/>
                <a:cs typeface="Calibri"/>
              </a:defRPr>
            </a:lvl7pPr>
            <a:lvl8pPr>
              <a:defRPr sz="1650">
                <a:solidFill>
                  <a:srgbClr val="1E293B"/>
                </a:solidFill>
                <a:latin typeface="Calibri"/>
                <a:ea typeface="Calibri"/>
                <a:cs typeface="Calibri"/>
              </a:defRPr>
            </a:lvl8pPr>
            <a:lvl9pPr>
              <a:defRPr sz="1650">
                <a:solidFill>
                  <a:srgbClr val="1E293B"/>
                </a:solidFill>
                <a:latin typeface="Calibri"/>
                <a:ea typeface="Calibri"/>
                <a:cs typeface="Calibri"/>
              </a:defRPr>
            </a:lvl9pPr>
          </a:lstStyle>
          <a:p xmlns:a="http://schemas.openxmlformats.org/drawingml/2006/main">
            <a:pPr marL="342900" marR="0" lvl="0" indent="-342900" algn="l">
              <a:spcBef>
                <a:spcPts val="0"/>
              </a:spcBef>
              <a:spcAft>
                <a:spcPts val="0"/>
              </a:spcAft>
              <a:buClr>
                <a:srgbClr val="1E293B"/>
              </a:buClr>
              <a:buSzPts val="1450"/>
              <a:buFont typeface="Calibri"/>
              <a:buChar char="•"/>
              <a:defRPr sz="1650">
                <a:solidFill>
                  <a:srgbClr val="1E293B"/>
                </a:solidFill>
                <a:latin typeface="Calibri"/>
                <a:ea typeface="Calibri"/>
                <a:cs typeface="Calibri"/>
              </a:defRPr>
            </a:pPr>
            <a:r>
              <a:rPr sz="1650">
                <a:solidFill>
                  <a:srgbClr val="1E293B"/>
                </a:solidFill>
                <a:latin typeface="Calibri"/>
                <a:ea typeface="Calibri"/>
                <a:cs typeface="Calibri"/>
              </a:rPr>
              <a:t>Barkod və ya məhsul kodu ilə vahid kataloq qurmaq</a:t>
            </a:r>
            <a:endParaRPr sz="1450">
              <a:solidFill>
                <a:schemeClr val="dk1"/>
              </a:solidFill>
              <a:latin typeface="Calibri"/>
              <a:ea typeface="Calibri"/>
              <a:cs typeface="Calibri"/>
            </a:endParaRPr>
          </a:p>
          <a:p xmlns:a="http://schemas.openxmlformats.org/drawingml/2006/main">
            <a:pPr marL="342900" marR="0" lvl="0" indent="-342900" algn="l">
              <a:spcBef>
                <a:spcPts val="1000"/>
              </a:spcBef>
              <a:spcAft>
                <a:spcPts val="0"/>
              </a:spcAft>
              <a:buClr>
                <a:srgbClr val="1E293B"/>
              </a:buClr>
              <a:buSzPts val="1450"/>
              <a:buFont typeface="Calibri"/>
              <a:buChar char="•"/>
              <a:defRPr sz="1650">
                <a:solidFill>
                  <a:srgbClr val="1E293B"/>
                </a:solidFill>
                <a:latin typeface="Calibri"/>
                <a:ea typeface="Calibri"/>
                <a:cs typeface="Calibri"/>
              </a:defRPr>
            </a:pPr>
            <a:r>
              <a:rPr sz="1650">
                <a:solidFill>
                  <a:srgbClr val="1E293B"/>
                </a:solidFill>
                <a:latin typeface="Calibri"/>
                <a:ea typeface="Calibri"/>
                <a:cs typeface="Calibri"/>
              </a:rPr>
              <a:t>UTF-8 və xəritələmə nəzarətini tətbiq etmək</a:t>
            </a:r>
            <a:endParaRPr sz="1450">
              <a:solidFill>
                <a:schemeClr val="dk1"/>
              </a:solidFill>
              <a:latin typeface="Calibri"/>
              <a:ea typeface="Calibri"/>
              <a:cs typeface="Calibri"/>
            </a:endParaRPr>
          </a:p>
          <a:p xmlns:a="http://schemas.openxmlformats.org/drawingml/2006/main">
            <a:pPr marL="342900" marR="0" lvl="0" indent="-342900" algn="l">
              <a:spcBef>
                <a:spcPts val="1000"/>
              </a:spcBef>
              <a:spcAft>
                <a:spcPts val="0"/>
              </a:spcAft>
              <a:buClr>
                <a:srgbClr val="1E293B"/>
              </a:buClr>
              <a:buSzPts val="1450"/>
              <a:buFont typeface="Calibri"/>
              <a:buChar char="•"/>
              <a:defRPr sz="1650">
                <a:solidFill>
                  <a:srgbClr val="1E293B"/>
                </a:solidFill>
                <a:latin typeface="Calibri"/>
                <a:ea typeface="Calibri"/>
                <a:cs typeface="Calibri"/>
              </a:defRPr>
            </a:pPr>
            <a:r>
              <a:rPr sz="1650">
                <a:solidFill>
                  <a:srgbClr val="1E293B"/>
                </a:solidFill>
                <a:latin typeface="Calibri"/>
                <a:ea typeface="Calibri"/>
                <a:cs typeface="Calibri"/>
              </a:rPr>
              <a:t>Avans və kredit ödənişlərini ayrıca işarələmək</a:t>
            </a:r>
            <a:endParaRPr sz="1450">
              <a:solidFill>
                <a:schemeClr val="dk1"/>
              </a:solidFill>
              <a:latin typeface="Calibri"/>
              <a:ea typeface="Calibri"/>
              <a:cs typeface="Calibri"/>
            </a:endParaRPr>
          </a:p>
          <a:p xmlns:a="http://schemas.openxmlformats.org/drawingml/2006/main">
            <a:pPr marL="342900" marR="0" lvl="0" indent="-342900" algn="l">
              <a:spcBef>
                <a:spcPts val="1000"/>
              </a:spcBef>
              <a:spcAft>
                <a:spcPts val="0"/>
              </a:spcAft>
              <a:buClr>
                <a:srgbClr val="1E293B"/>
              </a:buClr>
              <a:buSzPts val="1450"/>
              <a:buFont typeface="Calibri"/>
              <a:buChar char="•"/>
              <a:defRPr sz="1650">
                <a:solidFill>
                  <a:srgbClr val="1E293B"/>
                </a:solidFill>
                <a:latin typeface="Calibri"/>
                <a:ea typeface="Calibri"/>
                <a:cs typeface="Calibri"/>
              </a:defRPr>
            </a:pPr>
            <a:r>
              <a:rPr sz="1650">
                <a:solidFill>
                  <a:srgbClr val="1E293B"/>
                </a:solidFill>
                <a:latin typeface="Calibri"/>
                <a:ea typeface="Calibri"/>
                <a:cs typeface="Calibri"/>
              </a:rPr>
              <a:t>Daha uzun, fasiləsiz dövrdə modeli yenidən yoxlamaq</a:t>
            </a:r>
            <a:endParaRPr sz="1450">
              <a:solidFill>
                <a:schemeClr val="dk1"/>
              </a:solidFill>
              <a:latin typeface="Calibri"/>
              <a:ea typeface="Calibri"/>
              <a:cs typeface="Calibri"/>
            </a:endParaRPr>
          </a:p>
        </p:txBody>
      </p:sp>
    </p:spTree>
    <p:extLst>
      <p:ext uri="{BB962C8B-B14F-4D97-AF65-F5344CB8AC3E}">
        <p14:creationId xmlns:p14="http://schemas.microsoft.com/office/powerpoint/2010/main" val="1860754778"/>
      </p:ext>
    </p:extLst>
  </p:cSld>
</p:sld>
</file>

<file path=ppt/slides/slide21.xml><?xml version="1.0" encoding="utf-8"?>
<p:sld xmlns:p="http://schemas.openxmlformats.org/presentationml/2006/main">
  <p:cSld>
    <p:bg>
      <p:bgPr>
        <a:solidFill xmlns:a="http://schemas.openxmlformats.org/drawingml/2006/main">
          <a:srgbClr val="0C2D4D"/>
        </a:solidFill>
      </p:bgPr>
    </p:bg>
    <p:spTree>
      <p:nvGrpSpPr>
        <p:cNvPr id="1" name=""/>
        <p:cNvGrpSpPr/>
        <p:nvPr/>
      </p:nvGrpSpPr>
      <p:grpSpPr>
        <a:xfrm xmlns:a="http://schemas.openxmlformats.org/drawingml/2006/main"/>
      </p:grpSpPr>
      <p:sp>
        <p:nvSpPr>
          <p:cNvPr id="349" name="Google Shape;349;p21">
            <a:extLst xmlns:a="http://schemas.openxmlformats.org/drawingml/2006/main">
              <a:ext uri="{FF2B5EF4-FFF2-40B4-BE49-F238E27FC236}">
                <a16:creationId xmlns:a16="http://schemas.microsoft.com/office/drawing/2014/main" id="{6D54AC97-614E-4961-9BF2-E5B814D67DB9}"/>
              </a:ext>
            </a:extLst>
          </p:cNvPr>
          <p:cNvSpPr>
            <a:spLocks xmlns:a="http://schemas.openxmlformats.org/drawingml/2006/main" noGrp="1"/>
          </p:cNvSpPr>
          <p:nvPr/>
        </p:nvSpPr>
        <p:spPr>
          <a:xfrm xmlns:a="http://schemas.openxmlformats.org/drawingml/2006/main">
            <a:off x="822960" y="2377440"/>
            <a:ext cx="105156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4600"/>
              <a:buFont typeface="Trebuchet MS"/>
              <a:buNone/>
            </a:pPr>
            <a:r>
              <a:rPr sz="4600" b="1">
                <a:solidFill>
                  <a:srgbClr val="FFFFFF"/>
                </a:solidFill>
                <a:latin typeface="Trebuchet MS"/>
                <a:ea typeface="Trebuchet MS"/>
                <a:cs typeface="Trebuchet MS"/>
              </a:rPr>
              <a:t>Təşəkkür edirəm</a:t>
            </a:r>
            <a:endParaRPr sz="4600">
              <a:solidFill>
                <a:schemeClr val="dk1"/>
              </a:solidFill>
              <a:latin typeface="Calibri"/>
              <a:ea typeface="Calibri"/>
              <a:cs typeface="Calibri"/>
            </a:endParaRPr>
          </a:p>
        </p:txBody>
      </p:sp>
      <p:sp>
        <p:nvSpPr>
          <p:cNvPr id="350" name="Google Shape;350;p21">
            <a:extLst xmlns:a="http://schemas.openxmlformats.org/drawingml/2006/main">
              <a:ext uri="{FF2B5EF4-FFF2-40B4-BE49-F238E27FC236}">
                <a16:creationId xmlns:a16="http://schemas.microsoft.com/office/drawing/2014/main" id="{DD28D693-2440-4F4D-8009-7EB54EDC9647}"/>
              </a:ext>
            </a:extLst>
          </p:cNvPr>
          <p:cNvSpPr>
            <a:spLocks xmlns:a="http://schemas.openxmlformats.org/drawingml/2006/main" noGrp="1"/>
          </p:cNvSpPr>
          <p:nvPr/>
        </p:nvSpPr>
        <p:spPr>
          <a:xfrm xmlns:a="http://schemas.openxmlformats.org/drawingml/2006/main">
            <a:off x="841248" y="3383280"/>
            <a:ext cx="1051560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6FD0B0"/>
              </a:buClr>
              <a:buSzPts val="2200"/>
              <a:buFont typeface="Trebuchet MS"/>
              <a:buNone/>
            </a:pPr>
            <a:r>
              <a:rPr sz="2200">
                <a:solidFill>
                  <a:srgbClr val="6FD0B0"/>
                </a:solidFill>
                <a:latin typeface="Trebuchet MS"/>
                <a:ea typeface="Trebuchet MS"/>
                <a:cs typeface="Trebuchet MS"/>
              </a:rPr>
              <a:t>Suallarınızı gözləyirəm</a:t>
            </a:r>
            <a:endParaRPr sz="2200">
              <a:solidFill>
                <a:schemeClr val="dk1"/>
              </a:solidFill>
              <a:latin typeface="Calibri"/>
              <a:ea typeface="Calibri"/>
              <a:cs typeface="Calibri"/>
            </a:endParaRPr>
          </a:p>
        </p:txBody>
      </p:sp>
      <p:cxnSp>
        <p:nvCxnSpPr>
          <p:cNvPr id="351" name="Google Shape;351;p21">
            <a:extLst xmlns:a="http://schemas.openxmlformats.org/drawingml/2006/main">
              <a:ext uri="{FF2B5EF4-FFF2-40B4-BE49-F238E27FC236}">
                <a16:creationId xmlns:a16="http://schemas.microsoft.com/office/drawing/2014/main" id="{B2507802-B370-4B91-B3CF-02732CE3BE01}"/>
              </a:ext>
            </a:extLst>
          </p:cNvPr>
          <p:cNvCxnSpPr/>
          <p:nvPr/>
        </p:nvCxnSpPr>
        <p:spPr>
          <a:xfrm xmlns:a="http://schemas.openxmlformats.org/drawingml/2006/main">
            <a:off x="868680" y="4160520"/>
            <a:ext cx="2743200" cy="0"/>
          </a:xfrm>
          <a:prstGeom xmlns:a="http://schemas.openxmlformats.org/drawingml/2006/main" prst="straightConnector1">
            <a:avLst/>
          </a:prstGeom>
          <a:ln xmlns:a="http://schemas.openxmlformats.org/drawingml/2006/main" w="31750" cap="flat">
            <a:solidFill>
              <a:srgbClr val="1D9E75"/>
            </a:solidFill>
            <a:prstDash val="solid"/>
            <a:round/>
            <a:headEnd type="none" w="sm" len="sm"/>
            <a:tailEnd type="none" w="sm" len="sm"/>
          </a:ln>
        </p:spPr>
      </p:cxnSp>
      <p:sp>
        <p:nvSpPr>
          <p:cNvPr id="352" name="Google Shape;352;p21">
            <a:extLst xmlns:a="http://schemas.openxmlformats.org/drawingml/2006/main">
              <a:ext uri="{FF2B5EF4-FFF2-40B4-BE49-F238E27FC236}">
                <a16:creationId xmlns:a16="http://schemas.microsoft.com/office/drawing/2014/main" id="{06BFA6CA-38DE-48A7-9CC6-61EFAD32F82C}"/>
              </a:ext>
            </a:extLst>
          </p:cNvPr>
          <p:cNvSpPr>
            <a:spLocks xmlns:a="http://schemas.openxmlformats.org/drawingml/2006/main" noGrp="1"/>
          </p:cNvSpPr>
          <p:nvPr/>
        </p:nvSpPr>
        <p:spPr>
          <a:xfrm xmlns:a="http://schemas.openxmlformats.org/drawingml/2006/main">
            <a:off x="841248" y="4389120"/>
            <a:ext cx="10515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ADCFC"/>
              </a:buClr>
              <a:buSzPts val="1400"/>
              <a:buFont typeface="Calibri"/>
              <a:buNone/>
            </a:pPr>
            <a:r>
              <a:rPr sz="1400">
                <a:solidFill>
                  <a:srgbClr val="CADCFC"/>
                </a:solidFill>
                <a:latin typeface="Calibri"/>
                <a:ea typeface="Calibri"/>
                <a:cs typeface="Calibri"/>
              </a:rPr>
              <a:t>Ramin Əsədov     /     FP Receipts təhlili</a:t>
            </a:r>
            <a:endParaRPr sz="1400">
              <a:solidFill>
                <a:schemeClr val="dk1"/>
              </a:solidFill>
              <a:latin typeface="Calibri"/>
              <a:ea typeface="Calibri"/>
              <a:cs typeface="Calibri"/>
            </a:endParaRPr>
          </a:p>
        </p:txBody>
      </p:sp>
    </p:spTree>
    <p:extLst>
      <p:ext uri="{BB962C8B-B14F-4D97-AF65-F5344CB8AC3E}">
        <p14:creationId xmlns:p14="http://schemas.microsoft.com/office/powerpoint/2010/main" val="1243360290"/>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2026-10-23T18:24:39.0460000Z</dcterms:created>
  <dcterms:modified xsi:type="dcterms:W3CDTF">2026-10-23T18:24:39.0460000Z</dcterms:modified>
</coreProperties>
</file>